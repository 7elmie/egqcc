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 id="2147483670" r:id="rId2"/>
  </p:sldMasterIdLst>
  <p:notesMasterIdLst>
    <p:notesMasterId r:id="rId25"/>
  </p:notesMasterIdLst>
  <p:handoutMasterIdLst>
    <p:handoutMasterId r:id="rId26"/>
  </p:handoutMasterIdLst>
  <p:sldIdLst>
    <p:sldId id="141168164" r:id="rId3"/>
    <p:sldId id="141168166" r:id="rId4"/>
    <p:sldId id="141168160" r:id="rId5"/>
    <p:sldId id="141168177" r:id="rId6"/>
    <p:sldId id="141168186" r:id="rId7"/>
    <p:sldId id="141168184" r:id="rId8"/>
    <p:sldId id="141168187" r:id="rId9"/>
    <p:sldId id="141168167" r:id="rId10"/>
    <p:sldId id="141168174" r:id="rId11"/>
    <p:sldId id="141168173" r:id="rId12"/>
    <p:sldId id="141168170" r:id="rId13"/>
    <p:sldId id="141168171" r:id="rId14"/>
    <p:sldId id="141168178" r:id="rId15"/>
    <p:sldId id="258" r:id="rId16"/>
    <p:sldId id="141168189" r:id="rId17"/>
    <p:sldId id="141168188" r:id="rId18"/>
    <p:sldId id="259" r:id="rId19"/>
    <p:sldId id="261" r:id="rId20"/>
    <p:sldId id="141168172" r:id="rId21"/>
    <p:sldId id="141168185" r:id="rId22"/>
    <p:sldId id="141168168" r:id="rId23"/>
    <p:sldId id="141168169" r:id="rId24"/>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userDrawn="1">
          <p15:clr>
            <a:srgbClr val="547EBF"/>
          </p15:clr>
        </p15:guide>
        <p15:guide id="2" pos="4608" userDrawn="1">
          <p15:clr>
            <a:srgbClr val="547EBF"/>
          </p15:clr>
        </p15:guide>
        <p15:guide id="3" pos="6912" userDrawn="1">
          <p15:clr>
            <a:srgbClr val="547EBF"/>
          </p15:clr>
        </p15:guide>
        <p15:guide id="4" pos="2304" userDrawn="1">
          <p15:clr>
            <a:srgbClr val="547EBF"/>
          </p15:clr>
        </p15:guide>
        <p15:guide id="5" orient="horz" pos="1296" userDrawn="1">
          <p15:clr>
            <a:srgbClr val="547EBF"/>
          </p15:clr>
        </p15:guide>
        <p15:guide id="6" orient="horz" pos="3888" userDrawn="1">
          <p15:clr>
            <a:srgbClr val="547EBF"/>
          </p15:clr>
        </p15:guide>
        <p15:guide id="7" userDrawn="1">
          <p15:clr>
            <a:srgbClr val="547EBF"/>
          </p15:clr>
        </p15:guide>
        <p15:guide id="8" pos="9216" userDrawn="1">
          <p15:clr>
            <a:srgbClr val="547EBF"/>
          </p15:clr>
        </p15:guide>
        <p15:guide id="9" orient="horz" userDrawn="1">
          <p15:clr>
            <a:srgbClr val="547EBF"/>
          </p15:clr>
        </p15:guide>
        <p15:guide id="10" orient="horz" pos="5184" userDrawn="1">
          <p15:clr>
            <a:srgbClr val="547EBF"/>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BM"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FF"/>
    <a:srgbClr val="E80000"/>
    <a:srgbClr val="76008A"/>
    <a:srgbClr val="00811F"/>
    <a:srgbClr val="FFF001"/>
    <a:srgbClr val="FF8B00"/>
    <a:srgbClr val="000000"/>
    <a:srgbClr val="F7F3F1"/>
    <a:srgbClr val="DBFBFB"/>
    <a:srgbClr val="EDF4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5E356F-1B6E-E947-ABA5-EF2D1747D8AD}" v="2" dt="2026-01-20T09:44:28.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12" autoAdjust="0"/>
    <p:restoredTop sz="95707"/>
  </p:normalViewPr>
  <p:slideViewPr>
    <p:cSldViewPr snapToObjects="1">
      <p:cViewPr varScale="1">
        <p:scale>
          <a:sx n="87" d="100"/>
          <a:sy n="87" d="100"/>
        </p:scale>
        <p:origin x="240" y="272"/>
      </p:cViewPr>
      <p:guideLst>
        <p:guide orient="horz" pos="2592"/>
        <p:guide pos="4608"/>
        <p:guide pos="6912"/>
        <p:guide pos="2304"/>
        <p:guide orient="horz" pos="1296"/>
        <p:guide orient="horz" pos="3888"/>
        <p:guide/>
        <p:guide pos="9216"/>
        <p:guide orient="horz"/>
        <p:guide orient="horz" pos="5184"/>
      </p:guideLst>
    </p:cSldViewPr>
  </p:slideViewPr>
  <p:notesTextViewPr>
    <p:cViewPr>
      <p:scale>
        <a:sx n="1" d="1"/>
        <a:sy n="1" d="1"/>
      </p:scale>
      <p:origin x="0" y="0"/>
    </p:cViewPr>
  </p:notesTextViewPr>
  <p:sorterViewPr>
    <p:cViewPr>
      <p:scale>
        <a:sx n="68" d="100"/>
        <a:sy n="68" d="100"/>
      </p:scale>
      <p:origin x="0" y="0"/>
    </p:cViewPr>
  </p:sorterViewPr>
  <p:notesViewPr>
    <p:cSldViewPr snapToObjects="1">
      <p:cViewPr varScale="1">
        <p:scale>
          <a:sx n="67" d="100"/>
          <a:sy n="67" d="100"/>
        </p:scale>
        <p:origin x="2376"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eh Saeed" userId="2c0a189a-0f7c-4206-8181-9a10555249db" providerId="ADAL" clId="{852638DA-3B48-5304-BB1F-24E51C1A5FD3}"/>
    <pc:docChg chg="custSel modSld">
      <pc:chgData name="Sameh Saeed" userId="2c0a189a-0f7c-4206-8181-9a10555249db" providerId="ADAL" clId="{852638DA-3B48-5304-BB1F-24E51C1A5FD3}" dt="2026-01-20T09:44:39.330" v="48" actId="20577"/>
      <pc:docMkLst>
        <pc:docMk/>
      </pc:docMkLst>
      <pc:sldChg chg="addSp delSp modSp mod">
        <pc:chgData name="Sameh Saeed" userId="2c0a189a-0f7c-4206-8181-9a10555249db" providerId="ADAL" clId="{852638DA-3B48-5304-BB1F-24E51C1A5FD3}" dt="2026-01-20T09:44:39.330" v="48" actId="20577"/>
        <pc:sldMkLst>
          <pc:docMk/>
          <pc:sldMk cId="1614369707" sldId="141168164"/>
        </pc:sldMkLst>
        <pc:spChg chg="del">
          <ac:chgData name="Sameh Saeed" userId="2c0a189a-0f7c-4206-8181-9a10555249db" providerId="ADAL" clId="{852638DA-3B48-5304-BB1F-24E51C1A5FD3}" dt="2026-01-20T09:44:31.095" v="26" actId="478"/>
          <ac:spMkLst>
            <pc:docMk/>
            <pc:sldMk cId="1614369707" sldId="141168164"/>
            <ac:spMk id="2" creationId="{8392BFBF-63F1-8911-10E4-A39432041DBB}"/>
          </ac:spMkLst>
        </pc:spChg>
        <pc:spChg chg="mod">
          <ac:chgData name="Sameh Saeed" userId="2c0a189a-0f7c-4206-8181-9a10555249db" providerId="ADAL" clId="{852638DA-3B48-5304-BB1F-24E51C1A5FD3}" dt="2026-01-20T09:44:39.330" v="48" actId="20577"/>
          <ac:spMkLst>
            <pc:docMk/>
            <pc:sldMk cId="1614369707" sldId="141168164"/>
            <ac:spMk id="6" creationId="{C9F683B6-CF41-EC42-BFCB-802BCC74C2BD}"/>
          </ac:spMkLst>
        </pc:spChg>
        <pc:picChg chg="del">
          <ac:chgData name="Sameh Saeed" userId="2c0a189a-0f7c-4206-8181-9a10555249db" providerId="ADAL" clId="{852638DA-3B48-5304-BB1F-24E51C1A5FD3}" dt="2026-01-20T09:41:04.707" v="23" actId="478"/>
          <ac:picMkLst>
            <pc:docMk/>
            <pc:sldMk cId="1614369707" sldId="141168164"/>
            <ac:picMk id="3" creationId="{2D011E2D-EA95-4A77-26D6-A726496EC998}"/>
          </ac:picMkLst>
        </pc:picChg>
        <pc:picChg chg="add del">
          <ac:chgData name="Sameh Saeed" userId="2c0a189a-0f7c-4206-8181-9a10555249db" providerId="ADAL" clId="{852638DA-3B48-5304-BB1F-24E51C1A5FD3}" dt="2026-01-20T09:44:28.387" v="25" actId="478"/>
          <ac:picMkLst>
            <pc:docMk/>
            <pc:sldMk cId="1614369707" sldId="141168164"/>
            <ac:picMk id="2050" creationId="{118E856A-185F-B9A1-E596-B1026EEE1CF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D3A1D4-C2F1-4FBA-9F37-B87A976340E2}" type="datetimeFigureOut">
              <a:rPr lang="en-US" smtClean="0"/>
              <a:t>3/13/26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B101E57-0ADC-4285-9663-DD3D73EBE0D4}" type="slidenum">
              <a:rPr lang="en-US" smtClean="0"/>
              <a:t>‹#›</a:t>
            </a:fld>
            <a:endParaRPr lang="en-US"/>
          </a:p>
        </p:txBody>
      </p:sp>
    </p:spTree>
    <p:extLst>
      <p:ext uri="{BB962C8B-B14F-4D97-AF65-F5344CB8AC3E}">
        <p14:creationId xmlns:p14="http://schemas.microsoft.com/office/powerpoint/2010/main" val="1801682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charset="0"/>
              </a:defRPr>
            </a:lvl1pPr>
          </a:lstStyle>
          <a:p>
            <a:fld id="{5288BB53-F264-D84E-8876-073A512183CA}" type="datetimeFigureOut">
              <a:rPr lang="en-US" smtClean="0"/>
              <a:pPr/>
              <a:t>3/13/26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charset="0"/>
              </a:defRPr>
            </a:lvl1pPr>
          </a:lstStyle>
          <a:p>
            <a:fld id="{698D0594-4E60-8F4B-8226-C705B94694A4}" type="slidenum">
              <a:rPr lang="en-US" smtClean="0"/>
              <a:pPr/>
              <a:t>‹#›</a:t>
            </a:fld>
            <a:endParaRPr lang="en-US" dirty="0"/>
          </a:p>
        </p:txBody>
      </p:sp>
    </p:spTree>
    <p:extLst>
      <p:ext uri="{BB962C8B-B14F-4D97-AF65-F5344CB8AC3E}">
        <p14:creationId xmlns:p14="http://schemas.microsoft.com/office/powerpoint/2010/main" val="523485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charset="0"/>
        <a:ea typeface="+mn-ea"/>
        <a:cs typeface="+mn-cs"/>
      </a:defRPr>
    </a:lvl1pPr>
    <a:lvl2pPr marL="457200" algn="l" defTabSz="914400" rtl="0" eaLnBrk="1" latinLnBrk="0" hangingPunct="1">
      <a:defRPr sz="1200" b="0" i="0" kern="1200">
        <a:solidFill>
          <a:schemeClr val="tx1"/>
        </a:solidFill>
        <a:latin typeface="Arial Regular" charset="0"/>
        <a:ea typeface="+mn-ea"/>
        <a:cs typeface="+mn-cs"/>
      </a:defRPr>
    </a:lvl2pPr>
    <a:lvl3pPr marL="914400" algn="l" defTabSz="914400" rtl="0" eaLnBrk="1" latinLnBrk="0" hangingPunct="1">
      <a:defRPr sz="1200" b="0" i="0" kern="1200">
        <a:solidFill>
          <a:schemeClr val="tx1"/>
        </a:solidFill>
        <a:latin typeface="Arial Regular" charset="0"/>
        <a:ea typeface="+mn-ea"/>
        <a:cs typeface="+mn-cs"/>
      </a:defRPr>
    </a:lvl3pPr>
    <a:lvl4pPr marL="1371600" algn="l" defTabSz="914400" rtl="0" eaLnBrk="1" latinLnBrk="0" hangingPunct="1">
      <a:defRPr sz="1200" b="0" i="0" kern="1200">
        <a:solidFill>
          <a:schemeClr val="tx1"/>
        </a:solidFill>
        <a:latin typeface="Arial Regular" charset="0"/>
        <a:ea typeface="+mn-ea"/>
        <a:cs typeface="+mn-cs"/>
      </a:defRPr>
    </a:lvl4pPr>
    <a:lvl5pPr marL="1828800" algn="l" defTabSz="914400" rtl="0" eaLnBrk="1" latinLnBrk="0" hangingPunct="1">
      <a:defRPr sz="1200" b="0" i="0" kern="1200">
        <a:solidFill>
          <a:schemeClr val="tx1"/>
        </a:solidFill>
        <a:latin typeface="Arial Regular"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11" name="Title 1"/>
          <p:cNvSpPr>
            <a:spLocks noGrp="1"/>
          </p:cNvSpPr>
          <p:nvPr>
            <p:ph type="title"/>
          </p:nvPr>
        </p:nvSpPr>
        <p:spPr>
          <a:xfrm>
            <a:off x="457200" y="685800"/>
            <a:ext cx="13716000" cy="1143000"/>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5" name="Content Placeholder 2"/>
          <p:cNvSpPr>
            <a:spLocks noGrp="1"/>
          </p:cNvSpPr>
          <p:nvPr>
            <p:ph idx="4294967295"/>
          </p:nvPr>
        </p:nvSpPr>
        <p:spPr>
          <a:xfrm>
            <a:off x="457200" y="2057400"/>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8" lvl="0" indent="-5943600" algn="just">
              <a:spcBef>
                <a:spcPts val="0"/>
              </a:spcBef>
            </a:pPr>
            <a:r>
              <a:rPr lang="en-US" b="1"/>
              <a:t>Click to edit Master text styles</a:t>
            </a:r>
          </a:p>
          <a:p>
            <a:pPr marL="5945188" lvl="1" indent="-5943600" algn="just">
              <a:spcBef>
                <a:spcPts val="0"/>
              </a:spcBef>
            </a:pPr>
            <a:r>
              <a:rPr lang="en-US" b="1"/>
              <a:t>Second level</a:t>
            </a:r>
          </a:p>
          <a:p>
            <a:pPr marL="5945188" lvl="2" indent="-5943600" algn="just">
              <a:spcBef>
                <a:spcPts val="0"/>
              </a:spcBef>
            </a:pPr>
            <a:r>
              <a:rPr lang="en-US" b="1"/>
              <a:t>Third level</a:t>
            </a:r>
          </a:p>
          <a:p>
            <a:pPr marL="5945188" lvl="3" indent="-5943600" algn="just">
              <a:spcBef>
                <a:spcPts val="0"/>
              </a:spcBef>
            </a:pPr>
            <a:r>
              <a:rPr lang="en-US" b="1"/>
              <a:t>Fourth level</a:t>
            </a:r>
          </a:p>
          <a:p>
            <a:pPr marL="5945188" lvl="4" indent="-5943600" algn="just">
              <a:spcBef>
                <a:spcPts val="0"/>
              </a:spcBef>
            </a:pPr>
            <a:r>
              <a:rPr lang="en-US" b="1"/>
              <a:t>Fifth level</a:t>
            </a:r>
            <a:endParaRPr lang="en-US" dirty="0"/>
          </a:p>
        </p:txBody>
      </p:sp>
      <p:sp>
        <p:nvSpPr>
          <p:cNvPr id="16" name="Content Placeholder 3"/>
          <p:cNvSpPr>
            <a:spLocks noGrp="1"/>
          </p:cNvSpPr>
          <p:nvPr>
            <p:ph idx="4294967295"/>
          </p:nvPr>
        </p:nvSpPr>
        <p:spPr>
          <a:xfrm>
            <a:off x="7589520" y="2057400"/>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8" lvl="0" indent="-5943600" algn="just">
              <a:spcBef>
                <a:spcPts val="0"/>
              </a:spcBef>
            </a:pPr>
            <a:r>
              <a:rPr lang="en-US" b="1"/>
              <a:t>Click to edit Master text styles</a:t>
            </a:r>
          </a:p>
          <a:p>
            <a:pPr marL="5945188" lvl="1" indent="-5943600" algn="just">
              <a:spcBef>
                <a:spcPts val="0"/>
              </a:spcBef>
            </a:pPr>
            <a:r>
              <a:rPr lang="en-US" b="1"/>
              <a:t>Second level</a:t>
            </a:r>
          </a:p>
          <a:p>
            <a:pPr marL="5945188" lvl="2" indent="-5943600" algn="just">
              <a:spcBef>
                <a:spcPts val="0"/>
              </a:spcBef>
            </a:pPr>
            <a:r>
              <a:rPr lang="en-US" b="1"/>
              <a:t>Third level</a:t>
            </a:r>
          </a:p>
          <a:p>
            <a:pPr marL="5945188" lvl="3" indent="-5943600" algn="just">
              <a:spcBef>
                <a:spcPts val="0"/>
              </a:spcBef>
            </a:pPr>
            <a:r>
              <a:rPr lang="en-US" b="1"/>
              <a:t>Fourth level</a:t>
            </a:r>
          </a:p>
          <a:p>
            <a:pPr marL="5945188" lvl="4" indent="-5943600" algn="just">
              <a:spcBef>
                <a:spcPts val="0"/>
              </a:spcBef>
            </a:pPr>
            <a:r>
              <a:rPr lang="en-US" b="1"/>
              <a:t>Fifth level</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3" name="Rectangle 3"/>
          <p:cNvSpPr txBox="1">
            <a:spLocks noChangeArrowheads="1"/>
          </p:cNvSpPr>
          <p:nvPr userDrawn="1"/>
        </p:nvSpPr>
        <p:spPr bwMode="auto">
          <a:xfrm>
            <a:off x="0" y="0"/>
            <a:ext cx="14630400" cy="8229600"/>
          </a:xfrm>
          <a:prstGeom prst="rect">
            <a:avLst/>
          </a:prstGeom>
          <a:gradFill rotWithShape="1">
            <a:gsLst>
              <a:gs pos="0">
                <a:srgbClr val="003853"/>
              </a:gs>
              <a:gs pos="100000">
                <a:srgbClr val="001A2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buFont typeface="Wingdings" panose="05000000000000000000" pitchFamily="2" charset="2"/>
              <a:buNone/>
              <a:defRPr/>
            </a:pPr>
            <a:endParaRPr lang="en-US" altLang="en-US" sz="11501" i="1" dirty="0">
              <a:solidFill>
                <a:schemeClr val="bg2"/>
              </a:solidFill>
              <a:latin typeface="Calibri" panose="020F0502020204030204" pitchFamily="34" charset="0"/>
              <a:cs typeface="Calibri" panose="020F0502020204030204" pitchFamily="34" charset="0"/>
            </a:endParaRPr>
          </a:p>
        </p:txBody>
      </p:sp>
      <p:sp>
        <p:nvSpPr>
          <p:cNvPr id="9" name="Rectangle 3"/>
          <p:cNvSpPr>
            <a:spLocks noGrp="1" noChangeArrowheads="1"/>
          </p:cNvSpPr>
          <p:nvPr>
            <p:ph type="ctrTitle"/>
          </p:nvPr>
        </p:nvSpPr>
        <p:spPr>
          <a:xfrm>
            <a:off x="1188720" y="3749040"/>
            <a:ext cx="5212080" cy="299158"/>
          </a:xfrm>
          <a:prstGeom prst="rect">
            <a:avLst/>
          </a:prstGeom>
        </p:spPr>
        <p:txBody>
          <a:bodyPr/>
          <a:lstStyle>
            <a:lvl1pPr>
              <a:defRPr sz="4800">
                <a:solidFill>
                  <a:schemeClr val="bg2"/>
                </a:solidFill>
                <a:latin typeface="Calibri" panose="020F0502020204030204" pitchFamily="34" charset="0"/>
                <a:cs typeface="Calibri" panose="020F0502020204030204" pitchFamily="34" charset="0"/>
              </a:defRPr>
            </a:lvl1pPr>
          </a:lstStyle>
          <a:p>
            <a:pPr lvl="0"/>
            <a:r>
              <a:rPr lang="en-US" altLang="en-US" noProof="0"/>
              <a:t>Click to edit Master title style</a:t>
            </a:r>
          </a:p>
        </p:txBody>
      </p:sp>
      <p:sp>
        <p:nvSpPr>
          <p:cNvPr id="2" name="Slide Number Placeholder 2">
            <a:extLst>
              <a:ext uri="{FF2B5EF4-FFF2-40B4-BE49-F238E27FC236}">
                <a16:creationId xmlns:a16="http://schemas.microsoft.com/office/drawing/2014/main" id="{9014E83F-520A-4CD5-0E53-3C0111C0784C}"/>
              </a:ext>
            </a:extLst>
          </p:cNvPr>
          <p:cNvSpPr txBox="1">
            <a:spLocks/>
          </p:cNvSpPr>
          <p:nvPr userDrawn="1"/>
        </p:nvSpPr>
        <p:spPr>
          <a:xfrm>
            <a:off x="454859" y="7714211"/>
            <a:ext cx="2022333" cy="515389"/>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en-US" sz="1920" b="0" i="0" dirty="0">
                <a:solidFill>
                  <a:schemeClr val="bg2"/>
                </a:solidFill>
                <a:latin typeface="IBM Plex Sans" charset="0"/>
                <a:ea typeface="IBM Plex Sans" charset="0"/>
                <a:cs typeface="IBM Plex Sans" charset="0"/>
              </a:rPr>
              <a:t>Page </a:t>
            </a:r>
            <a:fld id="{3FD999D4-B456-9943-89B7-30D56181CE18}" type="slidenum">
              <a:rPr lang="en-US" sz="1920" b="0" i="0" smtClean="0">
                <a:solidFill>
                  <a:schemeClr val="bg2"/>
                </a:solidFill>
                <a:latin typeface="IBM Plex Sans" charset="0"/>
                <a:ea typeface="IBM Plex Sans" charset="0"/>
                <a:cs typeface="IBM Plex Sans" charset="0"/>
              </a:rPr>
              <a:pPr algn="l"/>
              <a:t>‹#›</a:t>
            </a:fld>
            <a:r>
              <a:rPr lang="en-US" sz="1920" b="0" i="0" dirty="0">
                <a:solidFill>
                  <a:schemeClr val="bg2"/>
                </a:solidFill>
                <a:latin typeface="IBM Plex Sans" charset="0"/>
                <a:ea typeface="IBM Plex Sans" charset="0"/>
                <a:cs typeface="IBM Plex Sans" charset="0"/>
              </a:rPr>
              <a:t> </a:t>
            </a:r>
          </a:p>
        </p:txBody>
      </p:sp>
    </p:spTree>
    <p:extLst>
      <p:ext uri="{BB962C8B-B14F-4D97-AF65-F5344CB8AC3E}">
        <p14:creationId xmlns:p14="http://schemas.microsoft.com/office/powerpoint/2010/main" val="2985166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ivider">
    <p:spTree>
      <p:nvGrpSpPr>
        <p:cNvPr id="1" name=""/>
        <p:cNvGrpSpPr/>
        <p:nvPr/>
      </p:nvGrpSpPr>
      <p:grpSpPr>
        <a:xfrm>
          <a:off x="0" y="0"/>
          <a:ext cx="0" cy="0"/>
          <a:chOff x="0" y="0"/>
          <a:chExt cx="0" cy="0"/>
        </a:xfrm>
      </p:grpSpPr>
      <p:sp>
        <p:nvSpPr>
          <p:cNvPr id="11" name="Title 1"/>
          <p:cNvSpPr>
            <a:spLocks noGrp="1"/>
          </p:cNvSpPr>
          <p:nvPr>
            <p:ph type="title"/>
          </p:nvPr>
        </p:nvSpPr>
        <p:spPr>
          <a:xfrm>
            <a:off x="457200" y="685801"/>
            <a:ext cx="13716000" cy="1143000"/>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5" name="Content Placeholder 2"/>
          <p:cNvSpPr>
            <a:spLocks noGrp="1"/>
          </p:cNvSpPr>
          <p:nvPr>
            <p:ph idx="4294967295"/>
          </p:nvPr>
        </p:nvSpPr>
        <p:spPr>
          <a:xfrm>
            <a:off x="457200" y="2057401"/>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9" lvl="0" indent="-5943600" algn="just">
              <a:spcBef>
                <a:spcPts val="0"/>
              </a:spcBef>
            </a:pPr>
            <a:r>
              <a:rPr lang="en-US" b="1"/>
              <a:t>Click to edit Master text styles</a:t>
            </a:r>
          </a:p>
          <a:p>
            <a:pPr marL="5945189" lvl="1" indent="-5943600" algn="just">
              <a:spcBef>
                <a:spcPts val="0"/>
              </a:spcBef>
            </a:pPr>
            <a:r>
              <a:rPr lang="en-US" b="1"/>
              <a:t>Second level</a:t>
            </a:r>
          </a:p>
          <a:p>
            <a:pPr marL="5945189" lvl="2" indent="-5943600" algn="just">
              <a:spcBef>
                <a:spcPts val="0"/>
              </a:spcBef>
            </a:pPr>
            <a:r>
              <a:rPr lang="en-US" b="1"/>
              <a:t>Third level</a:t>
            </a:r>
          </a:p>
          <a:p>
            <a:pPr marL="5945189" lvl="3" indent="-5943600" algn="just">
              <a:spcBef>
                <a:spcPts val="0"/>
              </a:spcBef>
            </a:pPr>
            <a:r>
              <a:rPr lang="en-US" b="1"/>
              <a:t>Fourth level</a:t>
            </a:r>
          </a:p>
          <a:p>
            <a:pPr marL="5945189" lvl="4" indent="-5943600" algn="just">
              <a:spcBef>
                <a:spcPts val="0"/>
              </a:spcBef>
            </a:pPr>
            <a:r>
              <a:rPr lang="en-US" b="1"/>
              <a:t>Fifth level</a:t>
            </a:r>
            <a:endParaRPr lang="en-US" dirty="0"/>
          </a:p>
        </p:txBody>
      </p:sp>
      <p:sp>
        <p:nvSpPr>
          <p:cNvPr id="16" name="Content Placeholder 3"/>
          <p:cNvSpPr>
            <a:spLocks noGrp="1"/>
          </p:cNvSpPr>
          <p:nvPr>
            <p:ph idx="4294967295"/>
          </p:nvPr>
        </p:nvSpPr>
        <p:spPr>
          <a:xfrm>
            <a:off x="7589520" y="2057401"/>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9" lvl="0" indent="-5943600" algn="just">
              <a:spcBef>
                <a:spcPts val="0"/>
              </a:spcBef>
            </a:pPr>
            <a:r>
              <a:rPr lang="en-US" b="1"/>
              <a:t>Click to edit Master text styles</a:t>
            </a:r>
          </a:p>
          <a:p>
            <a:pPr marL="5945189" lvl="1" indent="-5943600" algn="just">
              <a:spcBef>
                <a:spcPts val="0"/>
              </a:spcBef>
            </a:pPr>
            <a:r>
              <a:rPr lang="en-US" b="1"/>
              <a:t>Second level</a:t>
            </a:r>
          </a:p>
          <a:p>
            <a:pPr marL="5945189" lvl="2" indent="-5943600" algn="just">
              <a:spcBef>
                <a:spcPts val="0"/>
              </a:spcBef>
            </a:pPr>
            <a:r>
              <a:rPr lang="en-US" b="1"/>
              <a:t>Third level</a:t>
            </a:r>
          </a:p>
          <a:p>
            <a:pPr marL="5945189" lvl="3" indent="-5943600" algn="just">
              <a:spcBef>
                <a:spcPts val="0"/>
              </a:spcBef>
            </a:pPr>
            <a:r>
              <a:rPr lang="en-US" b="1"/>
              <a:t>Fourth level</a:t>
            </a:r>
          </a:p>
          <a:p>
            <a:pPr marL="5945189" lvl="4" indent="-5943600" algn="just">
              <a:spcBef>
                <a:spcPts val="0"/>
              </a:spcBef>
            </a:pPr>
            <a:r>
              <a:rPr lang="en-US" b="1"/>
              <a:t>Fifth level</a:t>
            </a:r>
            <a:endParaRPr lang="en-US" dirty="0"/>
          </a:p>
        </p:txBody>
      </p:sp>
      <p:sp>
        <p:nvSpPr>
          <p:cNvPr id="3" name="Slide Number Placeholder 2">
            <a:extLst>
              <a:ext uri="{FF2B5EF4-FFF2-40B4-BE49-F238E27FC236}">
                <a16:creationId xmlns:a16="http://schemas.microsoft.com/office/drawing/2014/main" id="{E8E53F51-BA7A-0B34-9471-3DDAB98039EE}"/>
              </a:ext>
            </a:extLst>
          </p:cNvPr>
          <p:cNvSpPr txBox="1">
            <a:spLocks/>
          </p:cNvSpPr>
          <p:nvPr userDrawn="1"/>
        </p:nvSpPr>
        <p:spPr>
          <a:xfrm>
            <a:off x="454859" y="7714211"/>
            <a:ext cx="2022333" cy="515389"/>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en-US" sz="1920" b="0" i="0" dirty="0">
                <a:solidFill>
                  <a:schemeClr val="tx1"/>
                </a:solidFill>
                <a:latin typeface="IBM Plex Sans" charset="0"/>
                <a:ea typeface="IBM Plex Sans" charset="0"/>
                <a:cs typeface="IBM Plex Sans" charset="0"/>
              </a:rPr>
              <a:t>Page </a:t>
            </a:r>
            <a:fld id="{3FD999D4-B456-9943-89B7-30D56181CE18}" type="slidenum">
              <a:rPr lang="en-US" sz="1920" b="0" i="0" smtClean="0">
                <a:solidFill>
                  <a:schemeClr val="tx1"/>
                </a:solidFill>
                <a:latin typeface="IBM Plex Sans" charset="0"/>
                <a:ea typeface="IBM Plex Sans" charset="0"/>
                <a:cs typeface="IBM Plex Sans" charset="0"/>
              </a:rPr>
              <a:pPr algn="l"/>
              <a:t>‹#›</a:t>
            </a:fld>
            <a:r>
              <a:rPr lang="en-US" sz="1920" b="0" i="0" dirty="0">
                <a:solidFill>
                  <a:schemeClr val="tx1"/>
                </a:solidFill>
                <a:latin typeface="IBM Plex Sans" charset="0"/>
                <a:ea typeface="IBM Plex Sans" charset="0"/>
                <a:cs typeface="IBM Plex Sans" charset="0"/>
              </a:rPr>
              <a:t> </a:t>
            </a:r>
          </a:p>
        </p:txBody>
      </p:sp>
    </p:spTree>
    <p:extLst>
      <p:ext uri="{BB962C8B-B14F-4D97-AF65-F5344CB8AC3E}">
        <p14:creationId xmlns:p14="http://schemas.microsoft.com/office/powerpoint/2010/main" val="4277631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73961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38150"/>
            <a:ext cx="6583680" cy="11430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057400"/>
            <a:ext cx="6583680" cy="5486400"/>
          </a:xfrm>
          <a:prstGeom prst="rect">
            <a:avLst/>
          </a:prstGeom>
        </p:spPr>
        <p:txBody>
          <a:bodyPr vert="horz" lIns="0" tIns="228600" rIns="0" bIns="0" rtlCol="0" anchor="t">
            <a:noAutofit/>
          </a:bodyPr>
          <a:lstStyle/>
          <a:p>
            <a:pPr lvl="0"/>
            <a:r>
              <a:rPr lang="en-US" dirty="0"/>
              <a:t>Click to edit Master text styles</a:t>
            </a:r>
          </a:p>
        </p:txBody>
      </p:sp>
      <p:sp>
        <p:nvSpPr>
          <p:cNvPr id="7" name="Slide Number Placeholder 2">
            <a:extLst>
              <a:ext uri="{FF2B5EF4-FFF2-40B4-BE49-F238E27FC236}">
                <a16:creationId xmlns:a16="http://schemas.microsoft.com/office/drawing/2014/main" id="{ECA83FE4-EEEB-EE4E-BD6B-71BF10FF7DDE}"/>
              </a:ext>
            </a:extLst>
          </p:cNvPr>
          <p:cNvSpPr txBox="1">
            <a:spLocks/>
          </p:cNvSpPr>
          <p:nvPr userDrawn="1"/>
        </p:nvSpPr>
        <p:spPr>
          <a:xfrm>
            <a:off x="454858" y="7893792"/>
            <a:ext cx="327879" cy="219050"/>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800" b="0" i="0" smtClean="0">
                <a:solidFill>
                  <a:schemeClr val="bg2"/>
                </a:solidFill>
                <a:latin typeface="Calibri" panose="020F0502020204030204" pitchFamily="34" charset="0"/>
                <a:ea typeface="IBM Plex Sans" charset="0"/>
                <a:cs typeface="Calibri" panose="020F0502020204030204" pitchFamily="34" charset="0"/>
              </a:rPr>
              <a:pPr algn="l"/>
              <a:t>‹#›</a:t>
            </a:fld>
            <a:endParaRPr lang="en-US" sz="800" b="0" i="0" dirty="0">
              <a:solidFill>
                <a:schemeClr val="bg2"/>
              </a:solidFill>
              <a:latin typeface="Calibri" panose="020F0502020204030204" pitchFamily="34" charset="0"/>
              <a:ea typeface="IBM Plex Sans" charset="0"/>
              <a:cs typeface="Calibri" panose="020F0502020204030204" pitchFamily="34" charset="0"/>
            </a:endParaRPr>
          </a:p>
        </p:txBody>
      </p:sp>
      <p:sp>
        <p:nvSpPr>
          <p:cNvPr id="4" name="Slide Number Placeholder 2">
            <a:extLst>
              <a:ext uri="{FF2B5EF4-FFF2-40B4-BE49-F238E27FC236}">
                <a16:creationId xmlns:a16="http://schemas.microsoft.com/office/drawing/2014/main" id="{59600BEE-0DDA-C4E8-9DEB-7A1A735B88CF}"/>
              </a:ext>
            </a:extLst>
          </p:cNvPr>
          <p:cNvSpPr txBox="1">
            <a:spLocks/>
          </p:cNvSpPr>
          <p:nvPr userDrawn="1"/>
        </p:nvSpPr>
        <p:spPr>
          <a:xfrm>
            <a:off x="454859" y="7714211"/>
            <a:ext cx="2022333" cy="515389"/>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en-US" sz="1920" b="0" i="0" dirty="0">
                <a:solidFill>
                  <a:schemeClr val="tx1"/>
                </a:solidFill>
                <a:latin typeface="IBM Plex Sans" charset="0"/>
                <a:ea typeface="IBM Plex Sans" charset="0"/>
                <a:cs typeface="IBM Plex Sans" charset="0"/>
              </a:rPr>
              <a:t>Page </a:t>
            </a:r>
            <a:fld id="{3FD999D4-B456-9943-89B7-30D56181CE18}" type="slidenum">
              <a:rPr lang="en-US" sz="1920" b="0" i="0" smtClean="0">
                <a:solidFill>
                  <a:schemeClr val="tx1"/>
                </a:solidFill>
                <a:latin typeface="IBM Plex Sans" charset="0"/>
                <a:ea typeface="IBM Plex Sans" charset="0"/>
                <a:cs typeface="IBM Plex Sans" charset="0"/>
              </a:rPr>
              <a:pPr algn="l"/>
              <a:t>‹#›</a:t>
            </a:fld>
            <a:r>
              <a:rPr lang="en-US" sz="1920" b="0" i="0" dirty="0">
                <a:solidFill>
                  <a:schemeClr val="tx1"/>
                </a:solidFill>
                <a:latin typeface="IBM Plex Sans" charset="0"/>
                <a:ea typeface="IBM Plex Sans" charset="0"/>
                <a:cs typeface="IBM Plex Sans" charset="0"/>
              </a:rPr>
              <a:t> </a:t>
            </a:r>
          </a:p>
        </p:txBody>
      </p:sp>
    </p:spTree>
    <p:extLst>
      <p:ext uri="{BB962C8B-B14F-4D97-AF65-F5344CB8AC3E}">
        <p14:creationId xmlns:p14="http://schemas.microsoft.com/office/powerpoint/2010/main" val="28075184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1097280" rtl="0" eaLnBrk="1" latinLnBrk="0" hangingPunct="1">
        <a:lnSpc>
          <a:spcPct val="90000"/>
        </a:lnSpc>
        <a:spcBef>
          <a:spcPct val="0"/>
        </a:spcBef>
        <a:buNone/>
        <a:defRPr sz="3600" b="0" i="0" kern="1200">
          <a:solidFill>
            <a:schemeClr val="bg2"/>
          </a:solidFill>
          <a:latin typeface="Calibri" panose="020F0502020204030204" pitchFamily="34" charset="0"/>
          <a:ea typeface="Calibri" panose="020F0502020204030204" pitchFamily="34" charset="0"/>
          <a:cs typeface="Calibri" panose="020F0502020204030204" pitchFamily="34" charset="0"/>
        </a:defRPr>
      </a:lvl1pPr>
    </p:titleStyle>
    <p:bodyStyle>
      <a:lvl1pPr marL="0" indent="0" algn="l" defTabSz="1097280" rtl="0" eaLnBrk="1" latinLnBrk="0" hangingPunct="1">
        <a:lnSpc>
          <a:spcPct val="105000"/>
        </a:lnSpc>
        <a:spcBef>
          <a:spcPts val="600"/>
        </a:spcBef>
        <a:buFontTx/>
        <a:buNone/>
        <a:tabLst/>
        <a:defRPr lang="en-US" sz="2000" b="0" i="0" kern="1200" dirty="0" smtClean="0">
          <a:solidFill>
            <a:schemeClr val="bg2"/>
          </a:solidFill>
          <a:latin typeface="Calibri" panose="020F0502020204030204" pitchFamily="34" charset="0"/>
          <a:ea typeface="Calibri" panose="020F0502020204030204" pitchFamily="34" charset="0"/>
          <a:cs typeface="Calibri" panose="020F0502020204030204" pitchFamily="34" charset="0"/>
        </a:defRPr>
      </a:lvl1pPr>
      <a:lvl2pPr marL="228600" indent="-228600" algn="l" defTabSz="1097280" rtl="0" eaLnBrk="1" latinLnBrk="0" hangingPunct="1">
        <a:lnSpc>
          <a:spcPct val="105000"/>
        </a:lnSpc>
        <a:spcBef>
          <a:spcPts val="600"/>
        </a:spcBef>
        <a:buFont typeface="LucidaGrande" charset="0"/>
        <a:buChar char="-"/>
        <a:defRPr lang="en-US" sz="2000" b="0" i="0" kern="1200" dirty="0" smtClean="0">
          <a:solidFill>
            <a:schemeClr val="bg2"/>
          </a:solidFill>
          <a:latin typeface="IBM Plex Sans" charset="0"/>
          <a:ea typeface="IBM Plex Sans" charset="0"/>
          <a:cs typeface="Arial" charset="0"/>
        </a:defRPr>
      </a:lvl2pPr>
      <a:lvl3pPr marL="457200" indent="-228600" algn="l" defTabSz="1097280" rtl="0" eaLnBrk="1" latinLnBrk="0" hangingPunct="1">
        <a:lnSpc>
          <a:spcPct val="105000"/>
        </a:lnSpc>
        <a:spcBef>
          <a:spcPts val="600"/>
        </a:spcBef>
        <a:buFont typeface="Arial" panose="020B0604020202020204" pitchFamily="34" charset="0"/>
        <a:buChar char="•"/>
        <a:defRPr lang="en-US" sz="2000" b="0" i="0" kern="1200" dirty="0" smtClean="0">
          <a:solidFill>
            <a:schemeClr val="bg2"/>
          </a:solidFill>
          <a:latin typeface="IBM Plex Sans" charset="0"/>
          <a:ea typeface="IBM Plex Sans" charset="0"/>
          <a:cs typeface="Arial" charset="0"/>
        </a:defRPr>
      </a:lvl3pPr>
      <a:lvl4pPr marL="685800" indent="-228600" algn="l" defTabSz="1097280" rtl="0" eaLnBrk="1" latinLnBrk="0" hangingPunct="1">
        <a:lnSpc>
          <a:spcPct val="105000"/>
        </a:lnSpc>
        <a:spcBef>
          <a:spcPts val="600"/>
        </a:spcBef>
        <a:buFont typeface=".AppleSystemUIFont" charset="-120"/>
        <a:buChar char="–"/>
        <a:defRPr lang="en-US" sz="2000" b="0" i="0" kern="1200" dirty="0" smtClean="0">
          <a:solidFill>
            <a:schemeClr val="bg2"/>
          </a:solidFill>
          <a:latin typeface="IBM Plex Sans" charset="0"/>
          <a:ea typeface="+mn-ea"/>
          <a:cs typeface="+mn-cs"/>
        </a:defRPr>
      </a:lvl4pPr>
      <a:lvl5pPr marL="914400" indent="-228600" algn="l" defTabSz="1097280" rtl="0" eaLnBrk="1" latinLnBrk="0" hangingPunct="1">
        <a:lnSpc>
          <a:spcPct val="105000"/>
        </a:lnSpc>
        <a:spcBef>
          <a:spcPts val="600"/>
        </a:spcBef>
        <a:buFont typeface="Arial" panose="020B0604020202020204" pitchFamily="34" charset="0"/>
        <a:buChar char="•"/>
        <a:defRPr lang="en-US" sz="2000" b="0" i="0" kern="1200" dirty="0">
          <a:solidFill>
            <a:schemeClr val="bg2"/>
          </a:solidFill>
          <a:latin typeface="IBM Plex Sans"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1"/>
            <a:ext cx="6583680" cy="1143000"/>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457200" y="2057401"/>
            <a:ext cx="6583680" cy="5257800"/>
          </a:xfrm>
          <a:prstGeom prst="rect">
            <a:avLst/>
          </a:prstGeom>
        </p:spPr>
        <p:txBody>
          <a:bodyPr vert="horz" lIns="0" tIns="228600" rIns="0" bIns="0" rtlCol="0" anchor="t">
            <a:noAutofit/>
          </a:bodyPr>
          <a:lstStyle/>
          <a:p>
            <a:pPr lvl="0"/>
            <a:r>
              <a:rPr lang="en-US" dirty="0"/>
              <a:t>Click to edit Master text styles</a:t>
            </a:r>
          </a:p>
          <a:p>
            <a:pPr lvl="1"/>
            <a:r>
              <a:rPr lang="en-US" dirty="0"/>
              <a:t>Second level</a:t>
            </a:r>
          </a:p>
          <a:p>
            <a:pPr lvl="2"/>
            <a:r>
              <a:rPr lang="en-US" dirty="0"/>
              <a:t>Third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412EF33D-4C05-492F-AC89-ACB608214B80}"/>
              </a:ext>
            </a:extLst>
          </p:cNvPr>
          <p:cNvCxnSpPr/>
          <p:nvPr userDrawn="1"/>
        </p:nvCxnSpPr>
        <p:spPr>
          <a:xfrm>
            <a:off x="457201" y="7714211"/>
            <a:ext cx="13506450" cy="0"/>
          </a:xfrm>
          <a:prstGeom prst="line">
            <a:avLst/>
          </a:prstGeom>
          <a:ln w="19050"/>
        </p:spPr>
        <p:style>
          <a:lnRef idx="1">
            <a:schemeClr val="dk1"/>
          </a:lnRef>
          <a:fillRef idx="0">
            <a:schemeClr val="dk1"/>
          </a:fillRef>
          <a:effectRef idx="0">
            <a:schemeClr val="dk1"/>
          </a:effectRef>
          <a:fontRef idx="minor">
            <a:schemeClr val="tx1"/>
          </a:fontRef>
        </p:style>
      </p:cxnSp>
      <p:sp>
        <p:nvSpPr>
          <p:cNvPr id="4" name="Slide Number Placeholder 2">
            <a:extLst>
              <a:ext uri="{FF2B5EF4-FFF2-40B4-BE49-F238E27FC236}">
                <a16:creationId xmlns:a16="http://schemas.microsoft.com/office/drawing/2014/main" id="{F9BEFB92-6D08-A8E4-8DD7-2D8EF02FF760}"/>
              </a:ext>
            </a:extLst>
          </p:cNvPr>
          <p:cNvSpPr txBox="1">
            <a:spLocks/>
          </p:cNvSpPr>
          <p:nvPr userDrawn="1"/>
        </p:nvSpPr>
        <p:spPr>
          <a:xfrm>
            <a:off x="454859" y="7714211"/>
            <a:ext cx="2022333" cy="515389"/>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en-US" sz="1920" b="0" i="0" dirty="0">
                <a:solidFill>
                  <a:schemeClr val="tx1"/>
                </a:solidFill>
                <a:latin typeface="IBM Plex Sans" charset="0"/>
                <a:ea typeface="IBM Plex Sans" charset="0"/>
                <a:cs typeface="IBM Plex Sans" charset="0"/>
              </a:rPr>
              <a:t>Page </a:t>
            </a:r>
            <a:fld id="{3FD999D4-B456-9943-89B7-30D56181CE18}" type="slidenum">
              <a:rPr lang="en-US" sz="1920" b="0" i="0" smtClean="0">
                <a:solidFill>
                  <a:schemeClr val="tx1"/>
                </a:solidFill>
                <a:latin typeface="IBM Plex Sans" charset="0"/>
                <a:ea typeface="IBM Plex Sans" charset="0"/>
                <a:cs typeface="IBM Plex Sans" charset="0"/>
              </a:rPr>
              <a:pPr algn="l"/>
              <a:t>‹#›</a:t>
            </a:fld>
            <a:r>
              <a:rPr lang="en-US" sz="1920" b="0" i="0" dirty="0">
                <a:solidFill>
                  <a:schemeClr val="tx1"/>
                </a:solidFill>
                <a:latin typeface="IBM Plex Sans" charset="0"/>
                <a:ea typeface="IBM Plex Sans" charset="0"/>
                <a:cs typeface="IBM Plex Sans" charset="0"/>
              </a:rPr>
              <a:t> </a:t>
            </a:r>
          </a:p>
        </p:txBody>
      </p:sp>
    </p:spTree>
    <p:extLst>
      <p:ext uri="{BB962C8B-B14F-4D97-AF65-F5344CB8AC3E}">
        <p14:creationId xmlns:p14="http://schemas.microsoft.com/office/powerpoint/2010/main" val="272120177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hf hdr="0" ftr="0"/>
  <p:txStyles>
    <p:titleStyle>
      <a:lvl1pPr algn="l" defTabSz="1097280" rtl="0" eaLnBrk="1" latinLnBrk="0" hangingPunct="1">
        <a:lnSpc>
          <a:spcPct val="90000"/>
        </a:lnSpc>
        <a:spcBef>
          <a:spcPct val="0"/>
        </a:spcBef>
        <a:buNone/>
        <a:defRPr sz="36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0" indent="0" algn="l" defTabSz="1097280" rtl="0" eaLnBrk="1" latinLnBrk="0" hangingPunct="1">
        <a:lnSpc>
          <a:spcPct val="105000"/>
        </a:lnSpc>
        <a:spcBef>
          <a:spcPts val="1200"/>
        </a:spcBef>
        <a:buFontTx/>
        <a:buNone/>
        <a:tabLst/>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228600" indent="-228600" algn="l" defTabSz="1097280" rtl="0" eaLnBrk="1" latinLnBrk="0" hangingPunct="1">
        <a:lnSpc>
          <a:spcPct val="105000"/>
        </a:lnSpc>
        <a:spcBef>
          <a:spcPts val="1000"/>
        </a:spcBef>
        <a:buFont typeface="LucidaGrande" charset="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4572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85800" indent="-228600" algn="l" defTabSz="1097280" rtl="0" eaLnBrk="1" latinLnBrk="0" hangingPunct="1">
        <a:lnSpc>
          <a:spcPct val="105000"/>
        </a:lnSpc>
        <a:spcBef>
          <a:spcPts val="0"/>
        </a:spcBef>
        <a:buFont typeface=".AppleSystemUIFont" charset="-12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9144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Quantum-Resilient Encryption | Post-Quantum Cyrptography Solutions by Tyto">
            <a:extLst>
              <a:ext uri="{FF2B5EF4-FFF2-40B4-BE49-F238E27FC236}">
                <a16:creationId xmlns:a16="http://schemas.microsoft.com/office/drawing/2014/main" id="{118E856A-185F-B9A1-E596-B1026EEE1CF3}"/>
              </a:ext>
            </a:extLst>
          </p:cNvPr>
          <p:cNvPicPr>
            <a:picLocks noChangeAspect="1" noChangeArrowheads="1"/>
          </p:cNvPicPr>
          <p:nvPr/>
        </p:nvPicPr>
        <p:blipFill>
          <a:blip r:embed="rId2">
            <a:alphaModFix/>
            <a:extLst>
              <a:ext uri="{28A0092B-C50C-407E-A947-70E740481C1C}">
                <a14:useLocalDpi xmlns:a14="http://schemas.microsoft.com/office/drawing/2010/main"/>
              </a:ext>
            </a:extLst>
          </a:blip>
          <a:srcRect/>
          <a:stretch>
            <a:fillRect/>
          </a:stretch>
        </p:blipFill>
        <p:spPr bwMode="auto">
          <a:xfrm>
            <a:off x="0" y="3230"/>
            <a:ext cx="14630400" cy="82263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a:extLst>
              <a:ext uri="{FF2B5EF4-FFF2-40B4-BE49-F238E27FC236}">
                <a16:creationId xmlns:a16="http://schemas.microsoft.com/office/drawing/2014/main" id="{224CE121-697A-4943-AD7F-0C3307F3CEA0}"/>
              </a:ext>
            </a:extLst>
          </p:cNvPr>
          <p:cNvSpPr>
            <a:spLocks noChangeArrowheads="1"/>
          </p:cNvSpPr>
          <p:nvPr/>
        </p:nvSpPr>
        <p:spPr bwMode="auto">
          <a:xfrm>
            <a:off x="2138290" y="2811392"/>
            <a:ext cx="295530" cy="679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46304" tIns="73152" rIns="146304" bIns="73152" numCol="1" anchor="ctr" anchorCtr="0" compatLnSpc="1">
            <a:prstTxWarp prst="textNoShape">
              <a:avLst/>
            </a:prstTxWarp>
            <a:spAutoFit/>
          </a:bodyPr>
          <a:lstStyle/>
          <a:p>
            <a:endParaRPr lang="en-EG" sz="3456" b="1">
              <a:solidFill>
                <a:schemeClr val="bg2"/>
              </a:solidFill>
              <a:latin typeface="Calibri" panose="020F0502020204030204" pitchFamily="34" charset="0"/>
              <a:cs typeface="Calibri" panose="020F0502020204030204" pitchFamily="34" charset="0"/>
            </a:endParaRPr>
          </a:p>
        </p:txBody>
      </p:sp>
      <p:sp>
        <p:nvSpPr>
          <p:cNvPr id="6" name="Rectangle 6">
            <a:extLst>
              <a:ext uri="{FF2B5EF4-FFF2-40B4-BE49-F238E27FC236}">
                <a16:creationId xmlns:a16="http://schemas.microsoft.com/office/drawing/2014/main" id="{C9F683B6-CF41-EC42-BFCB-802BCC74C2BD}"/>
              </a:ext>
            </a:extLst>
          </p:cNvPr>
          <p:cNvSpPr>
            <a:spLocks noChangeArrowheads="1"/>
          </p:cNvSpPr>
          <p:nvPr/>
        </p:nvSpPr>
        <p:spPr bwMode="auto">
          <a:xfrm>
            <a:off x="685800" y="1939742"/>
            <a:ext cx="10631323" cy="310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6304" tIns="73152" rIns="146304" bIns="73152" numCol="1" anchor="ctr" anchorCtr="0" compatLnSpc="1">
            <a:prstTxWarp prst="textNoShape">
              <a:avLst/>
            </a:prstTxWarp>
            <a:spAutoFit/>
          </a:bodyPr>
          <a:lstStyle/>
          <a:p>
            <a:pPr algn="ctr" defTabSz="1463040" eaLnBrk="0" fontAlgn="base" hangingPunct="0">
              <a:spcBef>
                <a:spcPct val="0"/>
              </a:spcBef>
              <a:spcAft>
                <a:spcPct val="0"/>
              </a:spcAft>
            </a:pPr>
            <a:endPar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defTabSz="1463040" eaLnBrk="0" fontAlgn="base" hangingPunct="0">
              <a:spcBef>
                <a:spcPct val="0"/>
              </a:spcBef>
              <a:spcAft>
                <a:spcPct val="0"/>
              </a:spcAft>
            </a:pPr>
            <a:endPar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defTabSz="1463040" eaLnBrk="0" fontAlgn="base" hangingPunct="0">
              <a:spcBef>
                <a:spcPct val="0"/>
              </a:spcBef>
              <a:spcAft>
                <a:spcPct val="0"/>
              </a:spcAft>
            </a:pPr>
            <a:r>
              <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rPr>
              <a:t>Quantum Risk </a:t>
            </a:r>
            <a:r>
              <a:rPr lang="en-US" altLang="en-EG" sz="4800" b="1">
                <a:solidFill>
                  <a:schemeClr val="bg2"/>
                </a:solidFill>
                <a:latin typeface="Calibri" panose="020F0502020204030204" pitchFamily="34" charset="0"/>
                <a:ea typeface="Calibri" panose="020F0502020204030204" pitchFamily="34" charset="0"/>
                <a:cs typeface="Calibri" panose="020F0502020204030204" pitchFamily="34" charset="0"/>
              </a:rPr>
              <a:t>Assesment</a:t>
            </a:r>
            <a:endParaRPr lang="en-US" altLang="en-EG" sz="44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548640" indent="-548640" algn="ctr" defTabSz="1463040" eaLnBrk="0" fontAlgn="base" hangingPunct="0">
              <a:spcBef>
                <a:spcPct val="0"/>
              </a:spcBef>
              <a:spcAft>
                <a:spcPct val="0"/>
              </a:spcAft>
              <a:buFont typeface="Arial" panose="020B0604020202020204" pitchFamily="34" charset="0"/>
              <a:buChar char="•"/>
            </a:pPr>
            <a:endPar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87E5AA0-F497-DBCD-1D5F-C4044F14C9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522200" y="176912"/>
            <a:ext cx="1955800" cy="1623885"/>
          </a:xfrm>
          <a:prstGeom prst="rect">
            <a:avLst/>
          </a:prstGeom>
          <a:ln w="25400">
            <a:solidFill>
              <a:schemeClr val="accent1"/>
            </a:solidFill>
          </a:ln>
        </p:spPr>
      </p:pic>
      <p:pic>
        <p:nvPicPr>
          <p:cNvPr id="3" name="Picture 2">
            <a:extLst>
              <a:ext uri="{FF2B5EF4-FFF2-40B4-BE49-F238E27FC236}">
                <a16:creationId xmlns:a16="http://schemas.microsoft.com/office/drawing/2014/main" id="{ACAEE086-4657-B556-E80D-BDD301CF0FC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522200" y="1752600"/>
            <a:ext cx="1955800" cy="912037"/>
          </a:xfrm>
          <a:prstGeom prst="rect">
            <a:avLst/>
          </a:prstGeom>
          <a:ln w="25400">
            <a:solidFill>
              <a:schemeClr val="accent1"/>
            </a:solidFill>
          </a:ln>
        </p:spPr>
      </p:pic>
      <p:pic>
        <p:nvPicPr>
          <p:cNvPr id="4" name="Picture 3">
            <a:extLst>
              <a:ext uri="{FF2B5EF4-FFF2-40B4-BE49-F238E27FC236}">
                <a16:creationId xmlns:a16="http://schemas.microsoft.com/office/drawing/2014/main" id="{5C10824D-EF16-F3D8-9D05-A0FBB8C349E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2522200" y="2590800"/>
            <a:ext cx="1955800" cy="954103"/>
          </a:xfrm>
          <a:prstGeom prst="rect">
            <a:avLst/>
          </a:prstGeom>
          <a:solidFill>
            <a:schemeClr val="bg2"/>
          </a:solidFill>
          <a:ln w="25400">
            <a:solidFill>
              <a:schemeClr val="accent1"/>
            </a:solidFill>
          </a:ln>
        </p:spPr>
      </p:pic>
    </p:spTree>
    <p:extLst>
      <p:ext uri="{BB962C8B-B14F-4D97-AF65-F5344CB8AC3E}">
        <p14:creationId xmlns:p14="http://schemas.microsoft.com/office/powerpoint/2010/main" val="1614369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4A2C7-919A-944A-9099-B209B01E910B}"/>
              </a:ext>
            </a:extLst>
          </p:cNvPr>
          <p:cNvSpPr>
            <a:spLocks noGrp="1"/>
          </p:cNvSpPr>
          <p:nvPr>
            <p:ph type="title" idx="4294967295"/>
          </p:nvPr>
        </p:nvSpPr>
        <p:spPr>
          <a:xfrm>
            <a:off x="448018" y="247821"/>
            <a:ext cx="13225779" cy="640080"/>
          </a:xfrm>
        </p:spPr>
        <p:txBody>
          <a:bodyPr>
            <a:noAutofit/>
          </a:bodyPr>
          <a:lstStyle/>
          <a:p>
            <a:r>
              <a:rPr lang="en-US" sz="3200" b="1" dirty="0"/>
              <a:t>Triangle of Quantum Security (QC + PQC + QRNG)</a:t>
            </a:r>
            <a:br>
              <a:rPr lang="en-US" sz="2800" dirty="0"/>
            </a:br>
            <a:br>
              <a:rPr lang="en-US" sz="2800" dirty="0"/>
            </a:br>
            <a:endParaRPr lang="en-US" sz="4000" dirty="0"/>
          </a:p>
        </p:txBody>
      </p:sp>
      <p:graphicFrame>
        <p:nvGraphicFramePr>
          <p:cNvPr id="2" name="Table 1">
            <a:extLst>
              <a:ext uri="{FF2B5EF4-FFF2-40B4-BE49-F238E27FC236}">
                <a16:creationId xmlns:a16="http://schemas.microsoft.com/office/drawing/2014/main" id="{6CEC9ECD-F542-6E0E-7C5B-71DA66EDB038}"/>
              </a:ext>
            </a:extLst>
          </p:cNvPr>
          <p:cNvGraphicFramePr>
            <a:graphicFrameLocks noGrp="1"/>
          </p:cNvGraphicFramePr>
          <p:nvPr>
            <p:extLst>
              <p:ext uri="{D42A27DB-BD31-4B8C-83A1-F6EECF244321}">
                <p14:modId xmlns:p14="http://schemas.microsoft.com/office/powerpoint/2010/main" val="3663207211"/>
              </p:ext>
            </p:extLst>
          </p:nvPr>
        </p:nvGraphicFramePr>
        <p:xfrm>
          <a:off x="254000" y="1460500"/>
          <a:ext cx="8661400" cy="5308599"/>
        </p:xfrm>
        <a:graphic>
          <a:graphicData uri="http://schemas.openxmlformats.org/drawingml/2006/table">
            <a:tbl>
              <a:tblPr>
                <a:tableStyleId>{5C22544A-7EE6-4342-B048-85BDC9FD1C3A}</a:tableStyleId>
              </a:tblPr>
              <a:tblGrid>
                <a:gridCol w="1687285">
                  <a:extLst>
                    <a:ext uri="{9D8B030D-6E8A-4147-A177-3AD203B41FA5}">
                      <a16:colId xmlns:a16="http://schemas.microsoft.com/office/drawing/2014/main" val="4097712625"/>
                    </a:ext>
                  </a:extLst>
                </a:gridCol>
                <a:gridCol w="2310283">
                  <a:extLst>
                    <a:ext uri="{9D8B030D-6E8A-4147-A177-3AD203B41FA5}">
                      <a16:colId xmlns:a16="http://schemas.microsoft.com/office/drawing/2014/main" val="6841859"/>
                    </a:ext>
                  </a:extLst>
                </a:gridCol>
                <a:gridCol w="2414117">
                  <a:extLst>
                    <a:ext uri="{9D8B030D-6E8A-4147-A177-3AD203B41FA5}">
                      <a16:colId xmlns:a16="http://schemas.microsoft.com/office/drawing/2014/main" val="1730800643"/>
                    </a:ext>
                  </a:extLst>
                </a:gridCol>
                <a:gridCol w="2249715">
                  <a:extLst>
                    <a:ext uri="{9D8B030D-6E8A-4147-A177-3AD203B41FA5}">
                      <a16:colId xmlns:a16="http://schemas.microsoft.com/office/drawing/2014/main" val="225152381"/>
                    </a:ext>
                  </a:extLst>
                </a:gridCol>
              </a:tblGrid>
              <a:tr h="1344846">
                <a:tc>
                  <a:txBody>
                    <a:bodyPr/>
                    <a:lstStyle/>
                    <a:p>
                      <a:pPr algn="ctr" fontAlgn="ctr"/>
                      <a:r>
                        <a:rPr lang="en-US" sz="1800" b="1" u="none" strike="noStrike" dirty="0">
                          <a:effectLst/>
                        </a:rPr>
                        <a:t>Security Dimension</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ctr" fontAlgn="ctr"/>
                      <a:r>
                        <a:rPr lang="en-US" sz="1800" b="1" u="none" strike="noStrike" dirty="0">
                          <a:effectLst/>
                        </a:rPr>
                        <a:t>Quantum Cryptography (QC)</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ctr" fontAlgn="ctr"/>
                      <a:r>
                        <a:rPr lang="en-US" sz="1800" b="1" u="none" strike="noStrike" dirty="0">
                          <a:effectLst/>
                        </a:rPr>
                        <a:t>Post-Quantum Cryptography (PQC)</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ctr" fontAlgn="ctr"/>
                      <a:r>
                        <a:rPr lang="en-US" sz="1800" b="1" u="none" strike="noStrike" dirty="0">
                          <a:effectLst/>
                        </a:rPr>
                        <a:t>Quantum Random Number Generators (QRNG)</a:t>
                      </a:r>
                      <a:endParaRPr lang="en-US" sz="1800" b="1"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3034294499"/>
                  </a:ext>
                </a:extLst>
              </a:tr>
              <a:tr h="1038125">
                <a:tc>
                  <a:txBody>
                    <a:bodyPr/>
                    <a:lstStyle/>
                    <a:p>
                      <a:pPr algn="ctr" fontAlgn="ctr"/>
                      <a:r>
                        <a:rPr lang="en-US" sz="1800" b="1" u="none" strike="noStrike" dirty="0">
                          <a:effectLst/>
                        </a:rPr>
                        <a:t>Principle</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Uses principles of quantum mechanics for security (</a:t>
                      </a:r>
                      <a:r>
                        <a:rPr lang="en-US" sz="1600" b="1" u="none" strike="noStrike" dirty="0">
                          <a:effectLst/>
                        </a:rPr>
                        <a:t>Quantum Communications</a:t>
                      </a:r>
                      <a:r>
                        <a:rPr lang="en-US" sz="1600" u="none" strike="noStrike" dirty="0">
                          <a:effectLst/>
                        </a:rPr>
                        <a:t>)</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Develops </a:t>
                      </a:r>
                      <a:r>
                        <a:rPr lang="en-US" sz="1600" b="1" u="none" strike="noStrike" dirty="0">
                          <a:effectLst/>
                        </a:rPr>
                        <a:t>algorithms</a:t>
                      </a:r>
                      <a:r>
                        <a:rPr lang="en-US" sz="1600" u="none" strike="noStrike" dirty="0">
                          <a:effectLst/>
                        </a:rPr>
                        <a:t> secure against quantum computer attacks</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Uses quantum phenomena to generate true </a:t>
                      </a:r>
                      <a:r>
                        <a:rPr lang="en-US" sz="1600" b="1" u="none" strike="noStrike" dirty="0">
                          <a:effectLst/>
                        </a:rPr>
                        <a:t>random numbers</a:t>
                      </a:r>
                      <a:endParaRPr lang="en-US" sz="1600" b="1"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557376065"/>
                  </a:ext>
                </a:extLst>
              </a:tr>
              <a:tr h="802188">
                <a:tc>
                  <a:txBody>
                    <a:bodyPr/>
                    <a:lstStyle/>
                    <a:p>
                      <a:pPr algn="ctr" fontAlgn="ctr"/>
                      <a:r>
                        <a:rPr lang="en-US" sz="1800" b="1" u="none" strike="noStrike" dirty="0">
                          <a:effectLst/>
                        </a:rPr>
                        <a:t>Technology</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Requires </a:t>
                      </a:r>
                      <a:r>
                        <a:rPr lang="en-US" sz="1600" b="1" u="none" strike="noStrike" dirty="0">
                          <a:effectLst/>
                        </a:rPr>
                        <a:t>quantum hardware</a:t>
                      </a:r>
                      <a:r>
                        <a:rPr lang="en-US" sz="1600" u="none" strike="noStrike" dirty="0">
                          <a:effectLst/>
                        </a:rPr>
                        <a:t> (e.g., </a:t>
                      </a:r>
                      <a:r>
                        <a:rPr lang="en-US" sz="1600" b="1" u="none" strike="noStrike" dirty="0">
                          <a:effectLst/>
                        </a:rPr>
                        <a:t>QKD</a:t>
                      </a:r>
                      <a:r>
                        <a:rPr lang="en-US" sz="1600" u="none" strike="noStrike" dirty="0">
                          <a:effectLst/>
                        </a:rPr>
                        <a:t> systems)</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Can be implemented on </a:t>
                      </a:r>
                      <a:r>
                        <a:rPr lang="en-US" sz="1600" b="1" u="none" strike="noStrike" dirty="0">
                          <a:effectLst/>
                        </a:rPr>
                        <a:t>classical computers</a:t>
                      </a:r>
                      <a:endParaRPr lang="en-US" sz="16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Based on quantum mechanical processes (e.g., </a:t>
                      </a:r>
                      <a:r>
                        <a:rPr lang="en-US" sz="1600" b="1" u="none" strike="noStrike" dirty="0">
                          <a:effectLst/>
                        </a:rPr>
                        <a:t>photon behavior</a:t>
                      </a:r>
                      <a:r>
                        <a:rPr lang="en-US" sz="1600" u="none" strike="noStrike" dirty="0">
                          <a:effectLst/>
                        </a:rPr>
                        <a:t>)</a:t>
                      </a:r>
                      <a:endParaRPr lang="en-US" sz="1600" b="0"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2949478282"/>
                  </a:ext>
                </a:extLst>
              </a:tr>
              <a:tr h="1061720">
                <a:tc>
                  <a:txBody>
                    <a:bodyPr/>
                    <a:lstStyle/>
                    <a:p>
                      <a:pPr algn="ctr" fontAlgn="ctr"/>
                      <a:r>
                        <a:rPr lang="en-US" sz="1800" b="1" u="none" strike="noStrike" dirty="0">
                          <a:effectLst/>
                        </a:rPr>
                        <a:t>Examples</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Quantum Key Distribution (</a:t>
                      </a:r>
                      <a:r>
                        <a:rPr lang="en-US" sz="1600" b="1" u="none" strike="noStrike" dirty="0">
                          <a:effectLst/>
                        </a:rPr>
                        <a:t>QKD</a:t>
                      </a:r>
                      <a:r>
                        <a:rPr lang="en-US" sz="1600" u="none" strike="noStrike" dirty="0">
                          <a:effectLst/>
                        </a:rPr>
                        <a:t>) like BB84, </a:t>
                      </a:r>
                      <a:r>
                        <a:rPr lang="en-US" sz="1600" u="none" strike="noStrike" dirty="0" err="1">
                          <a:effectLst/>
                        </a:rPr>
                        <a:t>E91</a:t>
                      </a:r>
                      <a:r>
                        <a:rPr lang="en-US" sz="1600" u="none" strike="noStrike" dirty="0">
                          <a:effectLst/>
                        </a:rPr>
                        <a:t>, … etc.</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a:effectLst/>
                        </a:rPr>
                        <a:t>Lattice-based (Kyber, Dilithium), Code-based (McEliece), Hash-based (SPHINCS+)</a:t>
                      </a:r>
                      <a:endParaRPr lang="en-US" sz="1600" b="0" i="0" u="none" strike="noStrike">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Devices generating </a:t>
                      </a:r>
                      <a:r>
                        <a:rPr lang="en-US" sz="1600" b="1" u="none" strike="noStrike" dirty="0">
                          <a:effectLst/>
                        </a:rPr>
                        <a:t>true  randomness</a:t>
                      </a:r>
                      <a:r>
                        <a:rPr lang="en-US" sz="1600" u="none" strike="noStrike" dirty="0">
                          <a:effectLst/>
                        </a:rPr>
                        <a:t> from quantum states of particles</a:t>
                      </a:r>
                      <a:endParaRPr lang="en-US" sz="1600" b="0"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675604362"/>
                  </a:ext>
                </a:extLst>
              </a:tr>
              <a:tr h="1061720">
                <a:tc>
                  <a:txBody>
                    <a:bodyPr/>
                    <a:lstStyle/>
                    <a:p>
                      <a:pPr algn="ctr" fontAlgn="ctr"/>
                      <a:r>
                        <a:rPr lang="en-US" sz="1800" b="1" u="none" strike="noStrike" dirty="0">
                          <a:effectLst/>
                        </a:rPr>
                        <a:t>Example </a:t>
                      </a:r>
                    </a:p>
                    <a:p>
                      <a:pPr algn="ctr" fontAlgn="ctr"/>
                      <a:r>
                        <a:rPr lang="en-US" sz="1800" b="1" u="none" strike="noStrike" dirty="0">
                          <a:effectLst/>
                        </a:rPr>
                        <a:t>(Bank Vault)</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Super secure </a:t>
                      </a:r>
                      <a:r>
                        <a:rPr lang="en-US" sz="1600" b="1" u="none" strike="noStrike" dirty="0">
                          <a:effectLst/>
                        </a:rPr>
                        <a:t>one-time delivery</a:t>
                      </a:r>
                      <a:r>
                        <a:rPr lang="en-US" sz="1600" u="none" strike="noStrike" dirty="0">
                          <a:effectLst/>
                        </a:rPr>
                        <a:t> of the combination code (</a:t>
                      </a:r>
                      <a:r>
                        <a:rPr lang="en-US" sz="1600" b="1" u="none" strike="noStrike" dirty="0">
                          <a:effectLst/>
                        </a:rPr>
                        <a:t>key</a:t>
                      </a:r>
                      <a:r>
                        <a:rPr lang="en-US" sz="1600" u="none" strike="noStrike" dirty="0">
                          <a:effectLst/>
                        </a:rPr>
                        <a:t>) for the vault </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Replacing the existing lock on the </a:t>
                      </a:r>
                      <a:r>
                        <a:rPr lang="en-US" sz="1600" b="1" u="none" strike="noStrike" dirty="0">
                          <a:effectLst/>
                        </a:rPr>
                        <a:t>vault</a:t>
                      </a:r>
                      <a:r>
                        <a:rPr lang="en-US" sz="1600" u="none" strike="noStrike" dirty="0">
                          <a:effectLst/>
                        </a:rPr>
                        <a:t> with a new, </a:t>
                      </a:r>
                      <a:r>
                        <a:rPr lang="en-US" sz="1600" b="1" u="none" strike="noStrike" dirty="0">
                          <a:effectLst/>
                        </a:rPr>
                        <a:t>resistant</a:t>
                      </a:r>
                      <a:r>
                        <a:rPr lang="en-US" sz="1600" u="none" strike="noStrike" dirty="0">
                          <a:effectLst/>
                        </a:rPr>
                        <a:t> to quantum computers</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Generating </a:t>
                      </a:r>
                      <a:r>
                        <a:rPr lang="en-US" sz="1600" b="1" u="none" strike="noStrike" dirty="0">
                          <a:effectLst/>
                        </a:rPr>
                        <a:t>true random</a:t>
                      </a:r>
                      <a:r>
                        <a:rPr lang="en-US" sz="1600" u="none" strike="noStrike" dirty="0">
                          <a:effectLst/>
                        </a:rPr>
                        <a:t> numbers for the combination code (</a:t>
                      </a:r>
                      <a:r>
                        <a:rPr lang="en-US" sz="1600" b="1" u="none" strike="noStrike" dirty="0">
                          <a:effectLst/>
                        </a:rPr>
                        <a:t>keys</a:t>
                      </a:r>
                      <a:r>
                        <a:rPr lang="en-US" sz="1600" u="none" strike="noStrike" dirty="0">
                          <a:effectLst/>
                        </a:rPr>
                        <a:t>) using photons</a:t>
                      </a:r>
                      <a:endParaRPr lang="en-US" sz="1600" b="0"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2563656512"/>
                  </a:ext>
                </a:extLst>
              </a:tr>
            </a:tbl>
          </a:graphicData>
        </a:graphic>
      </p:graphicFrame>
      <p:pic>
        <p:nvPicPr>
          <p:cNvPr id="5" name="Picture 4">
            <a:extLst>
              <a:ext uri="{FF2B5EF4-FFF2-40B4-BE49-F238E27FC236}">
                <a16:creationId xmlns:a16="http://schemas.microsoft.com/office/drawing/2014/main" id="{35900EDF-B158-FF2F-BB68-BED4C1B3E03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067800" y="1460500"/>
            <a:ext cx="5308600" cy="5308600"/>
          </a:xfrm>
          <a:prstGeom prst="rect">
            <a:avLst/>
          </a:prstGeom>
        </p:spPr>
      </p:pic>
      <p:sp>
        <p:nvSpPr>
          <p:cNvPr id="6" name="TextBox 5">
            <a:extLst>
              <a:ext uri="{FF2B5EF4-FFF2-40B4-BE49-F238E27FC236}">
                <a16:creationId xmlns:a16="http://schemas.microsoft.com/office/drawing/2014/main" id="{DCB212A5-0FF8-19AA-239E-8558B3E56EFE}"/>
              </a:ext>
            </a:extLst>
          </p:cNvPr>
          <p:cNvSpPr txBox="1"/>
          <p:nvPr/>
        </p:nvSpPr>
        <p:spPr>
          <a:xfrm>
            <a:off x="3792511" y="5186597"/>
            <a:ext cx="0" cy="0"/>
          </a:xfrm>
          <a:prstGeom prst="rect">
            <a:avLst/>
          </a:prstGeom>
        </p:spPr>
        <p:txBody>
          <a:bodyPr wrap="none" lIns="0" tIns="0" rIns="0" bIns="0" rtlCol="0">
            <a:noAutofit/>
          </a:bodyPr>
          <a:lstStyle/>
          <a:p>
            <a:pPr>
              <a:lnSpc>
                <a:spcPct val="105000"/>
              </a:lnSpc>
              <a:spcBef>
                <a:spcPts val="1000"/>
              </a:spcBef>
            </a:pPr>
            <a:endParaRPr lang="en-EG" sz="2000" dirty="0" err="1">
              <a:solidFill>
                <a:schemeClr val="tx1"/>
              </a:solidFill>
              <a:latin typeface="IBM Plex Sans" charset="0"/>
              <a:ea typeface="IBM Plex Sans" charset="0"/>
              <a:cs typeface="IBM Plex Sans" charset="0"/>
            </a:endParaRPr>
          </a:p>
        </p:txBody>
      </p:sp>
    </p:spTree>
    <p:extLst>
      <p:ext uri="{BB962C8B-B14F-4D97-AF65-F5344CB8AC3E}">
        <p14:creationId xmlns:p14="http://schemas.microsoft.com/office/powerpoint/2010/main" val="309914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02885A-5E5B-7C09-3E6E-6C2AAFBBFB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76800" y="5645900"/>
            <a:ext cx="9677400" cy="2583700"/>
          </a:xfrm>
          <a:prstGeom prst="rect">
            <a:avLst/>
          </a:prstGeom>
        </p:spPr>
      </p:pic>
      <p:sp>
        <p:nvSpPr>
          <p:cNvPr id="2" name="TextShape 1">
            <a:extLst>
              <a:ext uri="{FF2B5EF4-FFF2-40B4-BE49-F238E27FC236}">
                <a16:creationId xmlns:a16="http://schemas.microsoft.com/office/drawing/2014/main" id="{C324728C-E530-5F44-BB21-52D02E592F91}"/>
              </a:ext>
            </a:extLst>
          </p:cNvPr>
          <p:cNvSpPr txBox="1"/>
          <p:nvPr/>
        </p:nvSpPr>
        <p:spPr>
          <a:xfrm>
            <a:off x="336528" y="333833"/>
            <a:ext cx="13718250" cy="865381"/>
          </a:xfrm>
          <a:prstGeom prst="rect">
            <a:avLst/>
          </a:prstGeom>
          <a:noFill/>
          <a:ln>
            <a:noFill/>
          </a:ln>
        </p:spPr>
        <p:txBody>
          <a:bodyPr lIns="0" tIns="0" rIns="0" bIns="0">
            <a:noAutofit/>
          </a:bodyPr>
          <a:lstStyle/>
          <a:p>
            <a:pPr>
              <a:lnSpc>
                <a:spcPct val="90000"/>
              </a:lnSpc>
              <a:defRPr/>
            </a:pPr>
            <a:r>
              <a:rPr lang="en-US" sz="3840" b="1" spc="-2" dirty="0">
                <a:solidFill>
                  <a:srgbClr val="000000"/>
                </a:solidFill>
                <a:latin typeface="Calibri" panose="020F0502020204030204" pitchFamily="34" charset="0"/>
                <a:ea typeface="IBM Plex Sans"/>
                <a:cs typeface="Calibri" panose="020F0502020204030204" pitchFamily="34" charset="0"/>
              </a:rPr>
              <a:t>Problem Statement – </a:t>
            </a:r>
            <a:r>
              <a:rPr lang="en-US" sz="3200" b="1" spc="-2" dirty="0">
                <a:solidFill>
                  <a:srgbClr val="000000"/>
                </a:solidFill>
                <a:latin typeface="Calibri" panose="020F0502020204030204" pitchFamily="34" charset="0"/>
                <a:ea typeface="IBM Plex Sans"/>
                <a:cs typeface="Calibri" panose="020F0502020204030204" pitchFamily="34" charset="0"/>
              </a:rPr>
              <a:t>Cybersecurity Threats of Quantum Computing</a:t>
            </a:r>
          </a:p>
          <a:p>
            <a:pPr>
              <a:lnSpc>
                <a:spcPct val="90000"/>
              </a:lnSpc>
              <a:defRPr/>
            </a:pPr>
            <a:endParaRPr lang="en-US" sz="3840" spc="-2" dirty="0">
              <a:solidFill>
                <a:srgbClr val="000000"/>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2334014-EF1C-9842-D386-88F862B0851F}"/>
              </a:ext>
            </a:extLst>
          </p:cNvPr>
          <p:cNvSpPr txBox="1"/>
          <p:nvPr/>
        </p:nvSpPr>
        <p:spPr>
          <a:xfrm>
            <a:off x="336528" y="1143000"/>
            <a:ext cx="13857773" cy="6789551"/>
          </a:xfrm>
          <a:prstGeom prst="rect">
            <a:avLst/>
          </a:prstGeom>
          <a:noFill/>
        </p:spPr>
        <p:txBody>
          <a:bodyPr wrap="square">
            <a:spAutoFit/>
          </a:bodyPr>
          <a:lstStyle/>
          <a:p>
            <a:pPr marL="457200" indent="-457200" defTabSz="731520">
              <a:buFont typeface="Arial" panose="020B0604020202020204" pitchFamily="34" charset="0"/>
              <a:buChar char="•"/>
            </a:pPr>
            <a:r>
              <a:rPr lang="en-US" sz="2560" dirty="0">
                <a:solidFill>
                  <a:srgbClr val="000000"/>
                </a:solidFill>
                <a:latin typeface="Arial"/>
              </a:rPr>
              <a:t>Cryptographically Relevant Quantum Computers (</a:t>
            </a:r>
            <a:r>
              <a:rPr lang="en-US" sz="2560" b="1" dirty="0">
                <a:solidFill>
                  <a:srgbClr val="000000"/>
                </a:solidFill>
                <a:latin typeface="Arial"/>
              </a:rPr>
              <a:t>CRQC</a:t>
            </a:r>
            <a:r>
              <a:rPr lang="en-US" sz="2560" dirty="0">
                <a:solidFill>
                  <a:srgbClr val="000000"/>
                </a:solidFill>
                <a:latin typeface="Arial"/>
              </a:rPr>
              <a:t>s) are emerging rapidly (</a:t>
            </a:r>
            <a:r>
              <a:rPr lang="en-US" sz="2560" b="1" dirty="0">
                <a:solidFill>
                  <a:srgbClr val="000000"/>
                </a:solidFill>
                <a:latin typeface="Arial"/>
              </a:rPr>
              <a:t>Q-Day</a:t>
            </a:r>
            <a:r>
              <a:rPr lang="en-US" sz="2560" dirty="0">
                <a:solidFill>
                  <a:srgbClr val="000000"/>
                </a:solidFill>
                <a:latin typeface="Arial"/>
              </a:rPr>
              <a:t>).</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Their increasing capacity (measured by </a:t>
            </a:r>
            <a:r>
              <a:rPr lang="en-US" sz="2560" b="1" dirty="0">
                <a:solidFill>
                  <a:srgbClr val="000000"/>
                </a:solidFill>
                <a:latin typeface="Arial"/>
              </a:rPr>
              <a:t>qubits</a:t>
            </a:r>
            <a:r>
              <a:rPr lang="en-US" sz="2560" dirty="0">
                <a:solidFill>
                  <a:srgbClr val="000000"/>
                </a:solidFill>
                <a:latin typeface="Arial"/>
              </a:rPr>
              <a:t>) and development pace pose a significant risk on current Cybersecurity. </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These quantum systems can decrypt widely used asymmetric security protocols like </a:t>
            </a:r>
            <a:r>
              <a:rPr lang="en-US" sz="2560" b="1" dirty="0">
                <a:solidFill>
                  <a:srgbClr val="000000"/>
                </a:solidFill>
                <a:latin typeface="Arial"/>
              </a:rPr>
              <a:t>RSA</a:t>
            </a:r>
            <a:r>
              <a:rPr lang="en-US" sz="2560" dirty="0">
                <a:solidFill>
                  <a:srgbClr val="000000"/>
                </a:solidFill>
                <a:latin typeface="Arial"/>
              </a:rPr>
              <a:t> or </a:t>
            </a:r>
            <a:r>
              <a:rPr lang="en-US" sz="2560" b="1" dirty="0">
                <a:solidFill>
                  <a:srgbClr val="000000"/>
                </a:solidFill>
                <a:latin typeface="Arial"/>
              </a:rPr>
              <a:t>Elliptical Curve </a:t>
            </a:r>
            <a:r>
              <a:rPr lang="en-US" sz="2560" dirty="0">
                <a:solidFill>
                  <a:srgbClr val="000000"/>
                </a:solidFill>
                <a:latin typeface="Arial"/>
              </a:rPr>
              <a:t>algorithms, or </a:t>
            </a:r>
            <a:r>
              <a:rPr lang="en-US" sz="2560" b="1" dirty="0">
                <a:solidFill>
                  <a:srgbClr val="000000"/>
                </a:solidFill>
                <a:latin typeface="Arial"/>
              </a:rPr>
              <a:t>AES</a:t>
            </a:r>
            <a:r>
              <a:rPr lang="en-US" sz="2560" dirty="0">
                <a:solidFill>
                  <a:srgbClr val="000000"/>
                </a:solidFill>
                <a:latin typeface="Arial"/>
              </a:rPr>
              <a:t> (just few months ago).</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Migration and secrecy maintenance time </a:t>
            </a:r>
            <a:r>
              <a:rPr lang="en-US" sz="2560" b="1" dirty="0">
                <a:solidFill>
                  <a:srgbClr val="000000"/>
                </a:solidFill>
                <a:latin typeface="Arial"/>
              </a:rPr>
              <a:t>exceed</a:t>
            </a:r>
            <a:r>
              <a:rPr lang="en-US" sz="2560" dirty="0">
                <a:solidFill>
                  <a:srgbClr val="000000"/>
                </a:solidFill>
                <a:latin typeface="Arial"/>
              </a:rPr>
              <a:t> the expected arrival time of </a:t>
            </a:r>
            <a:r>
              <a:rPr lang="en-US" sz="2560" b="1" dirty="0">
                <a:solidFill>
                  <a:srgbClr val="000000"/>
                </a:solidFill>
                <a:latin typeface="Arial"/>
              </a:rPr>
              <a:t>CRQC</a:t>
            </a:r>
            <a:r>
              <a:rPr lang="en-US" sz="2560" dirty="0">
                <a:solidFill>
                  <a:srgbClr val="000000"/>
                </a:solidFill>
                <a:latin typeface="Arial"/>
              </a:rPr>
              <a:t>s</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New legal regulations and directives are established in the US, EU, and China to address cryptographic concerns.</a:t>
            </a:r>
          </a:p>
          <a:p>
            <a:pPr marL="457200" indent="-457200" defTabSz="731520">
              <a:buFont typeface="Arial" panose="020B0604020202020204" pitchFamily="34" charset="0"/>
              <a:buChar char="•"/>
            </a:pPr>
            <a:endParaRPr lang="en-US" sz="2560" dirty="0">
              <a:solidFill>
                <a:srgbClr val="000000"/>
              </a:solidFill>
              <a:latin typeface="Arial"/>
            </a:endParaRPr>
          </a:p>
          <a:p>
            <a:pPr defTabSz="731520"/>
            <a:endParaRPr lang="en-US" sz="2560" dirty="0">
              <a:solidFill>
                <a:srgbClr val="000000"/>
              </a:solidFill>
              <a:latin typeface="Arial"/>
            </a:endParaRPr>
          </a:p>
          <a:p>
            <a:pPr defTabSz="731520"/>
            <a:r>
              <a:rPr lang="en-US" sz="2560" dirty="0">
                <a:solidFill>
                  <a:srgbClr val="000000"/>
                </a:solidFill>
                <a:latin typeface="Arial"/>
              </a:rPr>
              <a:t>     </a:t>
            </a:r>
            <a:r>
              <a:rPr lang="en-US" sz="2560" b="1" i="1" dirty="0">
                <a:solidFill>
                  <a:srgbClr val="000000"/>
                </a:solidFill>
                <a:latin typeface="Arial"/>
              </a:rPr>
              <a:t>Mosca Theorem (x + y &gt; z)</a:t>
            </a:r>
          </a:p>
          <a:p>
            <a:pPr defTabSz="731520"/>
            <a:endParaRPr lang="en-US" sz="2560" dirty="0">
              <a:solidFill>
                <a:srgbClr val="000000"/>
              </a:solidFill>
              <a:latin typeface="Arial"/>
            </a:endParaRPr>
          </a:p>
          <a:p>
            <a:pPr defTabSz="731520"/>
            <a:endParaRPr lang="en-US" sz="2560" dirty="0">
              <a:solidFill>
                <a:srgbClr val="000000"/>
              </a:solidFill>
              <a:latin typeface="Arial"/>
            </a:endParaRPr>
          </a:p>
        </p:txBody>
      </p:sp>
    </p:spTree>
    <p:extLst>
      <p:ext uri="{BB962C8B-B14F-4D97-AF65-F5344CB8AC3E}">
        <p14:creationId xmlns:p14="http://schemas.microsoft.com/office/powerpoint/2010/main" val="949242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2015B-87C3-E9CA-DD91-B6B0B50CBF58}"/>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6E78C881-CE5B-A251-9854-B40FEB3CC7C5}"/>
              </a:ext>
            </a:extLst>
          </p:cNvPr>
          <p:cNvSpPr txBox="1"/>
          <p:nvPr/>
        </p:nvSpPr>
        <p:spPr>
          <a:xfrm>
            <a:off x="531150" y="333833"/>
            <a:ext cx="13718250" cy="865381"/>
          </a:xfrm>
          <a:prstGeom prst="rect">
            <a:avLst/>
          </a:prstGeom>
          <a:noFill/>
          <a:ln>
            <a:noFill/>
          </a:ln>
        </p:spPr>
        <p:txBody>
          <a:bodyPr lIns="0" tIns="0" rIns="0" bIns="0">
            <a:noAutofit/>
          </a:bodyPr>
          <a:lstStyle/>
          <a:p>
            <a:pPr>
              <a:lnSpc>
                <a:spcPct val="90000"/>
              </a:lnSpc>
              <a:defRPr/>
            </a:pPr>
            <a:r>
              <a:rPr lang="en-US" sz="3840" b="1" spc="-2" dirty="0">
                <a:solidFill>
                  <a:srgbClr val="000000"/>
                </a:solidFill>
                <a:latin typeface="Calibri" panose="020F0502020204030204" pitchFamily="34" charset="0"/>
                <a:ea typeface="IBM Plex Sans"/>
                <a:cs typeface="Calibri" panose="020F0502020204030204" pitchFamily="34" charset="0"/>
              </a:rPr>
              <a:t>History of Cryptographic Transitions</a:t>
            </a:r>
            <a:endParaRPr lang="en-US" sz="3200" b="1" spc="-2" dirty="0">
              <a:solidFill>
                <a:srgbClr val="000000"/>
              </a:solidFill>
              <a:latin typeface="Calibri" panose="020F0502020204030204" pitchFamily="34" charset="0"/>
              <a:ea typeface="IBM Plex Sans"/>
              <a:cs typeface="Calibri" panose="020F0502020204030204" pitchFamily="34" charset="0"/>
            </a:endParaRPr>
          </a:p>
          <a:p>
            <a:pPr>
              <a:lnSpc>
                <a:spcPct val="90000"/>
              </a:lnSpc>
              <a:defRPr/>
            </a:pPr>
            <a:endParaRPr lang="en-US" sz="3840" spc="-2" dirty="0">
              <a:solidFill>
                <a:srgbClr val="000000"/>
              </a:solidFill>
              <a:latin typeface="Calibri" panose="020F0502020204030204" pitchFamily="34" charset="0"/>
              <a:cs typeface="Calibri" panose="020F0502020204030204" pitchFamily="34" charset="0"/>
            </a:endParaRPr>
          </a:p>
        </p:txBody>
      </p:sp>
      <p:graphicFrame>
        <p:nvGraphicFramePr>
          <p:cNvPr id="33" name="Table 32">
            <a:extLst>
              <a:ext uri="{FF2B5EF4-FFF2-40B4-BE49-F238E27FC236}">
                <a16:creationId xmlns:a16="http://schemas.microsoft.com/office/drawing/2014/main" id="{544A055A-BD8F-41C8-9442-69E8FE1AE753}"/>
              </a:ext>
            </a:extLst>
          </p:cNvPr>
          <p:cNvGraphicFramePr>
            <a:graphicFrameLocks noGrp="1"/>
          </p:cNvGraphicFramePr>
          <p:nvPr>
            <p:extLst>
              <p:ext uri="{D42A27DB-BD31-4B8C-83A1-F6EECF244321}">
                <p14:modId xmlns:p14="http://schemas.microsoft.com/office/powerpoint/2010/main" val="2628977814"/>
              </p:ext>
            </p:extLst>
          </p:nvPr>
        </p:nvGraphicFramePr>
        <p:xfrm>
          <a:off x="533400" y="1199214"/>
          <a:ext cx="13521378" cy="6420784"/>
        </p:xfrm>
        <a:graphic>
          <a:graphicData uri="http://schemas.openxmlformats.org/drawingml/2006/table">
            <a:tbl>
              <a:tblPr/>
              <a:tblGrid>
                <a:gridCol w="3073459">
                  <a:extLst>
                    <a:ext uri="{9D8B030D-6E8A-4147-A177-3AD203B41FA5}">
                      <a16:colId xmlns:a16="http://schemas.microsoft.com/office/drawing/2014/main" val="3433033282"/>
                    </a:ext>
                  </a:extLst>
                </a:gridCol>
                <a:gridCol w="10447919">
                  <a:extLst>
                    <a:ext uri="{9D8B030D-6E8A-4147-A177-3AD203B41FA5}">
                      <a16:colId xmlns:a16="http://schemas.microsoft.com/office/drawing/2014/main" val="4203590510"/>
                    </a:ext>
                  </a:extLst>
                </a:gridCol>
              </a:tblGrid>
              <a:tr h="401299">
                <a:tc>
                  <a:txBody>
                    <a:bodyPr/>
                    <a:lstStyle/>
                    <a:p>
                      <a:pPr algn="ctr" fontAlgn="ctr"/>
                      <a:r>
                        <a:rPr lang="en-US" sz="2400" b="1" i="0" u="none" strike="noStrike">
                          <a:solidFill>
                            <a:srgbClr val="000000"/>
                          </a:solidFill>
                          <a:effectLst/>
                          <a:latin typeface="Aptos Narrow" panose="020B0004020202020204" pitchFamily="34" charset="0"/>
                        </a:rPr>
                        <a:t>Period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ctr" fontAlgn="ctr"/>
                      <a:r>
                        <a:rPr lang="en-US" sz="2400" b="1" i="0" u="none" strike="noStrike">
                          <a:solidFill>
                            <a:srgbClr val="000000"/>
                          </a:solidFill>
                          <a:effectLst/>
                          <a:latin typeface="Aptos Narrow" panose="020B0004020202020204" pitchFamily="34" charset="0"/>
                        </a:rPr>
                        <a:t>Event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6314751"/>
                  </a:ext>
                </a:extLst>
              </a:tr>
              <a:tr h="401299">
                <a:tc>
                  <a:txBody>
                    <a:bodyPr/>
                    <a:lstStyle/>
                    <a:p>
                      <a:pPr algn="ctr" fontAlgn="ctr"/>
                      <a:r>
                        <a:rPr lang="en-US" sz="2400" b="1" i="0" u="none" strike="noStrike" dirty="0" err="1">
                          <a:solidFill>
                            <a:srgbClr val="000000"/>
                          </a:solidFill>
                          <a:effectLst/>
                          <a:latin typeface="Aptos Narrow" panose="020B0004020202020204" pitchFamily="34" charset="0"/>
                        </a:rPr>
                        <a:t>1970s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Transition to NIST </a:t>
                      </a:r>
                      <a:r>
                        <a:rPr lang="en-US" sz="2400" b="1" i="0" u="none" strike="noStrike" dirty="0">
                          <a:solidFill>
                            <a:srgbClr val="000000"/>
                          </a:solidFill>
                          <a:effectLst/>
                          <a:latin typeface="Aptos Narrow" panose="020B0004020202020204" pitchFamily="34" charset="0"/>
                        </a:rPr>
                        <a:t>DES</a:t>
                      </a:r>
                      <a:r>
                        <a:rPr lang="en-US" sz="2400" b="0" i="0" u="none" strike="noStrike" dirty="0">
                          <a:solidFill>
                            <a:srgbClr val="000000"/>
                          </a:solidFill>
                          <a:effectLst/>
                          <a:latin typeface="Aptos Narrow" panose="020B0004020202020204" pitchFamily="34" charset="0"/>
                        </a:rPr>
                        <a:t> from proprietary algorithms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0534142"/>
                  </a:ext>
                </a:extLst>
              </a:tr>
              <a:tr h="401299">
                <a:tc>
                  <a:txBody>
                    <a:bodyPr/>
                    <a:lstStyle/>
                    <a:p>
                      <a:pPr algn="ctr" fontAlgn="ctr"/>
                      <a:r>
                        <a:rPr lang="en-US" sz="2400" b="1" i="0" u="none" strike="noStrike" dirty="0">
                          <a:solidFill>
                            <a:srgbClr val="000000"/>
                          </a:solidFill>
                          <a:effectLst/>
                          <a:latin typeface="Aptos Narrow" panose="020B0004020202020204" pitchFamily="34" charset="0"/>
                        </a:rPr>
                        <a:t>Early </a:t>
                      </a:r>
                      <a:r>
                        <a:rPr lang="en-US" sz="2400" b="1" i="0" u="none" strike="noStrike" dirty="0" err="1">
                          <a:solidFill>
                            <a:srgbClr val="000000"/>
                          </a:solidFill>
                          <a:effectLst/>
                          <a:latin typeface="Aptos Narrow" panose="020B0004020202020204" pitchFamily="34" charset="0"/>
                        </a:rPr>
                        <a:t>1990s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RSA</a:t>
                      </a:r>
                      <a:r>
                        <a:rPr lang="en-US" sz="2400" b="0" i="0" u="none" strike="noStrike" dirty="0">
                          <a:solidFill>
                            <a:srgbClr val="000000"/>
                          </a:solidFill>
                          <a:effectLst/>
                          <a:latin typeface="Aptos Narrow" panose="020B0004020202020204" pitchFamily="34" charset="0"/>
                        </a:rPr>
                        <a:t> with 1024-bit keys, MD5, SHA1 widely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6422327"/>
                  </a:ext>
                </a:extLst>
              </a:tr>
              <a:tr h="401299">
                <a:tc>
                  <a:txBody>
                    <a:bodyPr/>
                    <a:lstStyle/>
                    <a:p>
                      <a:pPr algn="ctr" fontAlgn="ctr"/>
                      <a:r>
                        <a:rPr lang="en-US" sz="2400" b="1" i="0" u="none" strike="noStrike" dirty="0">
                          <a:solidFill>
                            <a:srgbClr val="000000"/>
                          </a:solidFill>
                          <a:effectLst/>
                          <a:latin typeface="Aptos Narrow" panose="020B0004020202020204" pitchFamily="34" charset="0"/>
                        </a:rPr>
                        <a:t>Mid-</a:t>
                      </a:r>
                      <a:r>
                        <a:rPr lang="en-US" sz="2400" b="1" i="0" u="none" strike="noStrike" dirty="0" err="1">
                          <a:solidFill>
                            <a:srgbClr val="000000"/>
                          </a:solidFill>
                          <a:effectLst/>
                          <a:latin typeface="Aptos Narrow" panose="020B0004020202020204" pitchFamily="34" charset="0"/>
                        </a:rPr>
                        <a:t>1990s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Transition from DES to </a:t>
                      </a:r>
                      <a:r>
                        <a:rPr lang="en-US" sz="2400" b="1" i="0" u="none" strike="noStrike" dirty="0">
                          <a:solidFill>
                            <a:srgbClr val="000000"/>
                          </a:solidFill>
                          <a:effectLst/>
                          <a:latin typeface="Aptos Narrow" panose="020B0004020202020204" pitchFamily="34" charset="0"/>
                        </a:rPr>
                        <a:t>3DES</a:t>
                      </a:r>
                      <a:r>
                        <a:rPr lang="en-US" sz="2400" b="0" i="0" u="none" strike="noStrike" dirty="0">
                          <a:solidFill>
                            <a:srgbClr val="000000"/>
                          </a:solidFill>
                          <a:effectLst/>
                          <a:latin typeface="Aptos Narrow" panose="020B0004020202020204" pitchFamily="34" charset="0"/>
                        </a:rPr>
                        <a:t> as AES was being developed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1413677"/>
                  </a:ext>
                </a:extLst>
              </a:tr>
              <a:tr h="401299">
                <a:tc>
                  <a:txBody>
                    <a:bodyPr/>
                    <a:lstStyle/>
                    <a:p>
                      <a:pPr algn="ctr" fontAlgn="ctr"/>
                      <a:r>
                        <a:rPr lang="en-US" sz="2400" b="1" i="0" u="none" strike="noStrike" dirty="0">
                          <a:solidFill>
                            <a:srgbClr val="000000"/>
                          </a:solidFill>
                          <a:effectLst/>
                          <a:latin typeface="Aptos Narrow" panose="020B0004020202020204" pitchFamily="34" charset="0"/>
                        </a:rPr>
                        <a:t>Early </a:t>
                      </a:r>
                      <a:r>
                        <a:rPr lang="en-US" sz="2400" b="1" i="0" u="none" strike="noStrike" dirty="0" err="1">
                          <a:solidFill>
                            <a:srgbClr val="000000"/>
                          </a:solidFill>
                          <a:effectLst/>
                          <a:latin typeface="Aptos Narrow" panose="020B0004020202020204" pitchFamily="34" charset="0"/>
                        </a:rPr>
                        <a:t>2000s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MD5 found weak; industry moved to </a:t>
                      </a:r>
                      <a:r>
                        <a:rPr lang="en-US" sz="2400" b="1" i="0" u="none" strike="noStrike" dirty="0">
                          <a:solidFill>
                            <a:srgbClr val="000000"/>
                          </a:solidFill>
                          <a:effectLst/>
                          <a:latin typeface="Aptos Narrow" panose="020B0004020202020204" pitchFamily="34" charset="0"/>
                        </a:rPr>
                        <a:t>SHA1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546579"/>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AES</a:t>
                      </a:r>
                      <a:r>
                        <a:rPr lang="en-US" sz="2400" b="0" i="0" u="none" strike="noStrike" dirty="0">
                          <a:solidFill>
                            <a:srgbClr val="000000"/>
                          </a:solidFill>
                          <a:effectLst/>
                          <a:latin typeface="Aptos Narrow" panose="020B0004020202020204" pitchFamily="34" charset="0"/>
                        </a:rPr>
                        <a:t> published, but 3DES still widely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0236326"/>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NIST published </a:t>
                      </a:r>
                      <a:r>
                        <a:rPr lang="en-US" sz="2400" b="1" i="0" u="none" strike="noStrike" dirty="0">
                          <a:solidFill>
                            <a:srgbClr val="000000"/>
                          </a:solidFill>
                          <a:effectLst/>
                          <a:latin typeface="Aptos Narrow" panose="020B0004020202020204" pitchFamily="34" charset="0"/>
                        </a:rPr>
                        <a:t>SHA2</a:t>
                      </a:r>
                      <a:r>
                        <a:rPr lang="en-US" sz="2400" b="0" i="0" u="none" strike="noStrike" dirty="0">
                          <a:solidFill>
                            <a:srgbClr val="000000"/>
                          </a:solidFill>
                          <a:effectLst/>
                          <a:latin typeface="Aptos Narrow" panose="020B0004020202020204" pitchFamily="34" charset="0"/>
                        </a:rPr>
                        <a:t> suite due to SHA1 concerns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878161"/>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RSA 1024 → 2048-bit </a:t>
                      </a:r>
                      <a:r>
                        <a:rPr lang="en-US" sz="2400" b="0" i="0" u="none" strike="noStrike" dirty="0">
                          <a:solidFill>
                            <a:srgbClr val="000000"/>
                          </a:solidFill>
                          <a:effectLst/>
                          <a:latin typeface="Aptos Narrow" panose="020B0004020202020204" pitchFamily="34" charset="0"/>
                        </a:rPr>
                        <a:t>transition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0626603"/>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Google announced SHA1 collision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9987102"/>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RSA-250 (829-bit) </a:t>
                      </a:r>
                      <a:r>
                        <a:rPr lang="en-US" sz="2400" b="0" i="0" u="none" strike="noStrike" dirty="0">
                          <a:solidFill>
                            <a:srgbClr val="000000"/>
                          </a:solidFill>
                          <a:effectLst/>
                          <a:latin typeface="Aptos Narrow" panose="020B0004020202020204" pitchFamily="34" charset="0"/>
                        </a:rPr>
                        <a:t>was </a:t>
                      </a:r>
                      <a:r>
                        <a:rPr lang="en-US" sz="2400" b="1" i="0" u="none" strike="noStrike" dirty="0">
                          <a:solidFill>
                            <a:srgbClr val="000000"/>
                          </a:solidFill>
                          <a:effectLst/>
                          <a:latin typeface="Aptos Narrow" panose="020B0004020202020204" pitchFamily="34" charset="0"/>
                        </a:rPr>
                        <a:t>factored</a:t>
                      </a:r>
                      <a:r>
                        <a:rPr lang="en-US" sz="2400" b="0" i="0" u="none" strike="noStrike" dirty="0">
                          <a:solidFill>
                            <a:srgbClr val="000000"/>
                          </a:solidFill>
                          <a:effectLst/>
                          <a:latin typeface="Aptos Narrow" panose="020B0004020202020204" pitchFamily="34" charset="0"/>
                        </a:rPr>
                        <a:t>; urged shift to 2048-bit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156944"/>
                  </a:ext>
                </a:extLst>
              </a:tr>
              <a:tr h="802598">
                <a:tc>
                  <a:txBody>
                    <a:bodyPr/>
                    <a:lstStyle/>
                    <a:p>
                      <a:pPr algn="ctr" fontAlgn="ctr"/>
                      <a:r>
                        <a:rPr lang="en-EG" sz="2400" b="1" i="0" u="none" strike="noStrike" dirty="0">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NIST </a:t>
                      </a:r>
                      <a:r>
                        <a:rPr lang="en-US" sz="2400" b="1" i="0" u="none" strike="noStrike" dirty="0">
                          <a:solidFill>
                            <a:srgbClr val="000000"/>
                          </a:solidFill>
                          <a:effectLst/>
                          <a:latin typeface="Aptos Narrow" panose="020B0004020202020204" pitchFamily="34" charset="0"/>
                        </a:rPr>
                        <a:t>Round 3 post-quantum </a:t>
                      </a:r>
                      <a:r>
                        <a:rPr lang="en-US" sz="2400" b="0" i="0" u="none" strike="noStrike" dirty="0">
                          <a:solidFill>
                            <a:srgbClr val="000000"/>
                          </a:solidFill>
                          <a:effectLst/>
                          <a:latin typeface="Aptos Narrow" panose="020B0004020202020204" pitchFamily="34" charset="0"/>
                        </a:rPr>
                        <a:t>algorithm selections announced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0896315"/>
                  </a:ext>
                </a:extLst>
              </a:tr>
              <a:tr h="802598">
                <a:tc>
                  <a:txBody>
                    <a:bodyPr/>
                    <a:lstStyle/>
                    <a:p>
                      <a:pPr algn="ctr" fontAlgn="ctr"/>
                      <a:r>
                        <a:rPr lang="en-EG" sz="2400" b="1" i="0" u="none" strike="noStrike" dirty="0">
                          <a:solidFill>
                            <a:srgbClr val="000000"/>
                          </a:solidFill>
                          <a:effectLst/>
                          <a:latin typeface="Aptos Narrow" panose="020B0004020202020204" pitchFamily="34" charset="0"/>
                        </a:rPr>
                        <a:t>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NIST published first tranche of quantum-resistant standards and algorithms </a:t>
                      </a:r>
                    </a:p>
                    <a:p>
                      <a:pPr lvl="1" algn="l" fontAlgn="ctr"/>
                      <a:r>
                        <a:rPr lang="en-US" sz="2400" b="0" i="0" u="none" strike="noStrike" dirty="0">
                          <a:solidFill>
                            <a:srgbClr val="000000"/>
                          </a:solidFill>
                          <a:effectLst/>
                          <a:latin typeface="Aptos Narrow" panose="020B0004020202020204" pitchFamily="34" charset="0"/>
                        </a:rPr>
                        <a:t>(</a:t>
                      </a:r>
                      <a:r>
                        <a:rPr lang="en-US" sz="2400" b="1" i="0" u="none" strike="noStrike" dirty="0">
                          <a:solidFill>
                            <a:srgbClr val="000000"/>
                          </a:solidFill>
                          <a:effectLst/>
                          <a:latin typeface="Aptos Narrow" panose="020B0004020202020204" pitchFamily="34" charset="0"/>
                        </a:rPr>
                        <a:t>FIPS-203, FIPS-204, FIPS 205</a:t>
                      </a:r>
                      <a:r>
                        <a:rPr lang="en-US" sz="2400" b="0" i="0" u="none" strike="noStrike" dirty="0">
                          <a:solidFill>
                            <a:srgbClr val="000000"/>
                          </a:solidFill>
                          <a:effectLst/>
                          <a:latin typeface="Aptos Narrow" panose="020B000402020202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2915802"/>
                  </a:ext>
                </a:extLst>
              </a:tr>
              <a:tr h="802598">
                <a:tc>
                  <a:txBody>
                    <a:bodyPr/>
                    <a:lstStyle/>
                    <a:p>
                      <a:pPr algn="ctr" fontAlgn="ctr"/>
                      <a:r>
                        <a:rPr lang="en-US" sz="2400" b="1" i="0" u="none" strike="noStrike" dirty="0">
                          <a:solidFill>
                            <a:srgbClr val="000000"/>
                          </a:solidFill>
                          <a:effectLst/>
                          <a:latin typeface="Aptos Narrow" panose="020B0004020202020204" pitchFamily="34" charset="0"/>
                        </a:rPr>
                        <a:t>Q-Day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Shor’s Algorithm (1994) expected to break RSA, DH, ECC</a:t>
                      </a:r>
                    </a:p>
                    <a:p>
                      <a:pPr lvl="1" algn="l" fontAlgn="ctr"/>
                      <a:r>
                        <a:rPr lang="en-US" sz="2400" b="0" i="0" u="none" strike="noStrike" dirty="0">
                          <a:solidFill>
                            <a:srgbClr val="000000"/>
                          </a:solidFill>
                          <a:effectLst/>
                          <a:latin typeface="Aptos Narrow" panose="020B0004020202020204" pitchFamily="34" charset="0"/>
                        </a:rPr>
                        <a:t>AES as well (October 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830746"/>
                  </a:ext>
                </a:extLst>
              </a:tr>
            </a:tbl>
          </a:graphicData>
        </a:graphic>
      </p:graphicFrame>
    </p:spTree>
    <p:extLst>
      <p:ext uri="{BB962C8B-B14F-4D97-AF65-F5344CB8AC3E}">
        <p14:creationId xmlns:p14="http://schemas.microsoft.com/office/powerpoint/2010/main" val="3017511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D673-BBF5-18DA-9C17-0DF2FBAC550F}"/>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EF5BDDCB-C3DE-12AC-1EAA-1866CD7F8C84}"/>
              </a:ext>
            </a:extLst>
          </p:cNvPr>
          <p:cNvSpPr txBox="1"/>
          <p:nvPr/>
        </p:nvSpPr>
        <p:spPr>
          <a:xfrm>
            <a:off x="456075" y="228600"/>
            <a:ext cx="13718250" cy="865381"/>
          </a:xfrm>
          <a:prstGeom prst="rect">
            <a:avLst/>
          </a:prstGeom>
          <a:noFill/>
          <a:ln>
            <a:noFill/>
          </a:ln>
        </p:spPr>
        <p:txBody>
          <a:bodyPr lIns="0" tIns="0" rIns="0" bIns="0">
            <a:noAutofit/>
          </a:bodyPr>
          <a:lstStyle/>
          <a:p>
            <a:pPr>
              <a:lnSpc>
                <a:spcPct val="90000"/>
              </a:lnSpc>
              <a:defRPr/>
            </a:pPr>
            <a:r>
              <a:rPr lang="en-US" sz="3840" b="1" spc="-2" dirty="0">
                <a:solidFill>
                  <a:schemeClr val="accent2"/>
                </a:solidFill>
                <a:latin typeface="Calibri" panose="020F0502020204030204" pitchFamily="34" charset="0"/>
                <a:ea typeface="IBM Plex Sans"/>
                <a:cs typeface="Calibri" panose="020F0502020204030204" pitchFamily="34" charset="0"/>
              </a:rPr>
              <a:t>Quantum Threat Models</a:t>
            </a:r>
            <a:endParaRPr lang="en-US" sz="3840" spc="-2" dirty="0">
              <a:solidFill>
                <a:schemeClr val="accent2"/>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8E242639-068F-754E-4840-E60A4C7C5A2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8599" y="838200"/>
            <a:ext cx="14114117" cy="6858000"/>
          </a:xfrm>
          <a:prstGeom prst="rect">
            <a:avLst/>
          </a:prstGeom>
        </p:spPr>
      </p:pic>
    </p:spTree>
    <p:extLst>
      <p:ext uri="{BB962C8B-B14F-4D97-AF65-F5344CB8AC3E}">
        <p14:creationId xmlns:p14="http://schemas.microsoft.com/office/powerpoint/2010/main" val="822086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4A2C7-919A-944A-9099-B209B01E910B}"/>
              </a:ext>
            </a:extLst>
          </p:cNvPr>
          <p:cNvSpPr>
            <a:spLocks noGrp="1"/>
          </p:cNvSpPr>
          <p:nvPr>
            <p:ph type="title"/>
          </p:nvPr>
        </p:nvSpPr>
        <p:spPr>
          <a:xfrm>
            <a:off x="381000" y="152401"/>
            <a:ext cx="14020800" cy="533400"/>
          </a:xfrm>
        </p:spPr>
        <p:txBody>
          <a:bodyPr>
            <a:noAutofit/>
          </a:bodyPr>
          <a:lstStyle/>
          <a:p>
            <a:r>
              <a:rPr lang="en-US" sz="3200" b="1" dirty="0"/>
              <a:t>Quantum-Resistant Standards for New Cryptographic Algorithms</a:t>
            </a:r>
            <a:endParaRPr lang="en-US" sz="4000" u="sng" dirty="0"/>
          </a:p>
        </p:txBody>
      </p:sp>
      <p:sp>
        <p:nvSpPr>
          <p:cNvPr id="3" name="TextBox 2">
            <a:extLst>
              <a:ext uri="{FF2B5EF4-FFF2-40B4-BE49-F238E27FC236}">
                <a16:creationId xmlns:a16="http://schemas.microsoft.com/office/drawing/2014/main" id="{35CD6072-C7D9-664C-910F-2B9485D57837}"/>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000" dirty="0" err="1">
              <a:solidFill>
                <a:srgbClr val="FFFFFF"/>
              </a:solidFill>
              <a:latin typeface="Calibri" panose="020F0502020204030204" pitchFamily="34" charset="0"/>
              <a:ea typeface="IBM Plex Sans" charset="0"/>
              <a:cs typeface="Calibri" panose="020F0502020204030204" pitchFamily="34" charset="0"/>
            </a:endParaRPr>
          </a:p>
        </p:txBody>
      </p:sp>
      <p:graphicFrame>
        <p:nvGraphicFramePr>
          <p:cNvPr id="21" name="Table 20">
            <a:extLst>
              <a:ext uri="{FF2B5EF4-FFF2-40B4-BE49-F238E27FC236}">
                <a16:creationId xmlns:a16="http://schemas.microsoft.com/office/drawing/2014/main" id="{5FD01127-B51D-ED28-539E-6428807E6BE1}"/>
              </a:ext>
            </a:extLst>
          </p:cNvPr>
          <p:cNvGraphicFramePr>
            <a:graphicFrameLocks noGrp="1"/>
          </p:cNvGraphicFramePr>
          <p:nvPr>
            <p:extLst>
              <p:ext uri="{D42A27DB-BD31-4B8C-83A1-F6EECF244321}">
                <p14:modId xmlns:p14="http://schemas.microsoft.com/office/powerpoint/2010/main" val="2517811213"/>
              </p:ext>
            </p:extLst>
          </p:nvPr>
        </p:nvGraphicFramePr>
        <p:xfrm>
          <a:off x="457200" y="664316"/>
          <a:ext cx="13487400" cy="7156675"/>
        </p:xfrm>
        <a:graphic>
          <a:graphicData uri="http://schemas.openxmlformats.org/drawingml/2006/table">
            <a:tbl>
              <a:tblPr>
                <a:tableStyleId>{5C22544A-7EE6-4342-B048-85BDC9FD1C3A}</a:tableStyleId>
              </a:tblPr>
              <a:tblGrid>
                <a:gridCol w="1447800">
                  <a:extLst>
                    <a:ext uri="{9D8B030D-6E8A-4147-A177-3AD203B41FA5}">
                      <a16:colId xmlns:a16="http://schemas.microsoft.com/office/drawing/2014/main" val="1549872932"/>
                    </a:ext>
                  </a:extLst>
                </a:gridCol>
                <a:gridCol w="2971800">
                  <a:extLst>
                    <a:ext uri="{9D8B030D-6E8A-4147-A177-3AD203B41FA5}">
                      <a16:colId xmlns:a16="http://schemas.microsoft.com/office/drawing/2014/main" val="3971865718"/>
                    </a:ext>
                  </a:extLst>
                </a:gridCol>
                <a:gridCol w="3733800">
                  <a:extLst>
                    <a:ext uri="{9D8B030D-6E8A-4147-A177-3AD203B41FA5}">
                      <a16:colId xmlns:a16="http://schemas.microsoft.com/office/drawing/2014/main" val="899511941"/>
                    </a:ext>
                  </a:extLst>
                </a:gridCol>
                <a:gridCol w="5334000">
                  <a:extLst>
                    <a:ext uri="{9D8B030D-6E8A-4147-A177-3AD203B41FA5}">
                      <a16:colId xmlns:a16="http://schemas.microsoft.com/office/drawing/2014/main" val="4137139247"/>
                    </a:ext>
                  </a:extLst>
                </a:gridCol>
              </a:tblGrid>
              <a:tr h="300128">
                <a:tc>
                  <a:txBody>
                    <a:bodyPr/>
                    <a:lstStyle/>
                    <a:p>
                      <a:pPr algn="ctr" fontAlgn="ctr"/>
                      <a:r>
                        <a:rPr lang="en-US" sz="1600" b="1" u="none" strike="noStrike">
                          <a:effectLst/>
                          <a:latin typeface="Calibri" panose="020F0502020204030204" pitchFamily="34" charset="0"/>
                          <a:cs typeface="Calibri" panose="020F0502020204030204" pitchFamily="34" charset="0"/>
                        </a:rPr>
                        <a:t>Region / Body</a:t>
                      </a:r>
                      <a:endParaRPr lang="en-US" sz="1600" b="1"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ctr" fontAlgn="ctr"/>
                      <a:r>
                        <a:rPr lang="en-US" sz="1800" b="1" u="none" strike="noStrike">
                          <a:effectLst/>
                          <a:latin typeface="Calibri" panose="020F0502020204030204" pitchFamily="34" charset="0"/>
                          <a:cs typeface="Calibri" panose="020F0502020204030204" pitchFamily="34" charset="0"/>
                        </a:rPr>
                        <a:t>Organization</a:t>
                      </a:r>
                      <a:endParaRPr lang="en-US" sz="1800" b="1"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ctr" fontAlgn="ctr"/>
                      <a:r>
                        <a:rPr lang="en-US" sz="1800" b="1" u="none" strike="noStrike" dirty="0">
                          <a:effectLst/>
                          <a:latin typeface="Calibri" panose="020F0502020204030204" pitchFamily="34" charset="0"/>
                          <a:cs typeface="Calibri" panose="020F0502020204030204" pitchFamily="34" charset="0"/>
                        </a:rPr>
                        <a:t>Key Initiatives &amp; Standards</a:t>
                      </a:r>
                      <a:endParaRPr lang="en-US" sz="18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800" b="1" u="none" strike="noStrike" dirty="0">
                          <a:effectLst/>
                          <a:latin typeface="Calibri" panose="020F0502020204030204" pitchFamily="34" charset="0"/>
                          <a:cs typeface="Calibri" panose="020F0502020204030204" pitchFamily="34" charset="0"/>
                        </a:rPr>
                        <a:t>Notable Algorithms Specifications</a:t>
                      </a:r>
                      <a:endParaRPr lang="en-US" sz="18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3722695625"/>
                  </a:ext>
                </a:extLst>
              </a:tr>
              <a:tr h="948655">
                <a:tc>
                  <a:txBody>
                    <a:bodyPr/>
                    <a:lstStyle/>
                    <a:p>
                      <a:pPr algn="ctr" fontAlgn="ctr"/>
                      <a:r>
                        <a:rPr lang="en-US" sz="1600" b="1" u="none" strike="noStrike" dirty="0">
                          <a:effectLst/>
                          <a:latin typeface="Calibri" panose="020F0502020204030204" pitchFamily="34" charset="0"/>
                          <a:cs typeface="Calibri" panose="020F0502020204030204" pitchFamily="34" charset="0"/>
                        </a:rPr>
                        <a:t>United States</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NIST</a:t>
                      </a:r>
                      <a:r>
                        <a:rPr lang="en-US" sz="1600" u="none" strike="noStrike" dirty="0">
                          <a:effectLst/>
                          <a:latin typeface="Calibri" panose="020F0502020204030204" pitchFamily="34" charset="0"/>
                          <a:cs typeface="Calibri" panose="020F0502020204030204" pitchFamily="34" charset="0"/>
                        </a:rPr>
                        <a:t> (National Institute of Standards and Technology)</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PQC</a:t>
                      </a:r>
                      <a:r>
                        <a:rPr lang="en-US" sz="1600" u="none" strike="noStrike" dirty="0">
                          <a:effectLst/>
                          <a:latin typeface="Calibri" panose="020F0502020204030204" pitchFamily="34" charset="0"/>
                          <a:cs typeface="Calibri" panose="020F0502020204030204" pitchFamily="34" charset="0"/>
                        </a:rPr>
                        <a:t> Standards </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FIPS 203</a:t>
                      </a:r>
                      <a:r>
                        <a:rPr lang="en-US" sz="1600" u="none" strike="noStrike" dirty="0">
                          <a:effectLst/>
                          <a:latin typeface="Calibri" panose="020F0502020204030204" pitchFamily="34" charset="0"/>
                          <a:cs typeface="Calibri" panose="020F0502020204030204" pitchFamily="34" charset="0"/>
                        </a:rPr>
                        <a:t>: ML-KEM (Kyber)</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FIPS 204</a:t>
                      </a:r>
                      <a:r>
                        <a:rPr lang="en-US" sz="1600" u="none" strike="noStrike" dirty="0">
                          <a:effectLst/>
                          <a:latin typeface="Calibri" panose="020F0502020204030204" pitchFamily="34" charset="0"/>
                          <a:cs typeface="Calibri" panose="020F0502020204030204" pitchFamily="34" charset="0"/>
                        </a:rPr>
                        <a:t>: ML-DSA (</a:t>
                      </a:r>
                      <a:r>
                        <a:rPr lang="en-US" sz="1600" u="none" strike="noStrike" dirty="0" err="1">
                          <a:effectLst/>
                          <a:latin typeface="Calibri" panose="020F0502020204030204" pitchFamily="34" charset="0"/>
                          <a:cs typeface="Calibri" panose="020F0502020204030204" pitchFamily="34" charset="0"/>
                        </a:rPr>
                        <a:t>Dilithium</a:t>
                      </a:r>
                      <a:r>
                        <a:rPr lang="en-US" sz="1600" u="none" strike="noStrike" dirty="0">
                          <a:effectLst/>
                          <a:latin typeface="Calibri" panose="020F0502020204030204" pitchFamily="34" charset="0"/>
                          <a:cs typeface="Calibri" panose="020F0502020204030204" pitchFamily="34" charset="0"/>
                        </a:rPr>
                        <a:t>)</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FIPS 205</a:t>
                      </a:r>
                      <a:r>
                        <a:rPr lang="en-US" sz="1600" u="none" strike="noStrike" dirty="0">
                          <a:effectLst/>
                          <a:latin typeface="Calibri" panose="020F0502020204030204" pitchFamily="34" charset="0"/>
                          <a:cs typeface="Calibri" panose="020F0502020204030204" pitchFamily="34" charset="0"/>
                        </a:rPr>
                        <a:t>: SLH-DSA (SPHINCS+)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a:t>
                      </a:r>
                      <a:r>
                        <a:rPr lang="en-US" sz="1600" b="1" u="none" strike="noStrike" dirty="0">
                          <a:effectLst/>
                          <a:latin typeface="Calibri" panose="020F0502020204030204" pitchFamily="34" charset="0"/>
                          <a:cs typeface="Calibri" panose="020F0502020204030204" pitchFamily="34" charset="0"/>
                        </a:rPr>
                        <a:t>ML-KEM (Kyber)</a:t>
                      </a:r>
                      <a:r>
                        <a:rPr lang="en-US" sz="1600" u="none" strike="noStrike" dirty="0">
                          <a:effectLst/>
                          <a:latin typeface="Calibri" panose="020F0502020204030204" pitchFamily="34" charset="0"/>
                          <a:cs typeface="Calibri" panose="020F0502020204030204" pitchFamily="34" charset="0"/>
                        </a:rPr>
                        <a:t>: Key encapsulation</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ML-DSA (</a:t>
                      </a:r>
                      <a:r>
                        <a:rPr lang="en-US" sz="1600" b="1" u="none" strike="noStrike" dirty="0" err="1">
                          <a:effectLst/>
                          <a:latin typeface="Calibri" panose="020F0502020204030204" pitchFamily="34" charset="0"/>
                          <a:cs typeface="Calibri" panose="020F0502020204030204" pitchFamily="34" charset="0"/>
                        </a:rPr>
                        <a:t>Dilithium</a:t>
                      </a:r>
                      <a:r>
                        <a:rPr lang="en-US" sz="1600" b="1" u="none" strike="noStrike" dirty="0">
                          <a:effectLst/>
                          <a:latin typeface="Calibri" panose="020F0502020204030204" pitchFamily="34" charset="0"/>
                          <a:cs typeface="Calibri" panose="020F0502020204030204" pitchFamily="34" charset="0"/>
                        </a:rPr>
                        <a:t>)</a:t>
                      </a:r>
                      <a:r>
                        <a:rPr lang="en-US" sz="1600" u="none" strike="noStrike" dirty="0">
                          <a:effectLst/>
                          <a:latin typeface="Calibri" panose="020F0502020204030204" pitchFamily="34" charset="0"/>
                          <a:cs typeface="Calibri" panose="020F0502020204030204" pitchFamily="34" charset="0"/>
                        </a:rPr>
                        <a:t>: Digital signatures</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SLH-DSA (SPHINCS+)</a:t>
                      </a:r>
                      <a:r>
                        <a:rPr lang="en-US" sz="1600" u="none" strike="noStrike" dirty="0">
                          <a:effectLst/>
                          <a:latin typeface="Calibri" panose="020F0502020204030204" pitchFamily="34" charset="0"/>
                          <a:cs typeface="Calibri" panose="020F0502020204030204" pitchFamily="34" charset="0"/>
                        </a:rPr>
                        <a:t>: Stateless hash-based signatures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3376957520"/>
                  </a:ext>
                </a:extLst>
              </a:tr>
              <a:tr h="948655">
                <a:tc rowSpan="2">
                  <a:txBody>
                    <a:bodyPr/>
                    <a:lstStyle/>
                    <a:p>
                      <a:pPr algn="ctr" fontAlgn="ctr"/>
                      <a:r>
                        <a:rPr lang="en-US" sz="1600" b="1" u="none" strike="noStrike">
                          <a:effectLst/>
                          <a:latin typeface="Calibri" panose="020F0502020204030204" pitchFamily="34" charset="0"/>
                          <a:cs typeface="Calibri" panose="020F0502020204030204" pitchFamily="34" charset="0"/>
                        </a:rPr>
                        <a:t>European Union</a:t>
                      </a:r>
                      <a:endParaRPr lang="en-US" sz="1600" b="1"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ETSI</a:t>
                      </a:r>
                      <a:r>
                        <a:rPr lang="en-US" sz="1600" u="none" strike="noStrike" dirty="0">
                          <a:effectLst/>
                          <a:latin typeface="Calibri" panose="020F0502020204030204" pitchFamily="34" charset="0"/>
                          <a:cs typeface="Calibri" panose="020F0502020204030204" pitchFamily="34" charset="0"/>
                        </a:rPr>
                        <a:t> (European Telecommunications Standards Institute)</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Quantum-Safe Cryptography (</a:t>
                      </a:r>
                      <a:r>
                        <a:rPr lang="en-US" sz="1600" b="1" u="none" strike="noStrike" dirty="0">
                          <a:effectLst/>
                          <a:latin typeface="Calibri" panose="020F0502020204030204" pitchFamily="34" charset="0"/>
                          <a:cs typeface="Calibri" panose="020F0502020204030204" pitchFamily="34" charset="0"/>
                        </a:rPr>
                        <a:t>QSC</a:t>
                      </a:r>
                      <a:r>
                        <a:rPr lang="en-US" sz="1600" u="none" strike="noStrike" dirty="0">
                          <a:effectLst/>
                          <a:latin typeface="Calibri" panose="020F0502020204030204" pitchFamily="34" charset="0"/>
                          <a:cs typeface="Calibri" panose="020F0502020204030204" pitchFamily="34" charset="0"/>
                        </a:rPr>
                        <a:t>) </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ETSI TS 104 015</a:t>
                      </a:r>
                      <a:r>
                        <a:rPr lang="en-US" sz="1600" u="none" strike="noStrike" dirty="0">
                          <a:effectLst/>
                          <a:latin typeface="Calibri" panose="020F0502020204030204" pitchFamily="34" charset="0"/>
                          <a:cs typeface="Calibri" panose="020F0502020204030204" pitchFamily="34" charset="0"/>
                        </a:rPr>
                        <a:t>: Efficient Quantum-Safe Hybrid Key Exchanges with Hidden Access Policies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err="1">
                          <a:effectLst/>
                          <a:latin typeface="Calibri" panose="020F0502020204030204" pitchFamily="34" charset="0"/>
                          <a:cs typeface="Calibri" panose="020F0502020204030204" pitchFamily="34" charset="0"/>
                        </a:rPr>
                        <a:t>Covercrypt</a:t>
                      </a:r>
                      <a:r>
                        <a:rPr lang="en-US" sz="1600" u="none" strike="noStrike" dirty="0">
                          <a:effectLst/>
                          <a:latin typeface="Calibri" panose="020F0502020204030204" pitchFamily="34" charset="0"/>
                          <a:cs typeface="Calibri" panose="020F0502020204030204" pitchFamily="34" charset="0"/>
                        </a:rPr>
                        <a:t>: Hybrid key encapsulation mechanism with access control</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2355632758"/>
                  </a:ext>
                </a:extLst>
              </a:tr>
              <a:tr h="699223">
                <a:tc vMerge="1">
                  <a:txBody>
                    <a:bodyPr/>
                    <a:lstStyle/>
                    <a:p>
                      <a:endParaRPr lang="en-EG"/>
                    </a:p>
                  </a:txBody>
                  <a:tcPr/>
                </a:tc>
                <a:tc>
                  <a:txBody>
                    <a:bodyPr/>
                    <a:lstStyle/>
                    <a:p>
                      <a:pPr algn="l" fontAlgn="ctr"/>
                      <a:r>
                        <a:rPr lang="en-US" sz="1600" b="1" u="none" strike="noStrike" dirty="0">
                          <a:effectLst/>
                          <a:latin typeface="Calibri" panose="020F0502020204030204" pitchFamily="34" charset="0"/>
                          <a:cs typeface="Calibri" panose="020F0502020204030204" pitchFamily="34" charset="0"/>
                        </a:rPr>
                        <a:t>ENISA</a:t>
                      </a:r>
                      <a:r>
                        <a:rPr lang="en-US" sz="1600" u="none" strike="noStrike" dirty="0">
                          <a:effectLst/>
                          <a:latin typeface="Calibri" panose="020F0502020204030204" pitchFamily="34" charset="0"/>
                          <a:cs typeface="Calibri" panose="020F0502020204030204" pitchFamily="34" charset="0"/>
                        </a:rPr>
                        <a:t> (European Union Agency for Cybersecurity)</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0" u="none" strike="noStrike" dirty="0">
                          <a:effectLst/>
                          <a:latin typeface="Calibri" panose="020F0502020204030204" pitchFamily="34" charset="0"/>
                          <a:cs typeface="Calibri" panose="020F0502020204030204" pitchFamily="34" charset="0"/>
                        </a:rPr>
                        <a:t>PQC</a:t>
                      </a:r>
                      <a:r>
                        <a:rPr lang="en-US" sz="1600" u="none" strike="noStrike" dirty="0">
                          <a:effectLst/>
                          <a:latin typeface="Calibri" panose="020F0502020204030204" pitchFamily="34" charset="0"/>
                          <a:cs typeface="Calibri" panose="020F0502020204030204" pitchFamily="34" charset="0"/>
                        </a:rPr>
                        <a:t> standardization and integration</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Frameworks for PQC adoption and migration strategies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1727606736"/>
                  </a:ext>
                </a:extLst>
              </a:tr>
              <a:tr h="713502">
                <a:tc rowSpan="2">
                  <a:txBody>
                    <a:bodyPr/>
                    <a:lstStyle/>
                    <a:p>
                      <a:pPr algn="ctr" fontAlgn="ctr"/>
                      <a:r>
                        <a:rPr lang="en-US" sz="1600" b="1" u="none" strike="noStrike" dirty="0">
                          <a:effectLst/>
                          <a:latin typeface="Calibri" panose="020F0502020204030204" pitchFamily="34" charset="0"/>
                          <a:cs typeface="Calibri" panose="020F0502020204030204" pitchFamily="34" charset="0"/>
                        </a:rPr>
                        <a:t>China</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National Cryptography Administration (</a:t>
                      </a:r>
                      <a:r>
                        <a:rPr lang="en-US" sz="1600" b="1" u="none" strike="noStrike" dirty="0">
                          <a:effectLst/>
                          <a:latin typeface="Calibri" panose="020F0502020204030204" pitchFamily="34" charset="0"/>
                          <a:cs typeface="Calibri" panose="020F0502020204030204" pitchFamily="34" charset="0"/>
                        </a:rPr>
                        <a:t>NCA</a:t>
                      </a:r>
                      <a:r>
                        <a:rPr lang="en-US" sz="1600" u="none" strike="noStrike" dirty="0">
                          <a:effectLst/>
                          <a:latin typeface="Calibri" panose="020F0502020204030204" pitchFamily="34" charset="0"/>
                          <a:cs typeface="Calibri" panose="020F0502020204030204" pitchFamily="34" charset="0"/>
                        </a:rPr>
                        <a:t>)</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a:effectLst/>
                          <a:latin typeface="Calibri" panose="020F0502020204030204" pitchFamily="34" charset="0"/>
                          <a:cs typeface="Calibri" panose="020F0502020204030204" pitchFamily="34" charset="0"/>
                        </a:rPr>
                        <a:t>National PQC standardization </a:t>
                      </a:r>
                      <a:br>
                        <a:rPr lang="en-US" sz="1600" u="none" strike="noStrike">
                          <a:effectLst/>
                          <a:latin typeface="Calibri" panose="020F0502020204030204" pitchFamily="34" charset="0"/>
                          <a:cs typeface="Calibri" panose="020F0502020204030204" pitchFamily="34" charset="0"/>
                        </a:rPr>
                      </a:br>
                      <a:r>
                        <a:rPr lang="en-US" sz="1600" u="none" strike="noStrike">
                          <a:effectLst/>
                          <a:latin typeface="Calibri" panose="020F0502020204030204" pitchFamily="34" charset="0"/>
                          <a:cs typeface="Calibri" panose="020F0502020204030204" pitchFamily="34" charset="0"/>
                        </a:rPr>
                        <a:t>- Development of  quantum-resistant algorithms</a:t>
                      </a:r>
                      <a:endParaRPr lang="en-US" sz="1600" b="0"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Proprietary</a:t>
                      </a:r>
                      <a:r>
                        <a:rPr lang="en-US" sz="1600" u="none" strike="noStrike" dirty="0">
                          <a:effectLst/>
                          <a:latin typeface="Calibri" panose="020F0502020204030204" pitchFamily="34" charset="0"/>
                          <a:cs typeface="Calibri" panose="020F0502020204030204" pitchFamily="34" charset="0"/>
                        </a:rPr>
                        <a:t> algorithms under evaluation </a:t>
                      </a:r>
                    </a:p>
                    <a:p>
                      <a:pPr algn="l" fontAlgn="ctr"/>
                      <a:r>
                        <a:rPr lang="en-US" sz="1600" b="1" u="none" strike="noStrike" dirty="0">
                          <a:effectLst/>
                          <a:latin typeface="Calibri" panose="020F0502020204030204" pitchFamily="34" charset="0"/>
                          <a:cs typeface="Calibri" panose="020F0502020204030204" pitchFamily="34" charset="0"/>
                        </a:rPr>
                        <a:t>(not publicly disclosed)</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870568737"/>
                  </a:ext>
                </a:extLst>
              </a:tr>
              <a:tr h="515644">
                <a:tc vMerge="1">
                  <a:txBody>
                    <a:bodyPr/>
                    <a:lstStyle/>
                    <a:p>
                      <a:endParaRPr lang="en-EG"/>
                    </a:p>
                  </a:txBody>
                  <a:tcPr/>
                </a:tc>
                <a:tc>
                  <a:txBody>
                    <a:bodyPr/>
                    <a:lstStyle/>
                    <a:p>
                      <a:pPr algn="l" fontAlgn="ctr"/>
                      <a:r>
                        <a:rPr lang="en-US" sz="1600" u="none" strike="noStrike" dirty="0">
                          <a:effectLst/>
                          <a:latin typeface="Calibri" panose="020F0502020204030204" pitchFamily="34" charset="0"/>
                          <a:cs typeface="Calibri" panose="020F0502020204030204" pitchFamily="34" charset="0"/>
                        </a:rPr>
                        <a:t>Institute of Commercial Cryptography Standards (</a:t>
                      </a:r>
                      <a:r>
                        <a:rPr lang="en-US" sz="1600" b="1" u="none" strike="noStrike" dirty="0">
                          <a:effectLst/>
                          <a:latin typeface="Calibri" panose="020F0502020204030204" pitchFamily="34" charset="0"/>
                          <a:cs typeface="Calibri" panose="020F0502020204030204" pitchFamily="34" charset="0"/>
                        </a:rPr>
                        <a:t>ICCS</a:t>
                      </a:r>
                      <a:r>
                        <a:rPr lang="en-US" sz="1600" u="none" strike="noStrike" dirty="0">
                          <a:effectLst/>
                          <a:latin typeface="Calibri" panose="020F0502020204030204" pitchFamily="34" charset="0"/>
                          <a:cs typeface="Calibri" panose="020F0502020204030204" pitchFamily="34" charset="0"/>
                        </a:rPr>
                        <a:t>)</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a:effectLst/>
                          <a:latin typeface="Calibri" panose="020F0502020204030204" pitchFamily="34" charset="0"/>
                          <a:cs typeface="Calibri" panose="020F0502020204030204" pitchFamily="34" charset="0"/>
                        </a:rPr>
                        <a:t>PQC Evaluation based on security, performance, and feasibility</a:t>
                      </a:r>
                      <a:endParaRPr lang="en-US" sz="1600" b="0"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Ongoing selection process for suitable algorithms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470857180"/>
                  </a:ext>
                </a:extLst>
              </a:tr>
              <a:tr h="2829878">
                <a:tc>
                  <a:txBody>
                    <a:bodyPr/>
                    <a:lstStyle/>
                    <a:p>
                      <a:pPr algn="ctr" fontAlgn="ctr"/>
                      <a:r>
                        <a:rPr lang="en-US" sz="1600" b="1" i="0" u="none" strike="noStrike" dirty="0">
                          <a:solidFill>
                            <a:srgbClr val="000000"/>
                          </a:solidFill>
                          <a:effectLst/>
                          <a:latin typeface="Calibri" panose="020F0502020204030204" pitchFamily="34" charset="0"/>
                          <a:cs typeface="Calibri" panose="020F0502020204030204" pitchFamily="34" charset="0"/>
                        </a:rPr>
                        <a:t>Middle East</a:t>
                      </a:r>
                    </a:p>
                  </a:txBody>
                  <a:tcPr marL="8340" marR="8340" marT="8340" marB="0" anchor="ctr"/>
                </a:tc>
                <a:tc>
                  <a:txBody>
                    <a:bodyPr/>
                    <a:lstStyle/>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KSA: NCA (National Cybersecurity Authority) - NCS-2:2025</a:t>
                      </a: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dirty="0">
                          <a:latin typeface="Calibri" panose="020F0502020204030204" pitchFamily="34" charset="0"/>
                          <a:cs typeface="Calibri" panose="020F0502020204030204" pitchFamily="34" charset="0"/>
                        </a:rPr>
                        <a:t>- UAE:</a:t>
                      </a:r>
                      <a:r>
                        <a:rPr lang="en-US" sz="1600"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UAECSC</a:t>
                      </a:r>
                      <a:r>
                        <a:rPr lang="en-US" sz="1600" dirty="0">
                          <a:latin typeface="Calibri" panose="020F0502020204030204" pitchFamily="34" charset="0"/>
                          <a:cs typeface="Calibri" panose="020F0502020204030204" pitchFamily="34" charset="0"/>
                        </a:rPr>
                        <a:t> (Cyber Security Council) </a:t>
                      </a:r>
                      <a:r>
                        <a:rPr lang="en-US" sz="1600" b="1" dirty="0">
                          <a:latin typeface="Calibri" panose="020F0502020204030204" pitchFamily="34" charset="0"/>
                          <a:cs typeface="Calibri" panose="020F0502020204030204" pitchFamily="34" charset="0"/>
                        </a:rPr>
                        <a:t>National Encryption Policy</a:t>
                      </a: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dirty="0">
                          <a:latin typeface="Calibri" panose="020F0502020204030204" pitchFamily="34" charset="0"/>
                          <a:cs typeface="Calibri" panose="020F0502020204030204" pitchFamily="34" charset="0"/>
                        </a:rPr>
                        <a:t>- Qatar: NCSA</a:t>
                      </a:r>
                      <a:r>
                        <a:rPr lang="en-US" sz="1600" dirty="0">
                          <a:latin typeface="Calibri" panose="020F0502020204030204" pitchFamily="34" charset="0"/>
                          <a:cs typeface="Calibri" panose="020F0502020204030204" pitchFamily="34" charset="0"/>
                        </a:rPr>
                        <a:t> (National Cybersecurity Agency) - </a:t>
                      </a:r>
                      <a:r>
                        <a:rPr lang="en-US" sz="1600" b="1" dirty="0">
                          <a:latin typeface="Calibri" panose="020F0502020204030204" pitchFamily="34" charset="0"/>
                          <a:cs typeface="Calibri" panose="020F0502020204030204" pitchFamily="34" charset="0"/>
                        </a:rPr>
                        <a:t>Strategy 2024–2030</a:t>
                      </a: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KSA</a:t>
                      </a:r>
                      <a:r>
                        <a:rPr lang="en-US" sz="1600" b="0" i="0" u="none" strike="noStrike" dirty="0">
                          <a:solidFill>
                            <a:srgbClr val="000000"/>
                          </a:solidFill>
                          <a:effectLst/>
                          <a:latin typeface="Calibri" panose="020F0502020204030204" pitchFamily="34" charset="0"/>
                          <a:cs typeface="Calibri" panose="020F0502020204030204" pitchFamily="34" charset="0"/>
                        </a:rPr>
                        <a:t>: </a:t>
                      </a:r>
                      <a:r>
                        <a:rPr lang="en-US" sz="1600" b="1" i="0" u="none" strike="noStrike" dirty="0">
                          <a:solidFill>
                            <a:srgbClr val="000000"/>
                          </a:solidFill>
                          <a:effectLst/>
                          <a:latin typeface="Calibri" panose="020F0502020204030204" pitchFamily="34" charset="0"/>
                          <a:cs typeface="Calibri" panose="020F0502020204030204" pitchFamily="34" charset="0"/>
                        </a:rPr>
                        <a:t>Dec 2025 – </a:t>
                      </a:r>
                      <a:r>
                        <a:rPr lang="en-US" sz="1600" b="1" i="0" u="none" strike="noStrike" dirty="0" err="1">
                          <a:solidFill>
                            <a:srgbClr val="000000"/>
                          </a:solidFill>
                          <a:effectLst/>
                          <a:latin typeface="Calibri" panose="020F0502020204030204" pitchFamily="34" charset="0"/>
                          <a:cs typeface="Calibri" panose="020F0502020204030204" pitchFamily="34" charset="0"/>
                        </a:rPr>
                        <a:t>Q2</a:t>
                      </a:r>
                      <a:r>
                        <a:rPr lang="en-US" sz="1600" b="1" i="0" u="none" strike="noStrike" dirty="0">
                          <a:solidFill>
                            <a:srgbClr val="000000"/>
                          </a:solidFill>
                          <a:effectLst/>
                          <a:latin typeface="Calibri" panose="020F0502020204030204" pitchFamily="34" charset="0"/>
                          <a:cs typeface="Calibri" panose="020F0502020204030204" pitchFamily="34" charset="0"/>
                        </a:rPr>
                        <a:t> 2026</a:t>
                      </a:r>
                      <a:r>
                        <a:rPr lang="en-US" sz="1600" b="0" i="0" u="none" strike="noStrike" dirty="0">
                          <a:solidFill>
                            <a:srgbClr val="000000"/>
                          </a:solidFill>
                          <a:effectLst/>
                          <a:latin typeface="Calibri" panose="020F0502020204030204" pitchFamily="34" charset="0"/>
                          <a:cs typeface="Calibri" panose="020F0502020204030204" pitchFamily="34" charset="0"/>
                        </a:rPr>
                        <a:t>: Mandatory submission of PQC Risk Assessments and "Advanced" level crypto-inventories for CNI</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UAE</a:t>
                      </a:r>
                      <a:r>
                        <a:rPr lang="en-US" sz="1600" b="0" i="0" u="none" strike="noStrike" dirty="0">
                          <a:solidFill>
                            <a:srgbClr val="000000"/>
                          </a:solidFill>
                          <a:effectLst/>
                          <a:latin typeface="Calibri" panose="020F0502020204030204" pitchFamily="34" charset="0"/>
                          <a:cs typeface="Calibri" panose="020F0502020204030204" pitchFamily="34" charset="0"/>
                        </a:rPr>
                        <a:t>: </a:t>
                      </a:r>
                      <a:r>
                        <a:rPr lang="en-US" sz="1600" b="1" i="0" u="none" strike="noStrike" dirty="0">
                          <a:solidFill>
                            <a:srgbClr val="000000"/>
                          </a:solidFill>
                          <a:effectLst/>
                          <a:latin typeface="Calibri" panose="020F0502020204030204" pitchFamily="34" charset="0"/>
                          <a:cs typeface="Calibri" panose="020F0502020204030204" pitchFamily="34" charset="0"/>
                        </a:rPr>
                        <a:t>May – July 2026</a:t>
                      </a:r>
                      <a:r>
                        <a:rPr lang="en-US" sz="1600" b="0" i="0" u="none" strike="noStrike" dirty="0">
                          <a:solidFill>
                            <a:srgbClr val="000000"/>
                          </a:solidFill>
                          <a:effectLst/>
                          <a:latin typeface="Calibri" panose="020F0502020204030204" pitchFamily="34" charset="0"/>
                          <a:cs typeface="Calibri" panose="020F0502020204030204" pitchFamily="34" charset="0"/>
                        </a:rPr>
                        <a:t>: Entities must submit PQC Migration Plans within 180 days of regulatory "Phase 0" notification.</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Qatar</a:t>
                      </a:r>
                      <a:r>
                        <a:rPr lang="en-US" sz="1600" b="0" i="0" u="none" strike="noStrike" dirty="0">
                          <a:solidFill>
                            <a:srgbClr val="000000"/>
                          </a:solidFill>
                          <a:effectLst/>
                          <a:latin typeface="Calibri" panose="020F0502020204030204" pitchFamily="34" charset="0"/>
                          <a:cs typeface="Calibri" panose="020F0502020204030204" pitchFamily="34" charset="0"/>
                        </a:rPr>
                        <a:t>: </a:t>
                      </a:r>
                      <a:r>
                        <a:rPr lang="en-US" sz="1600" b="1" i="0" u="none" strike="noStrike" dirty="0">
                          <a:solidFill>
                            <a:srgbClr val="000000"/>
                          </a:solidFill>
                          <a:effectLst/>
                          <a:latin typeface="Calibri" panose="020F0502020204030204" pitchFamily="34" charset="0"/>
                          <a:cs typeface="Calibri" panose="020F0502020204030204" pitchFamily="34" charset="0"/>
                        </a:rPr>
                        <a:t>end of 2026</a:t>
                      </a:r>
                      <a:r>
                        <a:rPr lang="en-US" sz="1600" b="0" i="0" u="none" strike="noStrike" dirty="0">
                          <a:solidFill>
                            <a:srgbClr val="000000"/>
                          </a:solidFill>
                          <a:effectLst/>
                          <a:latin typeface="Calibri" panose="020F0502020204030204" pitchFamily="34" charset="0"/>
                          <a:cs typeface="Calibri" panose="020F0502020204030204" pitchFamily="34" charset="0"/>
                        </a:rPr>
                        <a:t>: Modernization of financial sector PKI to support hybrid PQC/classical algorithms.</a:t>
                      </a:r>
                    </a:p>
                  </a:txBody>
                  <a:tcPr marL="8340" marR="8340" marT="8340" marB="0" anchor="ctr"/>
                </a:tc>
                <a:tc>
                  <a:txBody>
                    <a:bodyPr/>
                    <a:lstStyle/>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NIST Baseline: ML-KEM (Kyber), ML-DSA (</a:t>
                      </a:r>
                      <a:r>
                        <a:rPr lang="en-US" sz="1600" b="0" i="0" u="none" strike="noStrike" dirty="0" err="1">
                          <a:solidFill>
                            <a:srgbClr val="000000"/>
                          </a:solidFill>
                          <a:effectLst/>
                          <a:latin typeface="Calibri" panose="020F0502020204030204" pitchFamily="34" charset="0"/>
                          <a:cs typeface="Calibri" panose="020F0502020204030204" pitchFamily="34" charset="0"/>
                        </a:rPr>
                        <a:t>Dilithium</a:t>
                      </a:r>
                      <a:r>
                        <a:rPr lang="en-US" sz="1600" b="0" i="0" u="none" strike="noStrike" dirty="0">
                          <a:solidFill>
                            <a:srgbClr val="000000"/>
                          </a:solidFill>
                          <a:effectLst/>
                          <a:latin typeface="Calibri" panose="020F0502020204030204" pitchFamily="34" charset="0"/>
                          <a:cs typeface="Calibri" panose="020F0502020204030204" pitchFamily="34" charset="0"/>
                        </a:rPr>
                        <a:t>).</a:t>
                      </a: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NCS-2 Requirement: "Advanced" level systems must support Crypto-Agility and hybrid key exchange (e.g., </a:t>
                      </a:r>
                      <a:r>
                        <a:rPr lang="en-US" sz="1600" b="0" i="0" u="none" strike="noStrike" dirty="0" err="1">
                          <a:solidFill>
                            <a:srgbClr val="000000"/>
                          </a:solidFill>
                          <a:effectLst/>
                          <a:latin typeface="Calibri" panose="020F0502020204030204" pitchFamily="34" charset="0"/>
                          <a:cs typeface="Calibri" panose="020F0502020204030204" pitchFamily="34" charset="0"/>
                        </a:rPr>
                        <a:t>X25519</a:t>
                      </a:r>
                      <a:r>
                        <a:rPr lang="en-US" sz="1600" b="0" i="0" u="none" strike="noStrike" dirty="0">
                          <a:solidFill>
                            <a:srgbClr val="000000"/>
                          </a:solidFill>
                          <a:effectLst/>
                          <a:latin typeface="Calibri" panose="020F0502020204030204" pitchFamily="34" charset="0"/>
                          <a:cs typeface="Calibri" panose="020F0502020204030204" pitchFamily="34" charset="0"/>
                        </a:rPr>
                        <a:t> + ML-KEM).</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Sovereign PQC: TII-optimized versions of ML-KEM/ML-DSA.</a:t>
                      </a: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Spec: Mandatory use of UAE-accredited libraries for "Priority Entities" to ensure digital sovereignty.</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Hybrid Resilience: Emphasis on dual-signature schemes and QKD (Quantum Key Distribution) for critical fiber backbones in the financial sector.</a:t>
                      </a:r>
                    </a:p>
                  </a:txBody>
                  <a:tcPr marL="8340" marR="8340" marT="8340" marB="0" anchor="ctr"/>
                </a:tc>
                <a:extLst>
                  <a:ext uri="{0D108BD9-81ED-4DB2-BD59-A6C34878D82A}">
                    <a16:rowId xmlns:a16="http://schemas.microsoft.com/office/drawing/2014/main" val="4274379056"/>
                  </a:ext>
                </a:extLst>
              </a:tr>
            </a:tbl>
          </a:graphicData>
        </a:graphic>
      </p:graphicFrame>
    </p:spTree>
    <p:extLst>
      <p:ext uri="{BB962C8B-B14F-4D97-AF65-F5344CB8AC3E}">
        <p14:creationId xmlns:p14="http://schemas.microsoft.com/office/powerpoint/2010/main" val="3615137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0FB4-63D7-B057-229A-D92909D623B6}"/>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94352833-29E6-CEA5-ADCD-3A6CAFC36B51}"/>
              </a:ext>
            </a:extLst>
          </p:cNvPr>
          <p:cNvSpPr txBox="1"/>
          <p:nvPr/>
        </p:nvSpPr>
        <p:spPr>
          <a:xfrm>
            <a:off x="456075" y="228600"/>
            <a:ext cx="13718250" cy="865381"/>
          </a:xfrm>
          <a:prstGeom prst="rect">
            <a:avLst/>
          </a:prstGeom>
          <a:noFill/>
          <a:ln>
            <a:noFill/>
          </a:ln>
        </p:spPr>
        <p:txBody>
          <a:bodyPr lIns="0" tIns="0" rIns="0" bIns="0">
            <a:noAutofit/>
          </a:bodyPr>
          <a:lstStyle/>
          <a:p>
            <a:pPr>
              <a:lnSpc>
                <a:spcPct val="90000"/>
              </a:lnSpc>
              <a:defRPr/>
            </a:pPr>
            <a:r>
              <a:rPr lang="en-US" sz="3840" b="1" spc="-2" dirty="0">
                <a:solidFill>
                  <a:schemeClr val="accent2"/>
                </a:solidFill>
                <a:latin typeface="Calibri" panose="020F0502020204030204" pitchFamily="34" charset="0"/>
                <a:ea typeface="IBM Plex Sans"/>
                <a:cs typeface="Calibri" panose="020F0502020204030204" pitchFamily="34" charset="0"/>
              </a:rPr>
              <a:t>QSRI: Quantum-Security Readiness Index Assessment</a:t>
            </a:r>
            <a:endParaRPr lang="en-US" sz="3840" spc="-2" dirty="0">
              <a:solidFill>
                <a:schemeClr val="accent2"/>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04FE2F3-9C49-0726-B38F-D3A4971C71E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33100" y="838201"/>
            <a:ext cx="3797300" cy="6858000"/>
          </a:xfrm>
          <a:prstGeom prst="rect">
            <a:avLst/>
          </a:prstGeom>
        </p:spPr>
      </p:pic>
      <p:pic>
        <p:nvPicPr>
          <p:cNvPr id="6" name="Picture 5">
            <a:extLst>
              <a:ext uri="{FF2B5EF4-FFF2-40B4-BE49-F238E27FC236}">
                <a16:creationId xmlns:a16="http://schemas.microsoft.com/office/drawing/2014/main" id="{9363C290-DB35-9ADE-6903-6D587707EBD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24800" y="4342557"/>
            <a:ext cx="2859116" cy="3353643"/>
          </a:xfrm>
          <a:prstGeom prst="rect">
            <a:avLst/>
          </a:prstGeom>
        </p:spPr>
      </p:pic>
      <p:pic>
        <p:nvPicPr>
          <p:cNvPr id="7" name="Picture 6">
            <a:extLst>
              <a:ext uri="{FF2B5EF4-FFF2-40B4-BE49-F238E27FC236}">
                <a16:creationId xmlns:a16="http://schemas.microsoft.com/office/drawing/2014/main" id="{C484CE17-293B-898B-F4B3-A5FEE947AD3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907703" y="840699"/>
            <a:ext cx="2893310" cy="3501858"/>
          </a:xfrm>
          <a:prstGeom prst="rect">
            <a:avLst/>
          </a:prstGeom>
        </p:spPr>
      </p:pic>
      <p:pic>
        <p:nvPicPr>
          <p:cNvPr id="8" name="Picture 7">
            <a:extLst>
              <a:ext uri="{FF2B5EF4-FFF2-40B4-BE49-F238E27FC236}">
                <a16:creationId xmlns:a16="http://schemas.microsoft.com/office/drawing/2014/main" id="{054B9FB9-16B0-CFF8-4FF4-33426189EEB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3216" y="838201"/>
            <a:ext cx="7772400" cy="6858000"/>
          </a:xfrm>
          <a:prstGeom prst="rect">
            <a:avLst/>
          </a:prstGeom>
        </p:spPr>
      </p:pic>
    </p:spTree>
    <p:extLst>
      <p:ext uri="{BB962C8B-B14F-4D97-AF65-F5344CB8AC3E}">
        <p14:creationId xmlns:p14="http://schemas.microsoft.com/office/powerpoint/2010/main" val="1547602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4A2C7-919A-944A-9099-B209B01E910B}"/>
              </a:ext>
            </a:extLst>
          </p:cNvPr>
          <p:cNvSpPr>
            <a:spLocks noGrp="1"/>
          </p:cNvSpPr>
          <p:nvPr>
            <p:ph type="title"/>
          </p:nvPr>
        </p:nvSpPr>
        <p:spPr>
          <a:xfrm>
            <a:off x="304800" y="330270"/>
            <a:ext cx="14020800" cy="533400"/>
          </a:xfrm>
        </p:spPr>
        <p:txBody>
          <a:bodyPr>
            <a:noAutofit/>
          </a:bodyPr>
          <a:lstStyle/>
          <a:p>
            <a:pPr algn="ctr"/>
            <a:r>
              <a:rPr lang="en-US" sz="4000" b="1" dirty="0">
                <a:latin typeface="Calibri" panose="020F0502020204030204" pitchFamily="34" charset="0"/>
                <a:cs typeface="Calibri" panose="020F0502020204030204" pitchFamily="34" charset="0"/>
              </a:rPr>
              <a:t>Quantum Risk Assessment</a:t>
            </a:r>
            <a:br>
              <a:rPr lang="en-US" sz="3840" b="1" dirty="0">
                <a:solidFill>
                  <a:schemeClr val="bg1"/>
                </a:solidFill>
              </a:rPr>
            </a:br>
            <a:r>
              <a:rPr lang="en-US" sz="3200" b="1" dirty="0">
                <a:solidFill>
                  <a:schemeClr val="bg1"/>
                </a:solidFill>
              </a:rPr>
              <a:t>Post-Quantum Cryptography Assessment Service </a:t>
            </a:r>
            <a:endParaRPr lang="en-US" sz="4480" dirty="0">
              <a:solidFill>
                <a:schemeClr val="bg1"/>
              </a:solidFill>
            </a:endParaRPr>
          </a:p>
        </p:txBody>
      </p:sp>
      <p:sp>
        <p:nvSpPr>
          <p:cNvPr id="3" name="TextBox 2">
            <a:extLst>
              <a:ext uri="{FF2B5EF4-FFF2-40B4-BE49-F238E27FC236}">
                <a16:creationId xmlns:a16="http://schemas.microsoft.com/office/drawing/2014/main" id="{35CD6072-C7D9-664C-910F-2B9485D57837}"/>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560" dirty="0" err="1">
              <a:solidFill>
                <a:srgbClr val="051243"/>
              </a:solidFill>
              <a:latin typeface="Calibri" panose="020F0502020204030204" pitchFamily="34" charset="0"/>
              <a:ea typeface="IBM Plex Sans" charset="0"/>
              <a:cs typeface="Calibri" panose="020F0502020204030204" pitchFamily="34" charset="0"/>
            </a:endParaRPr>
          </a:p>
        </p:txBody>
      </p:sp>
      <p:pic>
        <p:nvPicPr>
          <p:cNvPr id="5" name="Picture 4">
            <a:extLst>
              <a:ext uri="{FF2B5EF4-FFF2-40B4-BE49-F238E27FC236}">
                <a16:creationId xmlns:a16="http://schemas.microsoft.com/office/drawing/2014/main" id="{F2814A3E-6A8F-C8E8-5DA7-12017B546F7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53251" y="1814747"/>
            <a:ext cx="1028701" cy="1181101"/>
          </a:xfrm>
          <a:prstGeom prst="rect">
            <a:avLst/>
          </a:prstGeom>
        </p:spPr>
      </p:pic>
      <p:pic>
        <p:nvPicPr>
          <p:cNvPr id="6" name="Picture 5">
            <a:extLst>
              <a:ext uri="{FF2B5EF4-FFF2-40B4-BE49-F238E27FC236}">
                <a16:creationId xmlns:a16="http://schemas.microsoft.com/office/drawing/2014/main" id="{C46E2BF3-F2E4-13EE-33A7-5C8078A084A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53252" y="3554039"/>
            <a:ext cx="1206501" cy="1358901"/>
          </a:xfrm>
          <a:prstGeom prst="rect">
            <a:avLst/>
          </a:prstGeom>
        </p:spPr>
      </p:pic>
      <p:pic>
        <p:nvPicPr>
          <p:cNvPr id="7" name="Picture 6">
            <a:extLst>
              <a:ext uri="{FF2B5EF4-FFF2-40B4-BE49-F238E27FC236}">
                <a16:creationId xmlns:a16="http://schemas.microsoft.com/office/drawing/2014/main" id="{3BF2D72F-F879-619E-7A34-5C35D614E5B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453252" y="5469543"/>
            <a:ext cx="1206501" cy="1358901"/>
          </a:xfrm>
          <a:prstGeom prst="rect">
            <a:avLst/>
          </a:prstGeom>
        </p:spPr>
      </p:pic>
      <p:sp>
        <p:nvSpPr>
          <p:cNvPr id="9" name="TextBox 8">
            <a:extLst>
              <a:ext uri="{FF2B5EF4-FFF2-40B4-BE49-F238E27FC236}">
                <a16:creationId xmlns:a16="http://schemas.microsoft.com/office/drawing/2014/main" id="{E51CEED0-4C8E-262B-B469-B1E5B1D0E328}"/>
              </a:ext>
            </a:extLst>
          </p:cNvPr>
          <p:cNvSpPr txBox="1"/>
          <p:nvPr/>
        </p:nvSpPr>
        <p:spPr>
          <a:xfrm>
            <a:off x="1142999" y="1708386"/>
            <a:ext cx="9731326" cy="5262979"/>
          </a:xfrm>
          <a:prstGeom prst="rect">
            <a:avLst/>
          </a:prstGeom>
          <a:noFill/>
        </p:spPr>
        <p:txBody>
          <a:bodyPr wrap="square">
            <a:spAutoFit/>
          </a:bodyPr>
          <a:lstStyle/>
          <a:p>
            <a:pPr defTabSz="731520"/>
            <a:r>
              <a:rPr lang="en-US" sz="2240" b="1" u="sng" dirty="0">
                <a:solidFill>
                  <a:srgbClr val="051243"/>
                </a:solidFill>
                <a:latin typeface="Arial"/>
              </a:rPr>
              <a:t>Crypto Inventory/Health Check</a:t>
            </a:r>
          </a:p>
          <a:p>
            <a:pPr defTabSz="731520"/>
            <a:r>
              <a:rPr lang="en-US" sz="2240" dirty="0">
                <a:solidFill>
                  <a:srgbClr val="051243"/>
                </a:solidFill>
                <a:latin typeface="Arial"/>
              </a:rPr>
              <a:t>Recommend best practices and unique discovery tools to build Crypto inventory and assess your crypto assets for PQ-readiness.</a:t>
            </a:r>
          </a:p>
          <a:p>
            <a:pPr defTabSz="731520"/>
            <a:endParaRPr lang="en-US" sz="2240" dirty="0">
              <a:solidFill>
                <a:srgbClr val="051243"/>
              </a:solidFill>
              <a:latin typeface="Arial"/>
            </a:endParaRPr>
          </a:p>
          <a:p>
            <a:pPr defTabSz="731520"/>
            <a:endParaRPr lang="en-US" sz="2240" dirty="0">
              <a:solidFill>
                <a:srgbClr val="051243"/>
              </a:solidFill>
              <a:latin typeface="Arial"/>
            </a:endParaRPr>
          </a:p>
          <a:p>
            <a:pPr defTabSz="731520"/>
            <a:r>
              <a:rPr lang="en-US" sz="2240" b="1" u="sng" dirty="0">
                <a:solidFill>
                  <a:srgbClr val="051243"/>
                </a:solidFill>
                <a:latin typeface="Arial"/>
              </a:rPr>
              <a:t>PKI Health Check</a:t>
            </a:r>
          </a:p>
          <a:p>
            <a:pPr defTabSz="731520"/>
            <a:r>
              <a:rPr lang="en-US" sz="2240" dirty="0">
                <a:solidFill>
                  <a:srgbClr val="051243"/>
                </a:solidFill>
                <a:latin typeface="Arial"/>
              </a:rPr>
              <a:t>Provide guidance and tools to assess and address the health and risks of PKI system and its readiness for post-quantum cryptography.</a:t>
            </a:r>
          </a:p>
          <a:p>
            <a:pPr defTabSz="731520"/>
            <a:endParaRPr lang="en-US" sz="2240" dirty="0">
              <a:solidFill>
                <a:srgbClr val="051243"/>
              </a:solidFill>
              <a:latin typeface="Arial"/>
            </a:endParaRPr>
          </a:p>
          <a:p>
            <a:pPr defTabSz="731520"/>
            <a:endParaRPr lang="en-US" sz="2240" dirty="0">
              <a:solidFill>
                <a:srgbClr val="051243"/>
              </a:solidFill>
              <a:latin typeface="Arial"/>
            </a:endParaRPr>
          </a:p>
          <a:p>
            <a:pPr defTabSz="731520"/>
            <a:r>
              <a:rPr lang="en-US" sz="2240" b="1" u="sng" dirty="0">
                <a:solidFill>
                  <a:srgbClr val="051243"/>
                </a:solidFill>
                <a:latin typeface="Arial"/>
              </a:rPr>
              <a:t>Post-Quantum Risk Assessment</a:t>
            </a:r>
          </a:p>
          <a:p>
            <a:pPr defTabSz="731520"/>
            <a:r>
              <a:rPr lang="en-US" sz="2240" dirty="0">
                <a:solidFill>
                  <a:srgbClr val="051243"/>
                </a:solidFill>
                <a:latin typeface="Arial"/>
              </a:rPr>
              <a:t>Identify the algorithm and data protection risks in business systems, map out migration plan and timeframes, and review governance against best practices for control, compliance, and skills in readiness for post-quantum migration testing and implementation.</a:t>
            </a:r>
            <a:endParaRPr lang="en-EG" sz="2240" dirty="0">
              <a:solidFill>
                <a:srgbClr val="051243"/>
              </a:solidFill>
              <a:latin typeface="Arial"/>
            </a:endParaRPr>
          </a:p>
        </p:txBody>
      </p:sp>
    </p:spTree>
    <p:extLst>
      <p:ext uri="{BB962C8B-B14F-4D97-AF65-F5344CB8AC3E}">
        <p14:creationId xmlns:p14="http://schemas.microsoft.com/office/powerpoint/2010/main" val="2489434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AAE06-CA2F-3868-AA9F-FB8D45F81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7F594-B39A-FAF9-176F-7E77D6A5DBD4}"/>
              </a:ext>
            </a:extLst>
          </p:cNvPr>
          <p:cNvSpPr>
            <a:spLocks noGrp="1"/>
          </p:cNvSpPr>
          <p:nvPr>
            <p:ph type="title"/>
          </p:nvPr>
        </p:nvSpPr>
        <p:spPr/>
        <p:txBody>
          <a:bodyPr/>
          <a:lstStyle/>
          <a:p>
            <a:pPr algn="ctr"/>
            <a:r>
              <a:rPr lang="en-US" sz="3200" b="1" dirty="0"/>
              <a:t>Today’s Classical Cryptographic Algorithms and Protocols</a:t>
            </a:r>
          </a:p>
        </p:txBody>
      </p:sp>
      <p:sp>
        <p:nvSpPr>
          <p:cNvPr id="3" name="Content Placeholder 2">
            <a:extLst>
              <a:ext uri="{FF2B5EF4-FFF2-40B4-BE49-F238E27FC236}">
                <a16:creationId xmlns:a16="http://schemas.microsoft.com/office/drawing/2014/main" id="{1DC6BD22-E58B-9E52-BE21-0BC13E78ADEA}"/>
              </a:ext>
            </a:extLst>
          </p:cNvPr>
          <p:cNvSpPr>
            <a:spLocks noGrp="1"/>
          </p:cNvSpPr>
          <p:nvPr>
            <p:ph idx="4294967295"/>
          </p:nvPr>
        </p:nvSpPr>
        <p:spPr>
          <a:xfrm>
            <a:off x="609600" y="1066800"/>
            <a:ext cx="11277600" cy="5257800"/>
          </a:xfrm>
        </p:spPr>
        <p:txBody>
          <a:bodyPr/>
          <a:lstStyle/>
          <a:p>
            <a:pPr marL="457200" indent="-457200">
              <a:buFont typeface="Arial" panose="020B0604020202020204" pitchFamily="34" charset="0"/>
              <a:buChar char="•"/>
            </a:pPr>
            <a:r>
              <a:rPr lang="en-US" sz="2800" b="1" dirty="0"/>
              <a:t>Symmetric Encryption</a:t>
            </a:r>
            <a:r>
              <a:rPr lang="en-US" sz="2800" dirty="0"/>
              <a:t>: AES (128/192/256-bit), 3DES, Blowfish.</a:t>
            </a:r>
          </a:p>
          <a:p>
            <a:pPr marL="457200" indent="-457200">
              <a:buFont typeface="Arial" panose="020B0604020202020204" pitchFamily="34" charset="0"/>
              <a:buChar char="•"/>
            </a:pPr>
            <a:r>
              <a:rPr lang="en-US" sz="2800" b="1" dirty="0"/>
              <a:t>Asymmetric Encryption</a:t>
            </a:r>
            <a:r>
              <a:rPr lang="en-US" sz="2800" dirty="0"/>
              <a:t>: RSA (2048/3072/4096-bit), Elliptic Curve Cryptography (ECC) variants like ECDSA and ECDH.</a:t>
            </a:r>
          </a:p>
          <a:p>
            <a:pPr marL="457200" indent="-457200">
              <a:buFont typeface="Arial" panose="020B0604020202020204" pitchFamily="34" charset="0"/>
              <a:buChar char="•"/>
            </a:pPr>
            <a:r>
              <a:rPr lang="en-US" sz="2800" b="1" dirty="0"/>
              <a:t>Hash Functions</a:t>
            </a:r>
            <a:r>
              <a:rPr lang="en-US" sz="2800" dirty="0"/>
              <a:t>: SHA-1, SHA-2 family (SHA-256, SHA-384, SHA-512), SHA-3.</a:t>
            </a:r>
          </a:p>
          <a:p>
            <a:pPr marL="457200" indent="-457200">
              <a:buFont typeface="Arial" panose="020B0604020202020204" pitchFamily="34" charset="0"/>
              <a:buChar char="•"/>
            </a:pPr>
            <a:r>
              <a:rPr lang="en-US" sz="2800" b="1" dirty="0"/>
              <a:t>Key Exchange Protocols</a:t>
            </a:r>
            <a:r>
              <a:rPr lang="en-US" sz="2800" dirty="0"/>
              <a:t>: Diffie-Hellman (DH), Elliptic Curve Diffie-Hellman (ECDH).</a:t>
            </a:r>
          </a:p>
          <a:p>
            <a:pPr marL="457200" indent="-457200">
              <a:buFont typeface="Arial" panose="020B0604020202020204" pitchFamily="34" charset="0"/>
              <a:buChar char="•"/>
            </a:pPr>
            <a:r>
              <a:rPr lang="en-US" sz="2800" b="1" dirty="0"/>
              <a:t>Digital Signatures</a:t>
            </a:r>
            <a:r>
              <a:rPr lang="en-US" sz="2800" dirty="0"/>
              <a:t>: RSA, DSA, ECDSA.</a:t>
            </a:r>
          </a:p>
          <a:p>
            <a:pPr marL="457200" indent="-457200">
              <a:buFont typeface="Arial" panose="020B0604020202020204" pitchFamily="34" charset="0"/>
              <a:buChar char="•"/>
            </a:pPr>
            <a:r>
              <a:rPr lang="en-US" sz="2800" b="1" dirty="0"/>
              <a:t>Cipher Suites</a:t>
            </a:r>
            <a:r>
              <a:rPr lang="en-US" sz="2800" dirty="0"/>
              <a:t>: TLS/SSL protocols utilize various cipher suites combining the above algorithms for secure communications.</a:t>
            </a:r>
          </a:p>
          <a:p>
            <a:pPr marL="457200" indent="-457200">
              <a:buFont typeface="Arial" panose="020B0604020202020204" pitchFamily="34" charset="0"/>
              <a:buChar char="•"/>
            </a:pPr>
            <a:r>
              <a:rPr lang="en-US" sz="2800" b="1" dirty="0"/>
              <a:t>Cryptographic Libraries</a:t>
            </a:r>
            <a:r>
              <a:rPr lang="en-US" sz="2800" dirty="0"/>
              <a:t>: OpenSSL, Bouncy Castle, Microsoft CryptoAPI, and others provide implementations of these algorithms.</a:t>
            </a:r>
            <a:endParaRPr lang="en-EG" sz="2800" dirty="0"/>
          </a:p>
        </p:txBody>
      </p:sp>
      <p:pic>
        <p:nvPicPr>
          <p:cNvPr id="3074" name="Picture 2" descr="The three main categories of standard cryptography algorithms | Download  Scientific Diagram">
            <a:extLst>
              <a:ext uri="{FF2B5EF4-FFF2-40B4-BE49-F238E27FC236}">
                <a16:creationId xmlns:a16="http://schemas.microsoft.com/office/drawing/2014/main" id="{FDB4C5F6-36F2-075C-4B6A-B3E97B29C8E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92000" y="2286000"/>
            <a:ext cx="2254250" cy="3348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025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9B005-2EB7-718D-AE90-9F60889E9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8912F-0E2B-D311-DDCD-92D9E8BB92B6}"/>
              </a:ext>
            </a:extLst>
          </p:cNvPr>
          <p:cNvSpPr>
            <a:spLocks noGrp="1"/>
          </p:cNvSpPr>
          <p:nvPr>
            <p:ph type="title"/>
          </p:nvPr>
        </p:nvSpPr>
        <p:spPr/>
        <p:txBody>
          <a:bodyPr/>
          <a:lstStyle/>
          <a:p>
            <a:pPr algn="ctr"/>
            <a:r>
              <a:rPr lang="en-US" sz="3200" b="1"/>
              <a:t>Estimated Cryptographic Algorithm Count</a:t>
            </a:r>
            <a:br>
              <a:rPr lang="en-US" sz="3200" b="1"/>
            </a:br>
            <a:r>
              <a:rPr lang="en-US" sz="3200" b="1"/>
              <a:t>(a.k.a. Crypto Inventory Typical Size/Volume) </a:t>
            </a:r>
            <a:br>
              <a:rPr lang="en-US" sz="3200" b="1"/>
            </a:br>
            <a:endParaRPr lang="en-US" sz="3200" b="1" dirty="0"/>
          </a:p>
        </p:txBody>
      </p:sp>
      <p:sp>
        <p:nvSpPr>
          <p:cNvPr id="3" name="Content Placeholder 2">
            <a:extLst>
              <a:ext uri="{FF2B5EF4-FFF2-40B4-BE49-F238E27FC236}">
                <a16:creationId xmlns:a16="http://schemas.microsoft.com/office/drawing/2014/main" id="{6FE50E3C-F7C7-FCF9-F57D-0818425404E5}"/>
              </a:ext>
            </a:extLst>
          </p:cNvPr>
          <p:cNvSpPr>
            <a:spLocks noGrp="1"/>
          </p:cNvSpPr>
          <p:nvPr>
            <p:ph idx="4294967295"/>
          </p:nvPr>
        </p:nvSpPr>
        <p:spPr>
          <a:xfrm>
            <a:off x="609600" y="1828801"/>
            <a:ext cx="8001000" cy="5257800"/>
          </a:xfrm>
        </p:spPr>
        <p:txBody>
          <a:bodyPr/>
          <a:lstStyle/>
          <a:p>
            <a:pPr marL="514350" indent="-514350">
              <a:buFont typeface="+mj-lt"/>
              <a:buAutoNum type="arabicPeriod"/>
            </a:pPr>
            <a:r>
              <a:rPr lang="en-US" sz="2800" b="1" dirty="0"/>
              <a:t>Per Server/VM</a:t>
            </a:r>
            <a:r>
              <a:rPr lang="en-US" sz="2800" dirty="0"/>
              <a:t>: Each server or VM typically employs </a:t>
            </a:r>
            <a:r>
              <a:rPr lang="en-US" sz="2800" b="1" dirty="0"/>
              <a:t>20–50</a:t>
            </a:r>
            <a:r>
              <a:rPr lang="en-US" sz="2800" dirty="0"/>
              <a:t> distinct cryptographic algorithms. This includes algorithms used by the operating system, installed applications, and security services.</a:t>
            </a:r>
          </a:p>
          <a:p>
            <a:pPr marL="514350" indent="-514350">
              <a:buFont typeface="+mj-lt"/>
              <a:buAutoNum type="arabicPeriod"/>
            </a:pPr>
            <a:endParaRPr lang="en-US" sz="2800" dirty="0"/>
          </a:p>
          <a:p>
            <a:pPr marL="514350" indent="-514350">
              <a:buFont typeface="+mj-lt"/>
              <a:buAutoNum type="arabicPeriod"/>
            </a:pPr>
            <a:r>
              <a:rPr lang="en-US" sz="2800" dirty="0"/>
              <a:t>For example, 100 Servers/VMs: Collectively, a data center with 100 servers or VMs might utilize </a:t>
            </a:r>
            <a:r>
              <a:rPr lang="en-US" sz="2800" b="1" dirty="0"/>
              <a:t>hundreds of unique algorithms </a:t>
            </a:r>
            <a:r>
              <a:rPr lang="en-US" sz="2800" dirty="0"/>
              <a:t>implementation, considering variations in configurations and applications.</a:t>
            </a:r>
            <a:endParaRPr lang="en-EG" sz="2800" dirty="0"/>
          </a:p>
        </p:txBody>
      </p:sp>
      <p:pic>
        <p:nvPicPr>
          <p:cNvPr id="4098" name="Picture 2" descr="Bibliometric Analysis of IoT Lightweight Cryptography">
            <a:extLst>
              <a:ext uri="{FF2B5EF4-FFF2-40B4-BE49-F238E27FC236}">
                <a16:creationId xmlns:a16="http://schemas.microsoft.com/office/drawing/2014/main" id="{2F74B16D-BD53-0857-145F-DA030B6D9F2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680450" y="2133600"/>
            <a:ext cx="54229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84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2360F-02C5-2EBA-6BA0-57040B542A45}"/>
              </a:ext>
            </a:extLst>
          </p:cNvPr>
          <p:cNvSpPr>
            <a:spLocks noGrp="1"/>
          </p:cNvSpPr>
          <p:nvPr>
            <p:ph type="title"/>
          </p:nvPr>
        </p:nvSpPr>
        <p:spPr/>
        <p:txBody>
          <a:bodyPr/>
          <a:lstStyle/>
          <a:p>
            <a:pPr algn="ctr"/>
            <a:r>
              <a:rPr lang="en-US" sz="3200" b="1" dirty="0"/>
              <a:t>Discovery Tools for Comprehensive Cryptographic Inventory</a:t>
            </a:r>
            <a:endParaRPr lang="en-EG" sz="3200" b="1" dirty="0"/>
          </a:p>
        </p:txBody>
      </p:sp>
      <p:sp>
        <p:nvSpPr>
          <p:cNvPr id="3" name="Content Placeholder 2">
            <a:extLst>
              <a:ext uri="{FF2B5EF4-FFF2-40B4-BE49-F238E27FC236}">
                <a16:creationId xmlns:a16="http://schemas.microsoft.com/office/drawing/2014/main" id="{86D566F1-7B05-A39A-3C9F-1A93E882C71D}"/>
              </a:ext>
            </a:extLst>
          </p:cNvPr>
          <p:cNvSpPr>
            <a:spLocks noGrp="1"/>
          </p:cNvSpPr>
          <p:nvPr>
            <p:ph idx="4294967295"/>
          </p:nvPr>
        </p:nvSpPr>
        <p:spPr>
          <a:xfrm>
            <a:off x="1676400" y="1066800"/>
            <a:ext cx="11201400" cy="5257800"/>
          </a:xfrm>
        </p:spPr>
        <p:txBody>
          <a:bodyPr/>
          <a:lstStyle/>
          <a:p>
            <a:pPr marL="514350" indent="-514350">
              <a:buFont typeface="+mj-lt"/>
              <a:buAutoNum type="arabicPeriod"/>
            </a:pPr>
            <a:r>
              <a:rPr lang="en-US" sz="2800" dirty="0"/>
              <a:t>Static Code Analysis</a:t>
            </a:r>
          </a:p>
          <a:p>
            <a:pPr marL="514350" indent="-514350">
              <a:buFont typeface="+mj-lt"/>
              <a:buAutoNum type="arabicPeriod"/>
            </a:pPr>
            <a:r>
              <a:rPr lang="en-US" sz="2800" dirty="0"/>
              <a:t>Dynamic Analysis (Runtime Monitoring)</a:t>
            </a:r>
          </a:p>
          <a:p>
            <a:pPr marL="514350" indent="-514350">
              <a:buFont typeface="+mj-lt"/>
              <a:buAutoNum type="arabicPeriod"/>
            </a:pPr>
            <a:r>
              <a:rPr lang="en-US" sz="2800" dirty="0"/>
              <a:t>Network Traffic Analysis</a:t>
            </a:r>
          </a:p>
          <a:p>
            <a:pPr marL="514350" indent="-514350">
              <a:buFont typeface="+mj-lt"/>
              <a:buAutoNum type="arabicPeriod"/>
            </a:pPr>
            <a:r>
              <a:rPr lang="en-US" sz="2800" dirty="0"/>
              <a:t>Configuration and System Scanning</a:t>
            </a:r>
          </a:p>
          <a:p>
            <a:pPr marL="514350" indent="-514350">
              <a:buFont typeface="+mj-lt"/>
              <a:buAutoNum type="arabicPeriod"/>
            </a:pPr>
            <a:r>
              <a:rPr lang="en-US" sz="2800" dirty="0"/>
              <a:t>Dependency Analysis</a:t>
            </a:r>
          </a:p>
          <a:p>
            <a:pPr marL="514350" indent="-514350">
              <a:buFont typeface="+mj-lt"/>
              <a:buAutoNum type="arabicPeriod"/>
            </a:pPr>
            <a:r>
              <a:rPr lang="en-US" sz="2800" dirty="0"/>
              <a:t>Binary Analysis</a:t>
            </a:r>
          </a:p>
          <a:p>
            <a:pPr marL="514350" indent="-514350">
              <a:buFont typeface="+mj-lt"/>
              <a:buAutoNum type="arabicPeriod"/>
            </a:pPr>
            <a:r>
              <a:rPr lang="en-US" sz="2800" dirty="0"/>
              <a:t>Cloud Environment Scanning</a:t>
            </a:r>
          </a:p>
          <a:p>
            <a:pPr marL="514350" indent="-514350">
              <a:buFont typeface="+mj-lt"/>
              <a:buAutoNum type="arabicPeriod"/>
            </a:pPr>
            <a:r>
              <a:rPr lang="en-US" sz="2800" dirty="0"/>
              <a:t>Hardware and Firmware Analysis</a:t>
            </a:r>
          </a:p>
          <a:p>
            <a:pPr marL="514350" indent="-514350">
              <a:buFont typeface="+mj-lt"/>
              <a:buAutoNum type="arabicPeriod"/>
            </a:pPr>
            <a:r>
              <a:rPr lang="en-US" sz="2800" dirty="0"/>
              <a:t>Certificate and Key Management Discovery</a:t>
            </a:r>
          </a:p>
          <a:p>
            <a:pPr marL="514350" indent="-514350">
              <a:buFont typeface="+mj-lt"/>
              <a:buAutoNum type="arabicPeriod"/>
            </a:pPr>
            <a:r>
              <a:rPr lang="en-US" sz="2800" dirty="0"/>
              <a:t>Log Analysis</a:t>
            </a:r>
            <a:endParaRPr lang="en-EG" sz="2800" dirty="0"/>
          </a:p>
        </p:txBody>
      </p:sp>
      <p:pic>
        <p:nvPicPr>
          <p:cNvPr id="5122" name="Picture 2">
            <a:extLst>
              <a:ext uri="{FF2B5EF4-FFF2-40B4-BE49-F238E27FC236}">
                <a16:creationId xmlns:a16="http://schemas.microsoft.com/office/drawing/2014/main" id="{E6550C09-08F0-F316-0466-E07B81CFE18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636404" y="2506712"/>
            <a:ext cx="5437019" cy="3513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574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4B54-8D4E-66D5-D14E-5648C119E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1E1B9-CFF9-6690-2FA1-BCAA845E3EF9}"/>
              </a:ext>
            </a:extLst>
          </p:cNvPr>
          <p:cNvSpPr>
            <a:spLocks noGrp="1"/>
          </p:cNvSpPr>
          <p:nvPr>
            <p:ph type="title"/>
          </p:nvPr>
        </p:nvSpPr>
        <p:spPr/>
        <p:txBody>
          <a:bodyPr/>
          <a:lstStyle/>
          <a:p>
            <a:pPr algn="ctr"/>
            <a:r>
              <a:rPr lang="en-US" sz="3200" b="1" dirty="0"/>
              <a:t>Building a Comprehensive Cryptographic Bill of Materials (CBOM)</a:t>
            </a:r>
            <a:endParaRPr lang="en-EG" sz="3200" b="1" dirty="0"/>
          </a:p>
        </p:txBody>
      </p:sp>
      <p:sp>
        <p:nvSpPr>
          <p:cNvPr id="3" name="Content Placeholder 2">
            <a:extLst>
              <a:ext uri="{FF2B5EF4-FFF2-40B4-BE49-F238E27FC236}">
                <a16:creationId xmlns:a16="http://schemas.microsoft.com/office/drawing/2014/main" id="{E00CD0C3-F44E-E2E0-C697-CA688C9F4F22}"/>
              </a:ext>
            </a:extLst>
          </p:cNvPr>
          <p:cNvSpPr>
            <a:spLocks noGrp="1"/>
          </p:cNvSpPr>
          <p:nvPr>
            <p:ph idx="4294967295"/>
          </p:nvPr>
        </p:nvSpPr>
        <p:spPr>
          <a:xfrm>
            <a:off x="487180" y="1600200"/>
            <a:ext cx="8275820" cy="5257800"/>
          </a:xfrm>
        </p:spPr>
        <p:txBody>
          <a:bodyPr/>
          <a:lstStyle/>
          <a:p>
            <a:pPr marL="514350" indent="-514350">
              <a:buFont typeface="+mj-lt"/>
              <a:buAutoNum type="arabicPeriod"/>
            </a:pPr>
            <a:r>
              <a:rPr lang="en-US" sz="2800" dirty="0"/>
              <a:t>CBOM serves as a detailed inventory of all cryptographic components (systems, applications, and IoT devices). </a:t>
            </a:r>
          </a:p>
          <a:p>
            <a:pPr marL="514350" indent="-514350">
              <a:buFont typeface="+mj-lt"/>
              <a:buAutoNum type="arabicPeriod"/>
            </a:pPr>
            <a:endParaRPr lang="en-US" sz="2800" dirty="0"/>
          </a:p>
          <a:p>
            <a:pPr marL="514350" indent="-514350">
              <a:buFont typeface="+mj-lt"/>
              <a:buAutoNum type="arabicPeriod"/>
            </a:pPr>
            <a:r>
              <a:rPr lang="en-US" sz="2800" dirty="0"/>
              <a:t>Provides a holistic view of the cryptographic landscape, enabling effective risk management.</a:t>
            </a:r>
          </a:p>
          <a:p>
            <a:pPr marL="514350" indent="-514350">
              <a:buFont typeface="+mj-lt"/>
              <a:buAutoNum type="arabicPeriod"/>
            </a:pPr>
            <a:endParaRPr lang="en-US" sz="2800" dirty="0"/>
          </a:p>
          <a:p>
            <a:pPr marL="514350" indent="-514350">
              <a:buFont typeface="+mj-lt"/>
              <a:buAutoNum type="arabicPeriod"/>
            </a:pPr>
            <a:r>
              <a:rPr lang="en-US" sz="2800" dirty="0"/>
              <a:t>CBOM facilitates compliance with regulatory requirements, that are/will be mandated as part of quantum readiness programs.  </a:t>
            </a:r>
            <a:endParaRPr lang="en-EG" sz="2800" dirty="0"/>
          </a:p>
        </p:txBody>
      </p:sp>
      <p:pic>
        <p:nvPicPr>
          <p:cNvPr id="6146" name="Picture 2" descr="Cryptographic Bill of Materials | CBOM | SBOM | PKI">
            <a:extLst>
              <a:ext uri="{FF2B5EF4-FFF2-40B4-BE49-F238E27FC236}">
                <a16:creationId xmlns:a16="http://schemas.microsoft.com/office/drawing/2014/main" id="{B475E368-BAB5-C1FD-138B-C5CEBF716E4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153400" y="2456369"/>
            <a:ext cx="6318354" cy="3316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729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8592B-BCB9-42AD-F031-671DB3957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B91E1-A094-5F0B-EBB2-9AED9994A10F}"/>
              </a:ext>
            </a:extLst>
          </p:cNvPr>
          <p:cNvSpPr>
            <a:spLocks noGrp="1"/>
          </p:cNvSpPr>
          <p:nvPr>
            <p:ph type="title"/>
          </p:nvPr>
        </p:nvSpPr>
        <p:spPr/>
        <p:txBody>
          <a:bodyPr/>
          <a:lstStyle/>
          <a:p>
            <a:pPr algn="ctr"/>
            <a:r>
              <a:rPr lang="en-US" sz="3200" b="1" dirty="0"/>
              <a:t>Sample Cryptographic Bill of Materials (CBOM)</a:t>
            </a:r>
            <a:endParaRPr lang="en-EG" sz="3200" b="1" dirty="0"/>
          </a:p>
        </p:txBody>
      </p:sp>
      <p:graphicFrame>
        <p:nvGraphicFramePr>
          <p:cNvPr id="4" name="Table 3">
            <a:extLst>
              <a:ext uri="{FF2B5EF4-FFF2-40B4-BE49-F238E27FC236}">
                <a16:creationId xmlns:a16="http://schemas.microsoft.com/office/drawing/2014/main" id="{132A4E88-0144-2464-74B3-F4FABC2A166B}"/>
              </a:ext>
            </a:extLst>
          </p:cNvPr>
          <p:cNvGraphicFramePr>
            <a:graphicFrameLocks noGrp="1"/>
          </p:cNvGraphicFramePr>
          <p:nvPr>
            <p:extLst>
              <p:ext uri="{D42A27DB-BD31-4B8C-83A1-F6EECF244321}">
                <p14:modId xmlns:p14="http://schemas.microsoft.com/office/powerpoint/2010/main" val="4275241893"/>
              </p:ext>
            </p:extLst>
          </p:nvPr>
        </p:nvGraphicFramePr>
        <p:xfrm>
          <a:off x="457201" y="1371601"/>
          <a:ext cx="13487400" cy="6172199"/>
        </p:xfrm>
        <a:graphic>
          <a:graphicData uri="http://schemas.openxmlformats.org/drawingml/2006/table">
            <a:tbl>
              <a:tblPr>
                <a:tableStyleId>{5C22544A-7EE6-4342-B048-85BDC9FD1C3A}</a:tableStyleId>
              </a:tblPr>
              <a:tblGrid>
                <a:gridCol w="1736514">
                  <a:extLst>
                    <a:ext uri="{9D8B030D-6E8A-4147-A177-3AD203B41FA5}">
                      <a16:colId xmlns:a16="http://schemas.microsoft.com/office/drawing/2014/main" val="3365748778"/>
                    </a:ext>
                  </a:extLst>
                </a:gridCol>
                <a:gridCol w="2414179">
                  <a:extLst>
                    <a:ext uri="{9D8B030D-6E8A-4147-A177-3AD203B41FA5}">
                      <a16:colId xmlns:a16="http://schemas.microsoft.com/office/drawing/2014/main" val="3280883474"/>
                    </a:ext>
                  </a:extLst>
                </a:gridCol>
                <a:gridCol w="2164761">
                  <a:extLst>
                    <a:ext uri="{9D8B030D-6E8A-4147-A177-3AD203B41FA5}">
                      <a16:colId xmlns:a16="http://schemas.microsoft.com/office/drawing/2014/main" val="4205584245"/>
                    </a:ext>
                  </a:extLst>
                </a:gridCol>
                <a:gridCol w="1581216">
                  <a:extLst>
                    <a:ext uri="{9D8B030D-6E8A-4147-A177-3AD203B41FA5}">
                      <a16:colId xmlns:a16="http://schemas.microsoft.com/office/drawing/2014/main" val="345499982"/>
                    </a:ext>
                  </a:extLst>
                </a:gridCol>
                <a:gridCol w="1637689">
                  <a:extLst>
                    <a:ext uri="{9D8B030D-6E8A-4147-A177-3AD203B41FA5}">
                      <a16:colId xmlns:a16="http://schemas.microsoft.com/office/drawing/2014/main" val="3657523199"/>
                    </a:ext>
                  </a:extLst>
                </a:gridCol>
                <a:gridCol w="1694160">
                  <a:extLst>
                    <a:ext uri="{9D8B030D-6E8A-4147-A177-3AD203B41FA5}">
                      <a16:colId xmlns:a16="http://schemas.microsoft.com/office/drawing/2014/main" val="1163520955"/>
                    </a:ext>
                  </a:extLst>
                </a:gridCol>
                <a:gridCol w="2258881">
                  <a:extLst>
                    <a:ext uri="{9D8B030D-6E8A-4147-A177-3AD203B41FA5}">
                      <a16:colId xmlns:a16="http://schemas.microsoft.com/office/drawing/2014/main" val="643112071"/>
                    </a:ext>
                  </a:extLst>
                </a:gridCol>
              </a:tblGrid>
              <a:tr h="739098">
                <a:tc>
                  <a:txBody>
                    <a:bodyPr/>
                    <a:lstStyle/>
                    <a:p>
                      <a:pPr algn="ctr" fontAlgn="ctr"/>
                      <a:r>
                        <a:rPr lang="en-US" sz="1800" b="1" u="none" strike="noStrike">
                          <a:effectLst/>
                        </a:rPr>
                        <a:t>Component</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Crypto Algorithm</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Library/Tool Used</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Key Length</a:t>
                      </a:r>
                      <a:br>
                        <a:rPr lang="en-US" sz="1800" b="1" u="none" strike="noStrike">
                          <a:effectLst/>
                        </a:rPr>
                      </a:br>
                      <a:r>
                        <a:rPr lang="en-US" sz="1800" b="1" u="none" strike="noStrike">
                          <a:effectLst/>
                        </a:rPr>
                        <a:t>Cert Type</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Protocol</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PQC Readiness</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dirty="0">
                          <a:effectLst/>
                        </a:rPr>
                        <a:t>Immediate Action </a:t>
                      </a:r>
                      <a:br>
                        <a:rPr lang="en-US" sz="1800" b="1" u="none" strike="noStrike" dirty="0">
                          <a:effectLst/>
                        </a:rPr>
                      </a:br>
                      <a:r>
                        <a:rPr lang="en-US" sz="1800" b="1" u="none" strike="noStrike" dirty="0">
                          <a:effectLst/>
                        </a:rPr>
                        <a:t>Needed</a:t>
                      </a:r>
                      <a:endParaRPr lang="en-US" sz="1800" b="1" i="0" u="none" strike="noStrike" dirty="0">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58997781"/>
                  </a:ext>
                </a:extLst>
              </a:tr>
              <a:tr h="998513">
                <a:tc>
                  <a:txBody>
                    <a:bodyPr/>
                    <a:lstStyle/>
                    <a:p>
                      <a:pPr algn="l" fontAlgn="ctr"/>
                      <a:r>
                        <a:rPr lang="en-US" sz="1800" b="1" u="none" strike="noStrike">
                          <a:effectLst/>
                        </a:rPr>
                        <a:t>Web Server (Nginx)</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ECDHE-RSA-AES256-GCM-SHA384</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OpenSSL 1.1.1</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 2048-bit cert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TLS 1.2</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Not Ready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dirty="0">
                          <a:effectLst/>
                        </a:rPr>
                        <a:t>Upgrade to OpenSSL 3.0, disable TLS 1.1</a:t>
                      </a:r>
                      <a:endParaRPr lang="en-US" sz="1800" b="0" i="0" u="none" strike="noStrike" dirty="0">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34193213"/>
                  </a:ext>
                </a:extLst>
              </a:tr>
              <a:tr h="739098">
                <a:tc>
                  <a:txBody>
                    <a:bodyPr/>
                    <a:lstStyle/>
                    <a:p>
                      <a:pPr algn="l" fontAlgn="ctr"/>
                      <a:r>
                        <a:rPr lang="en-US" sz="1800" b="1" u="none" strike="noStrike">
                          <a:effectLst/>
                        </a:rPr>
                        <a:t>Backend API</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RS256 (RSA + SHA256)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Java JWT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 2048-bit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HTTPS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Not Ready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Prepare for PQC JWT</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471489275"/>
                  </a:ext>
                </a:extLst>
              </a:tr>
              <a:tr h="739098">
                <a:tc>
                  <a:txBody>
                    <a:bodyPr/>
                    <a:lstStyle/>
                    <a:p>
                      <a:pPr algn="l" fontAlgn="ctr"/>
                      <a:r>
                        <a:rPr lang="en-US" sz="1800" b="1" u="none" strike="noStrike">
                          <a:effectLst/>
                        </a:rPr>
                        <a:t>Database</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AES-256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Built-in DB encryption</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256-bit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Local Encryption</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N/A</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Rotate keys periodically</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55252603"/>
                  </a:ext>
                </a:extLst>
              </a:tr>
              <a:tr h="739098">
                <a:tc>
                  <a:txBody>
                    <a:bodyPr/>
                    <a:lstStyle/>
                    <a:p>
                      <a:pPr algn="l" fontAlgn="ctr"/>
                      <a:r>
                        <a:rPr lang="en-US" sz="1800" b="1" u="none" strike="noStrike">
                          <a:effectLst/>
                        </a:rPr>
                        <a:t>Mobile App Client</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TLS 1.2, Cert Pinning</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Mobile SDK (native TLS)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 2048-bit cert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HTTPS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Not Tested</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Test PQC readiness</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55132103"/>
                  </a:ext>
                </a:extLst>
              </a:tr>
              <a:tr h="739098">
                <a:tc>
                  <a:txBody>
                    <a:bodyPr/>
                    <a:lstStyle/>
                    <a:p>
                      <a:pPr algn="l" fontAlgn="ctr"/>
                      <a:r>
                        <a:rPr lang="en-US" sz="1800" b="1" u="none" strike="noStrike">
                          <a:effectLst/>
                        </a:rPr>
                        <a:t>Cloud KMS</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RSA-3072</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Google Cloud KMS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3072-bit key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API</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Evaluating Kyber</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Add PQC support (Kyber)</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1402372244"/>
                  </a:ext>
                </a:extLst>
              </a:tr>
              <a:tr h="739098">
                <a:tc>
                  <a:txBody>
                    <a:bodyPr/>
                    <a:lstStyle/>
                    <a:p>
                      <a:pPr algn="l" fontAlgn="ctr"/>
                      <a:r>
                        <a:rPr lang="en-US" sz="1800" b="1" u="none" strike="noStrike">
                          <a:effectLst/>
                        </a:rPr>
                        <a:t>Auth System</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HMAC-SHA256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OAuth2 library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SHA-256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OAuth 2.0</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N/A</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Monitor crypto standards</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2366510448"/>
                  </a:ext>
                </a:extLst>
              </a:tr>
              <a:tr h="739098">
                <a:tc>
                  <a:txBody>
                    <a:bodyPr/>
                    <a:lstStyle/>
                    <a:p>
                      <a:pPr algn="l" fontAlgn="ctr"/>
                      <a:r>
                        <a:rPr lang="en-US" sz="1800" b="1" u="none" strike="noStrike" dirty="0">
                          <a:effectLst/>
                        </a:rPr>
                        <a:t>Logging Service</a:t>
                      </a:r>
                      <a:endParaRPr lang="en-US" sz="1800" b="1" i="0" u="none" strike="noStrike" dirty="0">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AES-128</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S3 Server-Side Encryption</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128-bit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REST API</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dirty="0">
                          <a:effectLst/>
                        </a:rPr>
                        <a:t>Upgrade to AES-256</a:t>
                      </a:r>
                      <a:endParaRPr lang="en-US" sz="1800" b="0" i="0" u="none" strike="noStrike" dirty="0">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93861658"/>
                  </a:ext>
                </a:extLst>
              </a:tr>
            </a:tbl>
          </a:graphicData>
        </a:graphic>
      </p:graphicFrame>
    </p:spTree>
    <p:extLst>
      <p:ext uri="{BB962C8B-B14F-4D97-AF65-F5344CB8AC3E}">
        <p14:creationId xmlns:p14="http://schemas.microsoft.com/office/powerpoint/2010/main" val="3873097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065ACEB-F842-103B-261B-580302836DB2}"/>
              </a:ext>
            </a:extLst>
          </p:cNvPr>
          <p:cNvGraphicFramePr>
            <a:graphicFrameLocks noGrp="1"/>
          </p:cNvGraphicFramePr>
          <p:nvPr>
            <p:extLst>
              <p:ext uri="{D42A27DB-BD31-4B8C-83A1-F6EECF244321}">
                <p14:modId xmlns:p14="http://schemas.microsoft.com/office/powerpoint/2010/main" val="3562610231"/>
              </p:ext>
            </p:extLst>
          </p:nvPr>
        </p:nvGraphicFramePr>
        <p:xfrm>
          <a:off x="228600" y="609600"/>
          <a:ext cx="14249400" cy="7528397"/>
        </p:xfrm>
        <a:graphic>
          <a:graphicData uri="http://schemas.openxmlformats.org/drawingml/2006/table">
            <a:tbl>
              <a:tblPr firstRow="1" bandRow="1">
                <a:tableStyleId>{5C22544A-7EE6-4342-B048-85BDC9FD1C3A}</a:tableStyleId>
              </a:tblPr>
              <a:tblGrid>
                <a:gridCol w="3445430">
                  <a:extLst>
                    <a:ext uri="{9D8B030D-6E8A-4147-A177-3AD203B41FA5}">
                      <a16:colId xmlns:a16="http://schemas.microsoft.com/office/drawing/2014/main" val="2137813356"/>
                    </a:ext>
                  </a:extLst>
                </a:gridCol>
                <a:gridCol w="4098370">
                  <a:extLst>
                    <a:ext uri="{9D8B030D-6E8A-4147-A177-3AD203B41FA5}">
                      <a16:colId xmlns:a16="http://schemas.microsoft.com/office/drawing/2014/main" val="505395076"/>
                    </a:ext>
                  </a:extLst>
                </a:gridCol>
                <a:gridCol w="4179584">
                  <a:extLst>
                    <a:ext uri="{9D8B030D-6E8A-4147-A177-3AD203B41FA5}">
                      <a16:colId xmlns:a16="http://schemas.microsoft.com/office/drawing/2014/main" val="1537346545"/>
                    </a:ext>
                  </a:extLst>
                </a:gridCol>
                <a:gridCol w="2526016">
                  <a:extLst>
                    <a:ext uri="{9D8B030D-6E8A-4147-A177-3AD203B41FA5}">
                      <a16:colId xmlns:a16="http://schemas.microsoft.com/office/drawing/2014/main" val="4143603902"/>
                    </a:ext>
                  </a:extLst>
                </a:gridCol>
              </a:tblGrid>
              <a:tr h="467548">
                <a:tc>
                  <a:txBody>
                    <a:bodyPr/>
                    <a:lstStyle/>
                    <a:p>
                      <a:pPr algn="ctr" fontAlgn="ctr">
                        <a:buNone/>
                      </a:pPr>
                      <a:r>
                        <a:rPr lang="en-US" sz="1800" b="1" u="none" strike="noStrike" dirty="0">
                          <a:effectLst/>
                        </a:rPr>
                        <a:t>Model</a:t>
                      </a:r>
                      <a:endParaRPr lang="en-US" sz="1800" b="1" i="0" u="none" strike="noStrike" dirty="0">
                        <a:solidFill>
                          <a:srgbClr val="000000"/>
                        </a:solidFill>
                        <a:effectLst/>
                        <a:latin typeface="Calibri" panose="020F0502020204030204" pitchFamily="34" charset="0"/>
                      </a:endParaRPr>
                    </a:p>
                  </a:txBody>
                  <a:tcPr marL="2279" marR="2279" marT="2279" marB="0" anchor="ctr"/>
                </a:tc>
                <a:tc>
                  <a:txBody>
                    <a:bodyPr/>
                    <a:lstStyle/>
                    <a:p>
                      <a:pPr algn="ctr" fontAlgn="ctr">
                        <a:buNone/>
                      </a:pPr>
                      <a:r>
                        <a:rPr lang="en-US" sz="1800" u="none" strike="noStrike">
                          <a:effectLst/>
                        </a:rPr>
                        <a:t>Core Metric</a:t>
                      </a:r>
                      <a:endParaRPr lang="en-US" sz="1800" b="1" i="0" u="none" strike="noStrike">
                        <a:solidFill>
                          <a:srgbClr val="000000"/>
                        </a:solidFill>
                        <a:effectLst/>
                        <a:latin typeface="Calibri" panose="020F0502020204030204" pitchFamily="34" charset="0"/>
                      </a:endParaRPr>
                    </a:p>
                  </a:txBody>
                  <a:tcPr marL="2279" marR="2279" marT="2279" marB="0" anchor="ctr"/>
                </a:tc>
                <a:tc>
                  <a:txBody>
                    <a:bodyPr/>
                    <a:lstStyle/>
                    <a:p>
                      <a:pPr algn="ctr" fontAlgn="ctr">
                        <a:buNone/>
                      </a:pPr>
                      <a:r>
                        <a:rPr lang="en-US" sz="1800" u="none" strike="noStrike" dirty="0">
                          <a:effectLst/>
                        </a:rPr>
                        <a:t>Best Use Case</a:t>
                      </a:r>
                      <a:endParaRPr lang="en-US" sz="1800" b="1" i="0" u="none" strike="noStrike" dirty="0">
                        <a:solidFill>
                          <a:srgbClr val="000000"/>
                        </a:solidFill>
                        <a:effectLst/>
                        <a:latin typeface="Calibri" panose="020F0502020204030204" pitchFamily="34" charset="0"/>
                      </a:endParaRPr>
                    </a:p>
                  </a:txBody>
                  <a:tcPr marL="2279" marR="2279" marT="2279" marB="0" anchor="ctr"/>
                </a:tc>
                <a:tc>
                  <a:txBody>
                    <a:bodyPr/>
                    <a:lstStyle/>
                    <a:p>
                      <a:pPr algn="ctr" fontAlgn="ctr">
                        <a:buNone/>
                      </a:pPr>
                      <a:r>
                        <a:rPr lang="en-US" sz="1800" u="none" strike="noStrike" dirty="0">
                          <a:effectLst/>
                        </a:rPr>
                        <a:t>Risk Score Type</a:t>
                      </a:r>
                      <a:endParaRPr lang="en-US" sz="1800" b="1" i="0" u="none" strike="noStrike" dirty="0">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3991496657"/>
                  </a:ext>
                </a:extLst>
              </a:tr>
              <a:tr h="600423">
                <a:tc>
                  <a:txBody>
                    <a:bodyPr/>
                    <a:lstStyle/>
                    <a:p>
                      <a:pPr algn="l" fontAlgn="ctr">
                        <a:buNone/>
                      </a:pPr>
                      <a:r>
                        <a:rPr lang="en-US" sz="1600" b="1" u="none" strike="noStrike" dirty="0">
                          <a:effectLst/>
                        </a:rPr>
                        <a:t>Mosca’s Theorem (XYZ Inequality)</a:t>
                      </a:r>
                      <a:endParaRPr lang="en-US" sz="1600" b="1" i="0" u="none" strike="noStrike" dirty="0">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dirty="0">
                          <a:effectLst/>
                        </a:rPr>
                        <a:t>$X + Y &gt; Z$ (where $X$ = shelf-life, $Y$ = migration time, $Z$ = time to CRQC)</a:t>
                      </a:r>
                      <a:endParaRPr lang="en-US" sz="1400" b="0" i="0" u="none" strike="noStrike" dirty="0">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Urgency estimation and determining the need for immediate post-quantum preparation</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Binary (Pass/Fail)</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787285393"/>
                  </a:ext>
                </a:extLst>
              </a:tr>
              <a:tr h="700080">
                <a:tc>
                  <a:txBody>
                    <a:bodyPr/>
                    <a:lstStyle/>
                    <a:p>
                      <a:pPr algn="l" fontAlgn="ctr">
                        <a:buNone/>
                      </a:pPr>
                      <a:r>
                        <a:rPr lang="en-US" sz="1600" b="1" u="none" strike="noStrike">
                          <a:effectLst/>
                        </a:rPr>
                        <a:t>QARS (Quantum-Adjusted Risk Score) / PAREK Framework</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Weighted composite of Timeline ( $T$ ), Sensitivity ( $S$ ), and Exposure ( $E$ ): $wT \cdot T + wS \cdot S + wE \cdot E$</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Sector-specific prioritization for finance, defense, and critical infrastructure</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Continuous Index (0.0 to 1.0)</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243755020"/>
                  </a:ext>
                </a:extLst>
              </a:tr>
              <a:tr h="642939">
                <a:tc>
                  <a:txBody>
                    <a:bodyPr/>
                    <a:lstStyle/>
                    <a:p>
                      <a:pPr algn="l" fontAlgn="ctr">
                        <a:buNone/>
                      </a:pPr>
                      <a:r>
                        <a:rPr lang="en-US" sz="1600" b="1" u="none" strike="noStrike">
                          <a:effectLst/>
                        </a:rPr>
                        <a:t>CARAF (Crypto-Agility Risk Assessment Framework)</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$Risk = Timeline \times Cost$</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dirty="0">
                          <a:effectLst/>
                        </a:rPr>
                        <a:t>Evaluating implementation complexity (hard-coded vs. software) and replacement capacity</a:t>
                      </a:r>
                      <a:endParaRPr lang="en-US" sz="1400" b="0" i="0" u="none" strike="noStrike" dirty="0">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Categorical (1-4 / Low to Critical) or Maturity Level</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1384973173"/>
                  </a:ext>
                </a:extLst>
              </a:tr>
              <a:tr h="842491">
                <a:tc>
                  <a:txBody>
                    <a:bodyPr/>
                    <a:lstStyle/>
                    <a:p>
                      <a:pPr algn="l" fontAlgn="ctr">
                        <a:buNone/>
                      </a:pPr>
                      <a:r>
                        <a:rPr lang="en-US" sz="1600" b="1" u="none" strike="noStrike">
                          <a:effectLst/>
                        </a:rPr>
                        <a:t>QUASAR (Quantum-Ready Architecture for Security and Risk Management)</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Readiness matrices (technical, security, and operational scores)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High-throughput environments (Telecommunications) and addressing lattice-based congestion risks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Readiness Levels (PQR)</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3399128941"/>
                  </a:ext>
                </a:extLst>
              </a:tr>
              <a:tr h="600423">
                <a:tc>
                  <a:txBody>
                    <a:bodyPr/>
                    <a:lstStyle/>
                    <a:p>
                      <a:pPr algn="l" fontAlgn="ctr">
                        <a:buNone/>
                      </a:pPr>
                      <a:r>
                        <a:rPr lang="en-US" sz="1600" b="1" u="none" strike="noStrike">
                          <a:effectLst/>
                        </a:rPr>
                        <a:t>FS-ISAC PQC Risk Model</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Stochastic/Probabilistic scenarios (optimistic, median, pessimistic)</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Financial asset prioritization based on "Harvest Now, Decrypt Later" (HNDL) and retention windows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Maturity Level / Probabilistic Risk</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1864139595"/>
                  </a:ext>
                </a:extLst>
              </a:tr>
              <a:tr h="642939">
                <a:tc>
                  <a:txBody>
                    <a:bodyPr/>
                    <a:lstStyle/>
                    <a:p>
                      <a:pPr algn="l" fontAlgn="ctr">
                        <a:buNone/>
                      </a:pPr>
                      <a:r>
                        <a:rPr lang="en-US" sz="1600" b="1" u="none" strike="noStrike">
                          <a:effectLst/>
                        </a:rPr>
                        <a:t>QERS (Quantum Encryption Resilience Score)</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Normalized hardware-level metrics (latency, CPU load, energy, packet loss, key size)</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Operational impact assessment for resource-constrained hardware</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Normalized Score (0-100)</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2104342538"/>
                  </a:ext>
                </a:extLst>
              </a:tr>
              <a:tr h="600423">
                <a:tc>
                  <a:txBody>
                    <a:bodyPr/>
                    <a:lstStyle/>
                    <a:p>
                      <a:pPr algn="l" fontAlgn="ctr">
                        <a:buNone/>
                      </a:pPr>
                      <a:r>
                        <a:rPr lang="en-US" sz="1600" b="1" u="none" strike="noStrike">
                          <a:effectLst/>
                        </a:rPr>
                        <a:t>IBM Quantum-Safe Readiness Index (QSRI)</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14 indicators across Discovery, Observability, and Transformation phases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Macro-level organizational benchmarking and C-level governance</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Maturity Level (0-100 scale)</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462485207"/>
                  </a:ext>
                </a:extLst>
              </a:tr>
              <a:tr h="600423">
                <a:tc>
                  <a:txBody>
                    <a:bodyPr/>
                    <a:lstStyle/>
                    <a:p>
                      <a:pPr algn="l" fontAlgn="ctr">
                        <a:buNone/>
                      </a:pPr>
                      <a:r>
                        <a:rPr lang="en-US" sz="1600" b="1" u="none" strike="noStrike">
                          <a:effectLst/>
                        </a:rPr>
                        <a:t>Migration Readiness Score</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Percentage of prepared codebase based on safe, hybrid, and vulnerable algorithm detection</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Automated assessment of software source code and CI/CD pipelines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Percentage Score (0-100%)</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271414128"/>
                  </a:ext>
                </a:extLst>
              </a:tr>
              <a:tr h="700080">
                <a:tc>
                  <a:txBody>
                    <a:bodyPr/>
                    <a:lstStyle/>
                    <a:p>
                      <a:pPr algn="l" fontAlgn="ctr">
                        <a:buNone/>
                      </a:pPr>
                      <a:r>
                        <a:rPr lang="en-US" sz="1600" b="1" u="none" strike="noStrike">
                          <a:effectLst/>
                        </a:rPr>
                        <a:t>PQFIF (Post-Quantum Financial Infrastructure Framework)</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Automated vulnerability discovery and AI-powered migration orchestration</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Securing digital asset ecosystems, institutional wallets, and settlement systems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Maturity Level / Priority Score</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4140204425"/>
                  </a:ext>
                </a:extLst>
              </a:tr>
              <a:tr h="600423">
                <a:tc>
                  <a:txBody>
                    <a:bodyPr/>
                    <a:lstStyle/>
                    <a:p>
                      <a:pPr algn="l" fontAlgn="ctr">
                        <a:buNone/>
                      </a:pPr>
                      <a:r>
                        <a:rPr lang="en-US" sz="1600" b="1" u="none" strike="noStrike">
                          <a:effectLst/>
                        </a:rPr>
                        <a:t>SQOUT Framework</a:t>
                      </a:r>
                      <a:endParaRPr lang="en-US" sz="1600" b="1"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Likelihood aggregation across sequential adversarial kill chains (Reconnaissance to Impact)</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Vulnerability analysis for quantum communication and QKD networks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Likelihood / Impact Index</a:t>
                      </a:r>
                      <a:endParaRPr lang="en-US" sz="1400" b="0" i="0" u="none" strike="noStrike">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3526803381"/>
                  </a:ext>
                </a:extLst>
              </a:tr>
              <a:tr h="530205">
                <a:tc>
                  <a:txBody>
                    <a:bodyPr/>
                    <a:lstStyle/>
                    <a:p>
                      <a:pPr algn="l" fontAlgn="ctr">
                        <a:buNone/>
                      </a:pPr>
                      <a:r>
                        <a:rPr lang="en-US" sz="1600" b="1" u="none" strike="noStrike" dirty="0">
                          <a:effectLst/>
                        </a:rPr>
                        <a:t>F-AHP (Fuzzy Analytic Hierarchy Process)</a:t>
                      </a:r>
                      <a:endParaRPr lang="en-US" sz="1600" b="1" i="0" u="none" strike="noStrike" dirty="0">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a:effectLst/>
                        </a:rPr>
                        <a:t>Fuzzy logic and expert pairwise comparison rankings</a:t>
                      </a:r>
                      <a:endParaRPr lang="en-US" sz="1400" b="0" i="0" u="none" strike="noStrike">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dirty="0">
                          <a:effectLst/>
                        </a:rPr>
                        <a:t>Managing ambiguity in human judgment for ranking critical components</a:t>
                      </a:r>
                      <a:endParaRPr lang="en-US" sz="1400" b="0" i="0" u="none" strike="noStrike" dirty="0">
                        <a:solidFill>
                          <a:srgbClr val="000000"/>
                        </a:solidFill>
                        <a:effectLst/>
                        <a:latin typeface="Calibri" panose="020F0502020204030204" pitchFamily="34" charset="0"/>
                      </a:endParaRPr>
                    </a:p>
                  </a:txBody>
                  <a:tcPr marL="2279" marR="2279" marT="2279" marB="0" anchor="ctr"/>
                </a:tc>
                <a:tc>
                  <a:txBody>
                    <a:bodyPr/>
                    <a:lstStyle/>
                    <a:p>
                      <a:pPr algn="l" fontAlgn="ctr">
                        <a:buNone/>
                      </a:pPr>
                      <a:r>
                        <a:rPr lang="en-US" sz="1400" u="none" strike="noStrike" dirty="0">
                          <a:effectLst/>
                        </a:rPr>
                        <a:t>Priority Ranking / Weighted List</a:t>
                      </a:r>
                      <a:endParaRPr lang="en-US" sz="1400" b="0" i="0" u="none" strike="noStrike" dirty="0">
                        <a:solidFill>
                          <a:srgbClr val="000000"/>
                        </a:solidFill>
                        <a:effectLst/>
                        <a:latin typeface="Calibri" panose="020F0502020204030204" pitchFamily="34" charset="0"/>
                      </a:endParaRPr>
                    </a:p>
                  </a:txBody>
                  <a:tcPr marL="2279" marR="2279" marT="2279" marB="0" anchor="ctr"/>
                </a:tc>
                <a:extLst>
                  <a:ext uri="{0D108BD9-81ED-4DB2-BD59-A6C34878D82A}">
                    <a16:rowId xmlns:a16="http://schemas.microsoft.com/office/drawing/2014/main" val="1272703763"/>
                  </a:ext>
                </a:extLst>
              </a:tr>
            </a:tbl>
          </a:graphicData>
        </a:graphic>
      </p:graphicFrame>
      <p:sp>
        <p:nvSpPr>
          <p:cNvPr id="6" name="TextBox 5">
            <a:extLst>
              <a:ext uri="{FF2B5EF4-FFF2-40B4-BE49-F238E27FC236}">
                <a16:creationId xmlns:a16="http://schemas.microsoft.com/office/drawing/2014/main" id="{A99DB80A-C1C9-B3FE-D2D4-F36191974277}"/>
              </a:ext>
            </a:extLst>
          </p:cNvPr>
          <p:cNvSpPr txBox="1"/>
          <p:nvPr/>
        </p:nvSpPr>
        <p:spPr>
          <a:xfrm>
            <a:off x="871578" y="76200"/>
            <a:ext cx="12070080" cy="584775"/>
          </a:xfrm>
          <a:prstGeom prst="rect">
            <a:avLst/>
          </a:prstGeom>
          <a:noFill/>
        </p:spPr>
        <p:txBody>
          <a:bodyPr wrap="square">
            <a:spAutoFit/>
          </a:bodyPr>
          <a:lstStyle/>
          <a:p>
            <a:pPr algn="ctr">
              <a:defRPr sz="3600" b="0">
                <a:solidFill>
                  <a:srgbClr val="1E293B"/>
                </a:solidFill>
                <a:latin typeface="Segoe UI"/>
              </a:defRPr>
            </a:pPr>
            <a:r>
              <a:rPr lang="en-US" sz="3200" b="1" dirty="0"/>
              <a:t>Methodologies of Quantum Risk Models</a:t>
            </a:r>
            <a:endParaRPr sz="32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FAC8-8494-2E82-DB15-C4A2831806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402E02-EADB-0E44-04CA-ADACA701A3D1}"/>
              </a:ext>
            </a:extLst>
          </p:cNvPr>
          <p:cNvSpPr txBox="1"/>
          <p:nvPr/>
        </p:nvSpPr>
        <p:spPr>
          <a:xfrm>
            <a:off x="871578" y="76200"/>
            <a:ext cx="12070080" cy="584775"/>
          </a:xfrm>
          <a:prstGeom prst="rect">
            <a:avLst/>
          </a:prstGeom>
          <a:noFill/>
        </p:spPr>
        <p:txBody>
          <a:bodyPr wrap="square">
            <a:spAutoFit/>
          </a:bodyPr>
          <a:lstStyle/>
          <a:p>
            <a:pPr algn="ctr">
              <a:defRPr sz="3600" b="0">
                <a:solidFill>
                  <a:srgbClr val="1E293B"/>
                </a:solidFill>
                <a:latin typeface="Segoe UI"/>
              </a:defRPr>
            </a:pPr>
            <a:r>
              <a:rPr lang="en-US" sz="3200" b="1" dirty="0"/>
              <a:t>Methodologies of Quantum Risk Models</a:t>
            </a:r>
            <a:endParaRPr sz="3200" b="1" dirty="0"/>
          </a:p>
        </p:txBody>
      </p:sp>
      <p:pic>
        <p:nvPicPr>
          <p:cNvPr id="3" name="Picture 2">
            <a:extLst>
              <a:ext uri="{FF2B5EF4-FFF2-40B4-BE49-F238E27FC236}">
                <a16:creationId xmlns:a16="http://schemas.microsoft.com/office/drawing/2014/main" id="{7EDCFEE9-E5C1-9664-BE64-78DDEF6995B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400" y="1905000"/>
            <a:ext cx="14325600" cy="4419600"/>
          </a:xfrm>
          <a:prstGeom prst="rect">
            <a:avLst/>
          </a:prstGeom>
          <a:ln>
            <a:solidFill>
              <a:schemeClr val="accent1"/>
            </a:solidFill>
          </a:ln>
        </p:spPr>
      </p:pic>
    </p:spTree>
    <p:extLst>
      <p:ext uri="{BB962C8B-B14F-4D97-AF65-F5344CB8AC3E}">
        <p14:creationId xmlns:p14="http://schemas.microsoft.com/office/powerpoint/2010/main" val="1196657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E083D-A5A3-7A46-DF17-BC0A3F3865C5}"/>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99DE8E7E-ED4D-797E-6EFD-66D05D231F7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977172" y="488382"/>
            <a:ext cx="7272228" cy="1879861"/>
          </a:xfrm>
          <a:prstGeom prst="rect">
            <a:avLst/>
          </a:prstGeom>
        </p:spPr>
      </p:pic>
      <p:sp>
        <p:nvSpPr>
          <p:cNvPr id="4" name="TextBox 3">
            <a:extLst>
              <a:ext uri="{FF2B5EF4-FFF2-40B4-BE49-F238E27FC236}">
                <a16:creationId xmlns:a16="http://schemas.microsoft.com/office/drawing/2014/main" id="{00518838-62F5-7418-3573-F4F82343DA3D}"/>
              </a:ext>
            </a:extLst>
          </p:cNvPr>
          <p:cNvSpPr txBox="1"/>
          <p:nvPr/>
        </p:nvSpPr>
        <p:spPr>
          <a:xfrm>
            <a:off x="871578" y="76200"/>
            <a:ext cx="12070080" cy="584775"/>
          </a:xfrm>
          <a:prstGeom prst="rect">
            <a:avLst/>
          </a:prstGeom>
          <a:noFill/>
        </p:spPr>
        <p:txBody>
          <a:bodyPr wrap="square">
            <a:spAutoFit/>
          </a:bodyPr>
          <a:lstStyle/>
          <a:p>
            <a:pPr algn="l">
              <a:defRPr sz="3600" b="0">
                <a:solidFill>
                  <a:srgbClr val="1E293B"/>
                </a:solidFill>
                <a:latin typeface="Segoe UI"/>
              </a:defRPr>
            </a:pPr>
            <a:r>
              <a:rPr lang="en-US" sz="3200" b="1" dirty="0"/>
              <a:t>Quantum Risk Assessment (QRA) based on </a:t>
            </a:r>
            <a:r>
              <a:rPr sz="3200" b="1" dirty="0"/>
              <a:t>Mosca's Inequality</a:t>
            </a:r>
          </a:p>
        </p:txBody>
      </p:sp>
      <p:sp>
        <p:nvSpPr>
          <p:cNvPr id="7" name="Rectangle 6">
            <a:extLst>
              <a:ext uri="{FF2B5EF4-FFF2-40B4-BE49-F238E27FC236}">
                <a16:creationId xmlns:a16="http://schemas.microsoft.com/office/drawing/2014/main" id="{DDEB8FF4-F124-1B01-80B0-00BD66FF126D}"/>
              </a:ext>
            </a:extLst>
          </p:cNvPr>
          <p:cNvSpPr/>
          <p:nvPr/>
        </p:nvSpPr>
        <p:spPr>
          <a:xfrm>
            <a:off x="381000" y="911486"/>
            <a:ext cx="6583680" cy="712953"/>
          </a:xfrm>
          <a:prstGeom prst="rect">
            <a:avLst/>
          </a:prstGeom>
          <a:solidFill>
            <a:srgbClr val="F8FAFC"/>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592"/>
          </a:p>
        </p:txBody>
      </p:sp>
      <p:sp>
        <p:nvSpPr>
          <p:cNvPr id="8" name="TextBox 7">
            <a:extLst>
              <a:ext uri="{FF2B5EF4-FFF2-40B4-BE49-F238E27FC236}">
                <a16:creationId xmlns:a16="http://schemas.microsoft.com/office/drawing/2014/main" id="{FE595A7B-D0BB-46E4-6573-CD06806352CF}"/>
              </a:ext>
            </a:extLst>
          </p:cNvPr>
          <p:cNvSpPr txBox="1"/>
          <p:nvPr/>
        </p:nvSpPr>
        <p:spPr>
          <a:xfrm>
            <a:off x="381000" y="966350"/>
            <a:ext cx="6583680" cy="683264"/>
          </a:xfrm>
          <a:prstGeom prst="rect">
            <a:avLst/>
          </a:prstGeom>
          <a:noFill/>
        </p:spPr>
        <p:txBody>
          <a:bodyPr wrap="square">
            <a:spAutoFit/>
          </a:bodyPr>
          <a:lstStyle/>
          <a:p>
            <a:pPr algn="ctr">
              <a:defRPr sz="3200" b="1">
                <a:solidFill>
                  <a:srgbClr val="0F172A"/>
                </a:solidFill>
                <a:latin typeface="Courier New"/>
              </a:defRPr>
            </a:pPr>
            <a:r>
              <a:rPr sz="3840" dirty="0"/>
              <a:t>X + Y &lt; Z</a:t>
            </a:r>
          </a:p>
        </p:txBody>
      </p:sp>
      <p:sp>
        <p:nvSpPr>
          <p:cNvPr id="9" name="TextBox 8">
            <a:extLst>
              <a:ext uri="{FF2B5EF4-FFF2-40B4-BE49-F238E27FC236}">
                <a16:creationId xmlns:a16="http://schemas.microsoft.com/office/drawing/2014/main" id="{FF2DE771-81FD-D8DC-6FB4-0A84FF2D11FE}"/>
              </a:ext>
            </a:extLst>
          </p:cNvPr>
          <p:cNvSpPr txBox="1"/>
          <p:nvPr/>
        </p:nvSpPr>
        <p:spPr>
          <a:xfrm>
            <a:off x="877824" y="2325624"/>
            <a:ext cx="5486400" cy="461665"/>
          </a:xfrm>
          <a:prstGeom prst="rect">
            <a:avLst/>
          </a:prstGeom>
          <a:noFill/>
        </p:spPr>
        <p:txBody>
          <a:bodyPr wrap="square">
            <a:spAutoFit/>
          </a:bodyPr>
          <a:lstStyle/>
          <a:p>
            <a:pPr algn="l">
              <a:defRPr sz="2000" b="1">
                <a:solidFill>
                  <a:srgbClr val="334155"/>
                </a:solidFill>
                <a:latin typeface="Segoe UI"/>
              </a:defRPr>
            </a:pPr>
            <a:r>
              <a:rPr sz="2400"/>
              <a:t>Variables</a:t>
            </a:r>
          </a:p>
        </p:txBody>
      </p:sp>
      <p:sp>
        <p:nvSpPr>
          <p:cNvPr id="10" name="TextBox 9">
            <a:extLst>
              <a:ext uri="{FF2B5EF4-FFF2-40B4-BE49-F238E27FC236}">
                <a16:creationId xmlns:a16="http://schemas.microsoft.com/office/drawing/2014/main" id="{5F2FBCD4-540E-45D2-8A59-6BF2089BAC6C}"/>
              </a:ext>
            </a:extLst>
          </p:cNvPr>
          <p:cNvSpPr txBox="1"/>
          <p:nvPr/>
        </p:nvSpPr>
        <p:spPr>
          <a:xfrm>
            <a:off x="877824" y="2874264"/>
            <a:ext cx="5815584" cy="1179810"/>
          </a:xfrm>
          <a:prstGeom prst="rect">
            <a:avLst/>
          </a:prstGeom>
          <a:noFill/>
        </p:spPr>
        <p:txBody>
          <a:bodyPr wrap="square">
            <a:spAutoFit/>
          </a:bodyPr>
          <a:lstStyle/>
          <a:p>
            <a:pPr>
              <a:spcAft>
                <a:spcPts val="960"/>
              </a:spcAft>
            </a:pPr>
            <a:r>
              <a:rPr sz="1800" b="1">
                <a:solidFill>
                  <a:srgbClr val="00D4FF"/>
                </a:solidFill>
                <a:latin typeface="Segoe UI"/>
              </a:rPr>
              <a:t>▸ </a:t>
            </a:r>
            <a:r>
              <a:rPr sz="1800">
                <a:solidFill>
                  <a:srgbClr val="475569"/>
                </a:solidFill>
                <a:latin typeface="Segoe UI"/>
              </a:rPr>
              <a:t>X = Data Shelf-Life (years data remains valuable)</a:t>
            </a:r>
          </a:p>
          <a:p>
            <a:pPr>
              <a:spcAft>
                <a:spcPts val="960"/>
              </a:spcAft>
            </a:pPr>
            <a:r>
              <a:rPr sz="1800" b="1">
                <a:solidFill>
                  <a:srgbClr val="00D4FF"/>
                </a:solidFill>
                <a:latin typeface="Segoe UI"/>
              </a:rPr>
              <a:t>▸ </a:t>
            </a:r>
            <a:r>
              <a:rPr sz="1800">
                <a:solidFill>
                  <a:srgbClr val="475569"/>
                </a:solidFill>
                <a:latin typeface="Segoe UI"/>
              </a:rPr>
              <a:t>Y = Migration Timeline (years to implement PQC)</a:t>
            </a:r>
          </a:p>
          <a:p>
            <a:pPr>
              <a:spcAft>
                <a:spcPts val="960"/>
              </a:spcAft>
            </a:pPr>
            <a:r>
              <a:rPr sz="1800" b="1">
                <a:solidFill>
                  <a:srgbClr val="00D4FF"/>
                </a:solidFill>
                <a:latin typeface="Segoe UI"/>
              </a:rPr>
              <a:t>▸ </a:t>
            </a:r>
            <a:r>
              <a:rPr sz="1800">
                <a:solidFill>
                  <a:srgbClr val="475569"/>
                </a:solidFill>
                <a:latin typeface="Segoe UI"/>
              </a:rPr>
              <a:t>Z = Threat Horizon (years until CRQC arrival)</a:t>
            </a:r>
          </a:p>
        </p:txBody>
      </p:sp>
      <p:sp>
        <p:nvSpPr>
          <p:cNvPr id="11" name="TextBox 10">
            <a:extLst>
              <a:ext uri="{FF2B5EF4-FFF2-40B4-BE49-F238E27FC236}">
                <a16:creationId xmlns:a16="http://schemas.microsoft.com/office/drawing/2014/main" id="{BA01D2EE-4490-A88D-FFFF-0E160CE98B9E}"/>
              </a:ext>
            </a:extLst>
          </p:cNvPr>
          <p:cNvSpPr txBox="1"/>
          <p:nvPr/>
        </p:nvSpPr>
        <p:spPr>
          <a:xfrm>
            <a:off x="7680960" y="2325624"/>
            <a:ext cx="5486400" cy="461665"/>
          </a:xfrm>
          <a:prstGeom prst="rect">
            <a:avLst/>
          </a:prstGeom>
          <a:noFill/>
        </p:spPr>
        <p:txBody>
          <a:bodyPr wrap="square">
            <a:spAutoFit/>
          </a:bodyPr>
          <a:lstStyle/>
          <a:p>
            <a:pPr algn="l">
              <a:defRPr sz="2000" b="1">
                <a:solidFill>
                  <a:srgbClr val="334155"/>
                </a:solidFill>
                <a:latin typeface="Segoe UI"/>
              </a:defRPr>
            </a:pPr>
            <a:r>
              <a:rPr sz="2400"/>
              <a:t>Interpretation</a:t>
            </a:r>
          </a:p>
        </p:txBody>
      </p:sp>
      <p:sp>
        <p:nvSpPr>
          <p:cNvPr id="12" name="TextBox 11">
            <a:extLst>
              <a:ext uri="{FF2B5EF4-FFF2-40B4-BE49-F238E27FC236}">
                <a16:creationId xmlns:a16="http://schemas.microsoft.com/office/drawing/2014/main" id="{7EA24A18-A39A-7D13-9A48-5A0EB0775A1A}"/>
              </a:ext>
            </a:extLst>
          </p:cNvPr>
          <p:cNvSpPr txBox="1"/>
          <p:nvPr/>
        </p:nvSpPr>
        <p:spPr>
          <a:xfrm>
            <a:off x="7680960" y="2874264"/>
            <a:ext cx="5815584" cy="1456809"/>
          </a:xfrm>
          <a:prstGeom prst="rect">
            <a:avLst/>
          </a:prstGeom>
          <a:noFill/>
        </p:spPr>
        <p:txBody>
          <a:bodyPr wrap="square">
            <a:spAutoFit/>
          </a:bodyPr>
          <a:lstStyle/>
          <a:p>
            <a:pPr>
              <a:spcAft>
                <a:spcPts val="960"/>
              </a:spcAft>
            </a:pPr>
            <a:r>
              <a:rPr sz="1800" b="1">
                <a:solidFill>
                  <a:srgbClr val="00D4FF"/>
                </a:solidFill>
                <a:latin typeface="Segoe UI"/>
              </a:rPr>
              <a:t>▸ </a:t>
            </a:r>
            <a:r>
              <a:rPr sz="1800">
                <a:solidFill>
                  <a:srgbClr val="475569"/>
                </a:solidFill>
                <a:latin typeface="Segoe UI"/>
              </a:rPr>
              <a:t>If X + Y &lt; Z: Safe margin exists</a:t>
            </a:r>
          </a:p>
          <a:p>
            <a:pPr>
              <a:spcAft>
                <a:spcPts val="960"/>
              </a:spcAft>
            </a:pPr>
            <a:r>
              <a:rPr sz="1800" b="1">
                <a:solidFill>
                  <a:srgbClr val="00D4FF"/>
                </a:solidFill>
                <a:latin typeface="Segoe UI"/>
              </a:rPr>
              <a:t>▸ </a:t>
            </a:r>
            <a:r>
              <a:rPr sz="1800">
                <a:solidFill>
                  <a:srgbClr val="475569"/>
                </a:solidFill>
                <a:latin typeface="Segoe UI"/>
              </a:rPr>
              <a:t>If X + Y ≥ Z: Critical risk — begin migration immediately</a:t>
            </a:r>
          </a:p>
          <a:p>
            <a:pPr>
              <a:spcAft>
                <a:spcPts val="960"/>
              </a:spcAft>
            </a:pPr>
            <a:r>
              <a:rPr sz="1800" b="1">
                <a:solidFill>
                  <a:srgbClr val="00D4FF"/>
                </a:solidFill>
                <a:latin typeface="Segoe UI"/>
              </a:rPr>
              <a:t>▸ </a:t>
            </a:r>
            <a:r>
              <a:rPr sz="1800">
                <a:solidFill>
                  <a:srgbClr val="475569"/>
                </a:solidFill>
                <a:latin typeface="Segoe UI"/>
              </a:rPr>
              <a:t>Smaller ratio = Lower quantum risk</a:t>
            </a:r>
          </a:p>
        </p:txBody>
      </p:sp>
      <p:sp>
        <p:nvSpPr>
          <p:cNvPr id="13" name="Rectangle 12">
            <a:extLst>
              <a:ext uri="{FF2B5EF4-FFF2-40B4-BE49-F238E27FC236}">
                <a16:creationId xmlns:a16="http://schemas.microsoft.com/office/drawing/2014/main" id="{688A2F8C-9328-6489-3B5D-7B8AF34AAEC0}"/>
              </a:ext>
            </a:extLst>
          </p:cNvPr>
          <p:cNvSpPr/>
          <p:nvPr/>
        </p:nvSpPr>
        <p:spPr>
          <a:xfrm>
            <a:off x="7132320" y="4876800"/>
            <a:ext cx="15240" cy="27432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592"/>
          </a:p>
        </p:txBody>
      </p:sp>
      <p:sp>
        <p:nvSpPr>
          <p:cNvPr id="15" name="TextBox 14">
            <a:extLst>
              <a:ext uri="{FF2B5EF4-FFF2-40B4-BE49-F238E27FC236}">
                <a16:creationId xmlns:a16="http://schemas.microsoft.com/office/drawing/2014/main" id="{B65A55B8-58EF-0F57-3D0C-03E4CF190A65}"/>
              </a:ext>
            </a:extLst>
          </p:cNvPr>
          <p:cNvSpPr txBox="1"/>
          <p:nvPr/>
        </p:nvSpPr>
        <p:spPr>
          <a:xfrm>
            <a:off x="877824" y="4739696"/>
            <a:ext cx="5486400" cy="461665"/>
          </a:xfrm>
          <a:prstGeom prst="rect">
            <a:avLst/>
          </a:prstGeom>
          <a:noFill/>
        </p:spPr>
        <p:txBody>
          <a:bodyPr wrap="square">
            <a:spAutoFit/>
          </a:bodyPr>
          <a:lstStyle/>
          <a:p>
            <a:pPr algn="l">
              <a:defRPr sz="2000" b="1">
                <a:solidFill>
                  <a:srgbClr val="334155"/>
                </a:solidFill>
                <a:latin typeface="Segoe UI"/>
              </a:defRPr>
            </a:pPr>
            <a:r>
              <a:rPr sz="2400" dirty="0"/>
              <a:t>CBOM Elements</a:t>
            </a:r>
          </a:p>
        </p:txBody>
      </p:sp>
      <p:sp>
        <p:nvSpPr>
          <p:cNvPr id="16" name="TextBox 15">
            <a:extLst>
              <a:ext uri="{FF2B5EF4-FFF2-40B4-BE49-F238E27FC236}">
                <a16:creationId xmlns:a16="http://schemas.microsoft.com/office/drawing/2014/main" id="{7CCCC8B6-2B05-603B-17E7-94F83237E0D2}"/>
              </a:ext>
            </a:extLst>
          </p:cNvPr>
          <p:cNvSpPr txBox="1"/>
          <p:nvPr/>
        </p:nvSpPr>
        <p:spPr>
          <a:xfrm>
            <a:off x="877824" y="5288336"/>
            <a:ext cx="5815584" cy="1990288"/>
          </a:xfrm>
          <a:prstGeom prst="rect">
            <a:avLst/>
          </a:prstGeom>
          <a:noFill/>
        </p:spPr>
        <p:txBody>
          <a:bodyPr wrap="square">
            <a:spAutoFit/>
          </a:bodyPr>
          <a:lstStyle/>
          <a:p>
            <a:pPr>
              <a:spcAft>
                <a:spcPts val="960"/>
              </a:spcAft>
            </a:pPr>
            <a:r>
              <a:rPr sz="1800" b="1" dirty="0">
                <a:solidFill>
                  <a:srgbClr val="00D4FF"/>
                </a:solidFill>
                <a:latin typeface="Segoe UI"/>
              </a:rPr>
              <a:t>▸ </a:t>
            </a:r>
            <a:r>
              <a:rPr sz="1800" dirty="0">
                <a:solidFill>
                  <a:srgbClr val="475569"/>
                </a:solidFill>
                <a:latin typeface="Segoe UI"/>
              </a:rPr>
              <a:t>Algorithm Type (RSA, ECC, AES, ML-KEM, ML-DSA)</a:t>
            </a:r>
          </a:p>
          <a:p>
            <a:pPr>
              <a:spcAft>
                <a:spcPts val="960"/>
              </a:spcAft>
            </a:pPr>
            <a:r>
              <a:rPr sz="1800" b="1" dirty="0">
                <a:solidFill>
                  <a:srgbClr val="00D4FF"/>
                </a:solidFill>
                <a:latin typeface="Segoe UI"/>
              </a:rPr>
              <a:t>▸ </a:t>
            </a:r>
            <a:r>
              <a:rPr sz="1800" dirty="0">
                <a:solidFill>
                  <a:srgbClr val="475569"/>
                </a:solidFill>
                <a:latin typeface="Segoe UI"/>
              </a:rPr>
              <a:t>Key Size &amp; Certificate Expiry</a:t>
            </a:r>
          </a:p>
          <a:p>
            <a:pPr>
              <a:spcAft>
                <a:spcPts val="960"/>
              </a:spcAft>
            </a:pPr>
            <a:r>
              <a:rPr sz="1800" b="1" dirty="0">
                <a:solidFill>
                  <a:srgbClr val="00D4FF"/>
                </a:solidFill>
                <a:latin typeface="Segoe UI"/>
              </a:rPr>
              <a:t>▸ </a:t>
            </a:r>
            <a:r>
              <a:rPr sz="1800" dirty="0">
                <a:solidFill>
                  <a:srgbClr val="475569"/>
                </a:solidFill>
                <a:latin typeface="Segoe UI"/>
              </a:rPr>
              <a:t>Protocol Usage (TLS, IPsec, SSH)</a:t>
            </a:r>
          </a:p>
          <a:p>
            <a:pPr>
              <a:spcAft>
                <a:spcPts val="960"/>
              </a:spcAft>
            </a:pPr>
            <a:r>
              <a:rPr sz="1800" b="1" dirty="0">
                <a:solidFill>
                  <a:srgbClr val="00D4FF"/>
                </a:solidFill>
                <a:latin typeface="Segoe UI"/>
              </a:rPr>
              <a:t>▸ </a:t>
            </a:r>
            <a:r>
              <a:rPr sz="1800" dirty="0">
                <a:solidFill>
                  <a:srgbClr val="475569"/>
                </a:solidFill>
                <a:latin typeface="Segoe UI"/>
              </a:rPr>
              <a:t>PQC Status &amp; Migration Path</a:t>
            </a:r>
          </a:p>
          <a:p>
            <a:pPr>
              <a:spcAft>
                <a:spcPts val="960"/>
              </a:spcAft>
            </a:pPr>
            <a:r>
              <a:rPr sz="1800" b="1" dirty="0">
                <a:solidFill>
                  <a:srgbClr val="00D4FF"/>
                </a:solidFill>
                <a:latin typeface="Segoe UI"/>
              </a:rPr>
              <a:t>▸ </a:t>
            </a:r>
            <a:r>
              <a:rPr sz="1800" dirty="0">
                <a:solidFill>
                  <a:srgbClr val="475569"/>
                </a:solidFill>
                <a:latin typeface="Segoe UI"/>
              </a:rPr>
              <a:t>Asset Dependencies</a:t>
            </a:r>
          </a:p>
        </p:txBody>
      </p:sp>
      <p:sp>
        <p:nvSpPr>
          <p:cNvPr id="17" name="TextBox 16">
            <a:extLst>
              <a:ext uri="{FF2B5EF4-FFF2-40B4-BE49-F238E27FC236}">
                <a16:creationId xmlns:a16="http://schemas.microsoft.com/office/drawing/2014/main" id="{793A6208-4E48-8EAA-AB79-E6F90A74CA8E}"/>
              </a:ext>
            </a:extLst>
          </p:cNvPr>
          <p:cNvSpPr txBox="1"/>
          <p:nvPr/>
        </p:nvSpPr>
        <p:spPr>
          <a:xfrm>
            <a:off x="7461504" y="4739696"/>
            <a:ext cx="6035040" cy="461665"/>
          </a:xfrm>
          <a:prstGeom prst="rect">
            <a:avLst/>
          </a:prstGeom>
          <a:noFill/>
        </p:spPr>
        <p:txBody>
          <a:bodyPr wrap="square">
            <a:spAutoFit/>
          </a:bodyPr>
          <a:lstStyle/>
          <a:p>
            <a:pPr algn="l">
              <a:defRPr sz="2000" b="1">
                <a:solidFill>
                  <a:srgbClr val="334155"/>
                </a:solidFill>
                <a:latin typeface="Segoe UI"/>
              </a:defRPr>
            </a:pPr>
            <a:r>
              <a:rPr sz="2400"/>
              <a:t>Regulatory Mapping</a:t>
            </a:r>
          </a:p>
        </p:txBody>
      </p:sp>
      <p:sp>
        <p:nvSpPr>
          <p:cNvPr id="18" name="TextBox 17">
            <a:extLst>
              <a:ext uri="{FF2B5EF4-FFF2-40B4-BE49-F238E27FC236}">
                <a16:creationId xmlns:a16="http://schemas.microsoft.com/office/drawing/2014/main" id="{1B882517-BEDF-5E1D-A5CC-A3A8DFFB6B03}"/>
              </a:ext>
            </a:extLst>
          </p:cNvPr>
          <p:cNvSpPr txBox="1"/>
          <p:nvPr/>
        </p:nvSpPr>
        <p:spPr>
          <a:xfrm>
            <a:off x="7461504" y="5288336"/>
            <a:ext cx="6035040" cy="1585049"/>
          </a:xfrm>
          <a:prstGeom prst="rect">
            <a:avLst/>
          </a:prstGeom>
          <a:noFill/>
        </p:spPr>
        <p:txBody>
          <a:bodyPr wrap="square">
            <a:spAutoFit/>
          </a:bodyPr>
          <a:lstStyle/>
          <a:p>
            <a:pPr>
              <a:spcAft>
                <a:spcPts val="960"/>
              </a:spcAft>
            </a:pPr>
            <a:r>
              <a:rPr sz="1800" b="1" dirty="0">
                <a:solidFill>
                  <a:srgbClr val="00D4FF"/>
                </a:solidFill>
                <a:latin typeface="Segoe UI"/>
              </a:rPr>
              <a:t>▸ </a:t>
            </a:r>
            <a:r>
              <a:rPr sz="1800" b="1" dirty="0">
                <a:solidFill>
                  <a:srgbClr val="475569"/>
                </a:solidFill>
                <a:latin typeface="Segoe UI"/>
              </a:rPr>
              <a:t>DORA</a:t>
            </a:r>
            <a:r>
              <a:rPr sz="1800" dirty="0">
                <a:solidFill>
                  <a:srgbClr val="475569"/>
                </a:solidFill>
                <a:latin typeface="Segoe UI"/>
              </a:rPr>
              <a:t> — Digital Operational Resilience Act (EU)</a:t>
            </a:r>
          </a:p>
          <a:p>
            <a:pPr>
              <a:spcAft>
                <a:spcPts val="960"/>
              </a:spcAft>
            </a:pPr>
            <a:r>
              <a:rPr sz="1800" b="1" dirty="0">
                <a:solidFill>
                  <a:srgbClr val="00D4FF"/>
                </a:solidFill>
                <a:latin typeface="Segoe UI"/>
              </a:rPr>
              <a:t>▸ </a:t>
            </a:r>
            <a:r>
              <a:rPr sz="1800" b="1" dirty="0">
                <a:solidFill>
                  <a:srgbClr val="475569"/>
                </a:solidFill>
                <a:latin typeface="Segoe UI"/>
              </a:rPr>
              <a:t>NIS2</a:t>
            </a:r>
            <a:r>
              <a:rPr sz="1800" dirty="0">
                <a:solidFill>
                  <a:srgbClr val="475569"/>
                </a:solidFill>
                <a:latin typeface="Segoe UI"/>
              </a:rPr>
              <a:t> — Network &amp; Information </a:t>
            </a:r>
            <a:r>
              <a:rPr sz="1800">
                <a:solidFill>
                  <a:srgbClr val="475569"/>
                </a:solidFill>
                <a:latin typeface="Segoe UI"/>
              </a:rPr>
              <a:t>Security Directive</a:t>
            </a:r>
            <a:r>
              <a:rPr lang="en-US" sz="1800">
                <a:solidFill>
                  <a:srgbClr val="475569"/>
                </a:solidFill>
                <a:latin typeface="Segoe UI"/>
              </a:rPr>
              <a:t> (EU)</a:t>
            </a:r>
            <a:endParaRPr sz="1800" dirty="0">
              <a:solidFill>
                <a:srgbClr val="475569"/>
              </a:solidFill>
              <a:latin typeface="Segoe UI"/>
            </a:endParaRPr>
          </a:p>
          <a:p>
            <a:pPr>
              <a:spcAft>
                <a:spcPts val="960"/>
              </a:spcAft>
            </a:pPr>
            <a:r>
              <a:rPr sz="1800" b="1" dirty="0">
                <a:solidFill>
                  <a:srgbClr val="00D4FF"/>
                </a:solidFill>
                <a:latin typeface="Segoe UI"/>
              </a:rPr>
              <a:t>▸ </a:t>
            </a:r>
            <a:r>
              <a:rPr sz="1800" b="1" dirty="0">
                <a:solidFill>
                  <a:srgbClr val="475569"/>
                </a:solidFill>
                <a:latin typeface="Segoe UI"/>
              </a:rPr>
              <a:t>NSM-10</a:t>
            </a:r>
            <a:r>
              <a:rPr sz="1800" dirty="0">
                <a:solidFill>
                  <a:srgbClr val="475569"/>
                </a:solidFill>
                <a:latin typeface="Segoe UI"/>
              </a:rPr>
              <a:t> — Norwegian Security Framework</a:t>
            </a:r>
          </a:p>
          <a:p>
            <a:pPr>
              <a:spcAft>
                <a:spcPts val="960"/>
              </a:spcAft>
            </a:pPr>
            <a:r>
              <a:rPr sz="1800" b="1" dirty="0">
                <a:solidFill>
                  <a:srgbClr val="00D4FF"/>
                </a:solidFill>
                <a:latin typeface="Segoe UI"/>
              </a:rPr>
              <a:t>▸ </a:t>
            </a:r>
            <a:r>
              <a:rPr sz="1800" b="1" dirty="0">
                <a:solidFill>
                  <a:srgbClr val="475569"/>
                </a:solidFill>
                <a:latin typeface="Segoe UI"/>
              </a:rPr>
              <a:t>NIST PQC</a:t>
            </a:r>
            <a:r>
              <a:rPr sz="1800" dirty="0">
                <a:solidFill>
                  <a:srgbClr val="475569"/>
                </a:solidFill>
                <a:latin typeface="Segoe UI"/>
              </a:rPr>
              <a:t> — Standardization Timeline</a:t>
            </a:r>
          </a:p>
        </p:txBody>
      </p:sp>
    </p:spTree>
    <p:extLst>
      <p:ext uri="{BB962C8B-B14F-4D97-AF65-F5344CB8AC3E}">
        <p14:creationId xmlns:p14="http://schemas.microsoft.com/office/powerpoint/2010/main" val="409922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77824" y="228600"/>
            <a:ext cx="12070080" cy="1569660"/>
          </a:xfrm>
          <a:prstGeom prst="rect">
            <a:avLst/>
          </a:prstGeom>
          <a:noFill/>
        </p:spPr>
        <p:txBody>
          <a:bodyPr wrap="square">
            <a:spAutoFit/>
          </a:bodyPr>
          <a:lstStyle/>
          <a:p>
            <a:pPr algn="l">
              <a:defRPr sz="3600" b="0">
                <a:solidFill>
                  <a:srgbClr val="1E293B"/>
                </a:solidFill>
                <a:latin typeface="Segoe UI"/>
              </a:defRPr>
            </a:pPr>
            <a:r>
              <a:rPr lang="en-US" sz="3200" b="1" dirty="0">
                <a:latin typeface="Calibri" panose="020F0502020204030204" pitchFamily="34" charset="0"/>
                <a:cs typeface="Calibri" panose="020F0502020204030204" pitchFamily="34" charset="0"/>
              </a:rPr>
              <a:t>Quantum-Adjusted Risk Score (QARS) &amp; Risk Classification Matrix</a:t>
            </a:r>
          </a:p>
          <a:p>
            <a:pPr algn="l">
              <a:defRPr sz="3600" b="0">
                <a:solidFill>
                  <a:srgbClr val="1E293B"/>
                </a:solidFill>
                <a:latin typeface="Segoe UI"/>
              </a:defRPr>
            </a:pPr>
            <a:endParaRPr lang="en-US" sz="3200" b="1" dirty="0">
              <a:latin typeface="Calibri" panose="020F0502020204030204" pitchFamily="34" charset="0"/>
              <a:cs typeface="Calibri" panose="020F0502020204030204" pitchFamily="34" charset="0"/>
            </a:endParaRPr>
          </a:p>
          <a:p>
            <a:pPr algn="l">
              <a:defRPr sz="3600" b="0">
                <a:solidFill>
                  <a:srgbClr val="1E293B"/>
                </a:solidFill>
                <a:latin typeface="Segoe UI"/>
              </a:defRPr>
            </a:pPr>
            <a:endParaRPr sz="3200" b="1" dirty="0">
              <a:latin typeface="Calibri" panose="020F0502020204030204" pitchFamily="34" charset="0"/>
              <a:cs typeface="Calibri" panose="020F0502020204030204" pitchFamily="34" charset="0"/>
            </a:endParaRPr>
          </a:p>
        </p:txBody>
      </p:sp>
      <p:sp>
        <p:nvSpPr>
          <p:cNvPr id="6" name="Rectangle 5"/>
          <p:cNvSpPr/>
          <p:nvPr/>
        </p:nvSpPr>
        <p:spPr>
          <a:xfrm>
            <a:off x="877824" y="1066800"/>
            <a:ext cx="12618720" cy="697932"/>
          </a:xfrm>
          <a:prstGeom prst="rect">
            <a:avLst/>
          </a:prstGeom>
          <a:solidFill>
            <a:srgbClr val="F8FAFC"/>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b="1" dirty="0">
              <a:latin typeface="Calibri" panose="020F0502020204030204" pitchFamily="34" charset="0"/>
              <a:cs typeface="Calibri" panose="020F0502020204030204" pitchFamily="34" charset="0"/>
            </a:endParaRPr>
          </a:p>
        </p:txBody>
      </p:sp>
      <p:sp>
        <p:nvSpPr>
          <p:cNvPr id="7" name="TextBox 6"/>
          <p:cNvSpPr txBox="1"/>
          <p:nvPr/>
        </p:nvSpPr>
        <p:spPr>
          <a:xfrm>
            <a:off x="1097280" y="1130808"/>
            <a:ext cx="12179808" cy="646331"/>
          </a:xfrm>
          <a:prstGeom prst="rect">
            <a:avLst/>
          </a:prstGeom>
          <a:noFill/>
        </p:spPr>
        <p:txBody>
          <a:bodyPr wrap="square">
            <a:spAutoFit/>
          </a:bodyPr>
          <a:lstStyle/>
          <a:p>
            <a:r>
              <a:rPr sz="2000" b="1">
                <a:solidFill>
                  <a:srgbClr val="0F172A"/>
                </a:solidFill>
                <a:latin typeface="Calibri" panose="020F0502020204030204" pitchFamily="34" charset="0"/>
                <a:cs typeface="Calibri" panose="020F0502020204030204" pitchFamily="34" charset="0"/>
              </a:rPr>
              <a:t>1. Timeline Risk (T):  r = (X + Y) / Z    →    T = 1 / (1 + e^(-k(r-1)))   where k = 3</a:t>
            </a:r>
          </a:p>
          <a:p>
            <a:r>
              <a:rPr sz="1600" b="1">
                <a:solidFill>
                  <a:srgbClr val="475569"/>
                </a:solidFill>
                <a:latin typeface="Calibri" panose="020F0502020204030204" pitchFamily="34" charset="0"/>
                <a:cs typeface="Calibri" panose="020F0502020204030204" pitchFamily="34" charset="0"/>
              </a:rPr>
              <a:t>// Logistic scaling to 0-1 range</a:t>
            </a:r>
          </a:p>
        </p:txBody>
      </p:sp>
      <p:sp>
        <p:nvSpPr>
          <p:cNvPr id="8" name="Rectangle 7"/>
          <p:cNvSpPr/>
          <p:nvPr/>
        </p:nvSpPr>
        <p:spPr>
          <a:xfrm>
            <a:off x="877824" y="1853184"/>
            <a:ext cx="12618720" cy="630352"/>
          </a:xfrm>
          <a:prstGeom prst="rect">
            <a:avLst/>
          </a:prstGeom>
          <a:solidFill>
            <a:srgbClr val="F8FAFC"/>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b="1">
              <a:latin typeface="Calibri" panose="020F0502020204030204" pitchFamily="34" charset="0"/>
              <a:cs typeface="Calibri" panose="020F0502020204030204" pitchFamily="34" charset="0"/>
            </a:endParaRPr>
          </a:p>
        </p:txBody>
      </p:sp>
      <p:sp>
        <p:nvSpPr>
          <p:cNvPr id="9" name="TextBox 8"/>
          <p:cNvSpPr txBox="1"/>
          <p:nvPr/>
        </p:nvSpPr>
        <p:spPr>
          <a:xfrm>
            <a:off x="1097280" y="1962912"/>
            <a:ext cx="12179808" cy="400110"/>
          </a:xfrm>
          <a:prstGeom prst="rect">
            <a:avLst/>
          </a:prstGeom>
          <a:noFill/>
        </p:spPr>
        <p:txBody>
          <a:bodyPr wrap="square">
            <a:spAutoFit/>
          </a:bodyPr>
          <a:lstStyle/>
          <a:p>
            <a:r>
              <a:rPr sz="2000" b="1">
                <a:solidFill>
                  <a:srgbClr val="0F172A"/>
                </a:solidFill>
                <a:latin typeface="Calibri" panose="020F0502020204030204" pitchFamily="34" charset="0"/>
                <a:cs typeface="Calibri" panose="020F0502020204030204" pitchFamily="34" charset="0"/>
              </a:rPr>
              <a:t>2. Sensitivity Risk (S):  Low (0.1)  |  Medium (0.5)  |  High (0.8)  |  Critical (1.0)</a:t>
            </a:r>
          </a:p>
        </p:txBody>
      </p:sp>
      <p:sp>
        <p:nvSpPr>
          <p:cNvPr id="10" name="Rectangle 9"/>
          <p:cNvSpPr/>
          <p:nvPr/>
        </p:nvSpPr>
        <p:spPr>
          <a:xfrm>
            <a:off x="877824" y="2545080"/>
            <a:ext cx="12618720" cy="725281"/>
          </a:xfrm>
          <a:prstGeom prst="rect">
            <a:avLst/>
          </a:prstGeom>
          <a:solidFill>
            <a:srgbClr val="F8FAFC"/>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b="1">
              <a:latin typeface="Calibri" panose="020F0502020204030204" pitchFamily="34" charset="0"/>
              <a:cs typeface="Calibri" panose="020F0502020204030204" pitchFamily="34" charset="0"/>
            </a:endParaRPr>
          </a:p>
        </p:txBody>
      </p:sp>
      <p:sp>
        <p:nvSpPr>
          <p:cNvPr id="11" name="TextBox 10"/>
          <p:cNvSpPr txBox="1"/>
          <p:nvPr/>
        </p:nvSpPr>
        <p:spPr>
          <a:xfrm>
            <a:off x="1097280" y="2654808"/>
            <a:ext cx="12179808" cy="677108"/>
          </a:xfrm>
          <a:prstGeom prst="rect">
            <a:avLst/>
          </a:prstGeom>
          <a:noFill/>
        </p:spPr>
        <p:txBody>
          <a:bodyPr wrap="square">
            <a:spAutoFit/>
          </a:bodyPr>
          <a:lstStyle/>
          <a:p>
            <a:r>
              <a:rPr sz="2000" b="1">
                <a:solidFill>
                  <a:srgbClr val="0F172A"/>
                </a:solidFill>
                <a:latin typeface="Calibri" panose="020F0502020204030204" pitchFamily="34" charset="0"/>
                <a:cs typeface="Calibri" panose="020F0502020204030204" pitchFamily="34" charset="0"/>
              </a:rPr>
              <a:t>3. Exposure Risk (E):  E = v × q</a:t>
            </a:r>
          </a:p>
          <a:p>
            <a:r>
              <a:rPr sz="1800" b="1">
                <a:solidFill>
                  <a:srgbClr val="475569"/>
                </a:solidFill>
                <a:latin typeface="Calibri" panose="020F0502020204030204" pitchFamily="34" charset="0"/>
                <a:cs typeface="Calibri" panose="020F0502020204030204" pitchFamily="34" charset="0"/>
              </a:rPr>
              <a:t>v = 0 if PQC protected, 1 if vulnerable    q = Harvestability factor (0-1)</a:t>
            </a:r>
          </a:p>
        </p:txBody>
      </p:sp>
      <p:sp>
        <p:nvSpPr>
          <p:cNvPr id="12" name="Rectangle 11"/>
          <p:cNvSpPr/>
          <p:nvPr/>
        </p:nvSpPr>
        <p:spPr>
          <a:xfrm>
            <a:off x="877824" y="3336143"/>
            <a:ext cx="12618720" cy="626257"/>
          </a:xfrm>
          <a:prstGeom prst="rect">
            <a:avLst/>
          </a:prstGeom>
          <a:solidFill>
            <a:srgbClr val="ECFEFF"/>
          </a:solidFill>
          <a:ln w="381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b="1">
              <a:latin typeface="Calibri" panose="020F0502020204030204" pitchFamily="34" charset="0"/>
              <a:cs typeface="Calibri" panose="020F0502020204030204" pitchFamily="34" charset="0"/>
            </a:endParaRPr>
          </a:p>
        </p:txBody>
      </p:sp>
      <p:sp>
        <p:nvSpPr>
          <p:cNvPr id="13" name="TextBox 12"/>
          <p:cNvSpPr txBox="1"/>
          <p:nvPr/>
        </p:nvSpPr>
        <p:spPr>
          <a:xfrm>
            <a:off x="3556092" y="3500735"/>
            <a:ext cx="7262181" cy="461665"/>
          </a:xfrm>
          <a:prstGeom prst="rect">
            <a:avLst/>
          </a:prstGeom>
          <a:noFill/>
        </p:spPr>
        <p:txBody>
          <a:bodyPr wrap="none">
            <a:spAutoFit/>
          </a:bodyPr>
          <a:lstStyle/>
          <a:p>
            <a:pPr algn="ctr"/>
            <a:r>
              <a:rPr sz="2400" b="1">
                <a:solidFill>
                  <a:srgbClr val="0F172A"/>
                </a:solidFill>
                <a:latin typeface="Calibri" panose="020F0502020204030204" pitchFamily="34" charset="0"/>
                <a:cs typeface="Calibri" panose="020F0502020204030204" pitchFamily="34" charset="0"/>
              </a:rPr>
              <a:t>Final QARS Score:   QARS = (wT × T) + (wS × S) + (wE × E)</a:t>
            </a:r>
          </a:p>
        </p:txBody>
      </p:sp>
      <p:graphicFrame>
        <p:nvGraphicFramePr>
          <p:cNvPr id="15" name="Table 14">
            <a:extLst>
              <a:ext uri="{FF2B5EF4-FFF2-40B4-BE49-F238E27FC236}">
                <a16:creationId xmlns:a16="http://schemas.microsoft.com/office/drawing/2014/main" id="{13603190-4926-5756-3DDA-4400F3277F88}"/>
              </a:ext>
            </a:extLst>
          </p:cNvPr>
          <p:cNvGraphicFramePr>
            <a:graphicFrameLocks noGrp="1"/>
          </p:cNvGraphicFramePr>
          <p:nvPr>
            <p:extLst>
              <p:ext uri="{D42A27DB-BD31-4B8C-83A1-F6EECF244321}">
                <p14:modId xmlns:p14="http://schemas.microsoft.com/office/powerpoint/2010/main" val="2483329638"/>
              </p:ext>
            </p:extLst>
          </p:nvPr>
        </p:nvGraphicFramePr>
        <p:xfrm>
          <a:off x="877824" y="4242815"/>
          <a:ext cx="12618720" cy="3072385"/>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614477">
                <a:tc>
                  <a:txBody>
                    <a:bodyPr/>
                    <a:lstStyle/>
                    <a:p>
                      <a:pPr>
                        <a:defRPr sz="1300" b="1">
                          <a:solidFill>
                            <a:srgbClr val="1E293B"/>
                          </a:solidFill>
                          <a:latin typeface="Segoe UI"/>
                        </a:defRPr>
                      </a:pPr>
                      <a:r>
                        <a:rPr sz="1800"/>
                        <a:t>Score Range</a:t>
                      </a:r>
                    </a:p>
                  </a:txBody>
                  <a:tcPr marL="109728" marR="109728" marT="54864" marB="54864">
                    <a:solidFill>
                      <a:srgbClr val="F1F5F9"/>
                    </a:solidFill>
                  </a:tcPr>
                </a:tc>
                <a:tc>
                  <a:txBody>
                    <a:bodyPr/>
                    <a:lstStyle/>
                    <a:p>
                      <a:pPr>
                        <a:defRPr sz="1300" b="1">
                          <a:solidFill>
                            <a:srgbClr val="1E293B"/>
                          </a:solidFill>
                          <a:latin typeface="Segoe UI"/>
                        </a:defRPr>
                      </a:pPr>
                      <a:r>
                        <a:rPr sz="1800"/>
                        <a:t>Risk Level</a:t>
                      </a:r>
                    </a:p>
                  </a:txBody>
                  <a:tcPr marL="109728" marR="109728" marT="54864" marB="54864">
                    <a:solidFill>
                      <a:srgbClr val="F1F5F9"/>
                    </a:solidFill>
                  </a:tcPr>
                </a:tc>
                <a:tc>
                  <a:txBody>
                    <a:bodyPr/>
                    <a:lstStyle/>
                    <a:p>
                      <a:pPr>
                        <a:defRPr sz="1300" b="1">
                          <a:solidFill>
                            <a:srgbClr val="1E293B"/>
                          </a:solidFill>
                          <a:latin typeface="Segoe UI"/>
                        </a:defRPr>
                      </a:pPr>
                      <a:r>
                        <a:rPr sz="1800"/>
                        <a:t>Action Required</a:t>
                      </a:r>
                    </a:p>
                  </a:txBody>
                  <a:tcPr marL="109728" marR="109728" marT="54864" marB="54864">
                    <a:solidFill>
                      <a:srgbClr val="F1F5F9"/>
                    </a:solidFill>
                  </a:tcPr>
                </a:tc>
                <a:tc>
                  <a:txBody>
                    <a:bodyPr/>
                    <a:lstStyle/>
                    <a:p>
                      <a:pPr>
                        <a:defRPr sz="1300" b="1">
                          <a:solidFill>
                            <a:srgbClr val="1E293B"/>
                          </a:solidFill>
                          <a:latin typeface="Segoe UI"/>
                        </a:defRPr>
                      </a:pPr>
                      <a:r>
                        <a:rPr sz="1800"/>
                        <a:t>Migration Priority</a:t>
                      </a:r>
                    </a:p>
                  </a:txBody>
                  <a:tcPr marL="109728" marR="109728" marT="54864" marB="54864">
                    <a:solidFill>
                      <a:srgbClr val="F1F5F9"/>
                    </a:solidFill>
                  </a:tcPr>
                </a:tc>
                <a:extLst>
                  <a:ext uri="{0D108BD9-81ED-4DB2-BD59-A6C34878D82A}">
                    <a16:rowId xmlns:a16="http://schemas.microsoft.com/office/drawing/2014/main" val="10000"/>
                  </a:ext>
                </a:extLst>
              </a:tr>
              <a:tr h="614477">
                <a:tc>
                  <a:txBody>
                    <a:bodyPr/>
                    <a:lstStyle/>
                    <a:p>
                      <a:pPr>
                        <a:defRPr sz="1200" b="1">
                          <a:solidFill>
                            <a:srgbClr val="166534"/>
                          </a:solidFill>
                          <a:latin typeface="Segoe UI"/>
                        </a:defRPr>
                      </a:pPr>
                      <a:r>
                        <a:rPr sz="1600"/>
                        <a:t>0.00 - 0.30</a:t>
                      </a:r>
                    </a:p>
                  </a:txBody>
                  <a:tcPr marL="109728" marR="109728" marT="54864" marB="54864">
                    <a:solidFill>
                      <a:srgbClr val="DCFCE7"/>
                    </a:solidFill>
                  </a:tcPr>
                </a:tc>
                <a:tc>
                  <a:txBody>
                    <a:bodyPr/>
                    <a:lstStyle/>
                    <a:p>
                      <a:pPr>
                        <a:defRPr sz="1200" b="1">
                          <a:solidFill>
                            <a:srgbClr val="475569"/>
                          </a:solidFill>
                          <a:latin typeface="Segoe UI"/>
                        </a:defRPr>
                      </a:pPr>
                      <a:r>
                        <a:rPr sz="1600"/>
                        <a:t>Low</a:t>
                      </a:r>
                    </a:p>
                  </a:txBody>
                  <a:tcPr marL="109728" marR="109728" marT="54864" marB="54864">
                    <a:solidFill>
                      <a:srgbClr val="FFFFFF"/>
                    </a:solidFill>
                  </a:tcPr>
                </a:tc>
                <a:tc>
                  <a:txBody>
                    <a:bodyPr/>
                    <a:lstStyle/>
                    <a:p>
                      <a:pPr>
                        <a:defRPr sz="1200">
                          <a:solidFill>
                            <a:srgbClr val="475569"/>
                          </a:solidFill>
                          <a:latin typeface="Segoe UI"/>
                        </a:defRPr>
                      </a:pPr>
                      <a:r>
                        <a:rPr sz="1600"/>
                        <a:t>Standard monitoring</a:t>
                      </a:r>
                    </a:p>
                  </a:txBody>
                  <a:tcPr marL="109728" marR="109728" marT="54864" marB="54864">
                    <a:solidFill>
                      <a:srgbClr val="FFFFFF"/>
                    </a:solidFill>
                  </a:tcPr>
                </a:tc>
                <a:tc>
                  <a:txBody>
                    <a:bodyPr/>
                    <a:lstStyle/>
                    <a:p>
                      <a:pPr>
                        <a:defRPr sz="1200">
                          <a:solidFill>
                            <a:srgbClr val="475569"/>
                          </a:solidFill>
                          <a:latin typeface="Segoe UI"/>
                        </a:defRPr>
                      </a:pPr>
                      <a:r>
                        <a:rPr sz="1600"/>
                        <a:t>Planned / Routine</a:t>
                      </a:r>
                    </a:p>
                  </a:txBody>
                  <a:tcPr marL="109728" marR="109728" marT="54864" marB="54864">
                    <a:solidFill>
                      <a:srgbClr val="FFFFFF"/>
                    </a:solidFill>
                  </a:tcPr>
                </a:tc>
                <a:extLst>
                  <a:ext uri="{0D108BD9-81ED-4DB2-BD59-A6C34878D82A}">
                    <a16:rowId xmlns:a16="http://schemas.microsoft.com/office/drawing/2014/main" val="10001"/>
                  </a:ext>
                </a:extLst>
              </a:tr>
              <a:tr h="614477">
                <a:tc>
                  <a:txBody>
                    <a:bodyPr/>
                    <a:lstStyle/>
                    <a:p>
                      <a:pPr>
                        <a:defRPr sz="1200" b="1">
                          <a:solidFill>
                            <a:srgbClr val="92400E"/>
                          </a:solidFill>
                          <a:latin typeface="Segoe UI"/>
                        </a:defRPr>
                      </a:pPr>
                      <a:r>
                        <a:rPr sz="1600"/>
                        <a:t>0.30 - 0.60</a:t>
                      </a:r>
                    </a:p>
                  </a:txBody>
                  <a:tcPr marL="109728" marR="109728" marT="54864" marB="54864">
                    <a:solidFill>
                      <a:srgbClr val="FEF3C7"/>
                    </a:solidFill>
                  </a:tcPr>
                </a:tc>
                <a:tc>
                  <a:txBody>
                    <a:bodyPr/>
                    <a:lstStyle/>
                    <a:p>
                      <a:pPr>
                        <a:defRPr sz="1200" b="1">
                          <a:solidFill>
                            <a:srgbClr val="475569"/>
                          </a:solidFill>
                          <a:latin typeface="Segoe UI"/>
                        </a:defRPr>
                      </a:pPr>
                      <a:r>
                        <a:rPr sz="1600"/>
                        <a:t>Medium</a:t>
                      </a:r>
                    </a:p>
                  </a:txBody>
                  <a:tcPr marL="109728" marR="109728" marT="54864" marB="54864">
                    <a:solidFill>
                      <a:srgbClr val="FFFFFF"/>
                    </a:solidFill>
                  </a:tcPr>
                </a:tc>
                <a:tc>
                  <a:txBody>
                    <a:bodyPr/>
                    <a:lstStyle/>
                    <a:p>
                      <a:pPr>
                        <a:defRPr sz="1200">
                          <a:solidFill>
                            <a:srgbClr val="475569"/>
                          </a:solidFill>
                          <a:latin typeface="Segoe UI"/>
                        </a:defRPr>
                      </a:pPr>
                      <a:r>
                        <a:rPr sz="1600"/>
                        <a:t>Enhanced tracking</a:t>
                      </a:r>
                    </a:p>
                  </a:txBody>
                  <a:tcPr marL="109728" marR="109728" marT="54864" marB="54864">
                    <a:solidFill>
                      <a:srgbClr val="FFFFFF"/>
                    </a:solidFill>
                  </a:tcPr>
                </a:tc>
                <a:tc>
                  <a:txBody>
                    <a:bodyPr/>
                    <a:lstStyle/>
                    <a:p>
                      <a:pPr>
                        <a:defRPr sz="1200">
                          <a:solidFill>
                            <a:srgbClr val="475569"/>
                          </a:solidFill>
                          <a:latin typeface="Segoe UI"/>
                        </a:defRPr>
                      </a:pPr>
                      <a:r>
                        <a:rPr sz="1600"/>
                        <a:t>Near-term roadmap</a:t>
                      </a:r>
                    </a:p>
                  </a:txBody>
                  <a:tcPr marL="109728" marR="109728" marT="54864" marB="54864">
                    <a:solidFill>
                      <a:srgbClr val="FFFFFF"/>
                    </a:solidFill>
                  </a:tcPr>
                </a:tc>
                <a:extLst>
                  <a:ext uri="{0D108BD9-81ED-4DB2-BD59-A6C34878D82A}">
                    <a16:rowId xmlns:a16="http://schemas.microsoft.com/office/drawing/2014/main" val="10002"/>
                  </a:ext>
                </a:extLst>
              </a:tr>
              <a:tr h="614477">
                <a:tc>
                  <a:txBody>
                    <a:bodyPr/>
                    <a:lstStyle/>
                    <a:p>
                      <a:pPr>
                        <a:defRPr sz="1200" b="1">
                          <a:solidFill>
                            <a:srgbClr val="991B1B"/>
                          </a:solidFill>
                          <a:latin typeface="Segoe UI"/>
                        </a:defRPr>
                      </a:pPr>
                      <a:r>
                        <a:rPr sz="1600"/>
                        <a:t>0.60 - 0.85</a:t>
                      </a:r>
                    </a:p>
                  </a:txBody>
                  <a:tcPr marL="109728" marR="109728" marT="54864" marB="54864">
                    <a:solidFill>
                      <a:srgbClr val="FEE2E2"/>
                    </a:solidFill>
                  </a:tcPr>
                </a:tc>
                <a:tc>
                  <a:txBody>
                    <a:bodyPr/>
                    <a:lstStyle/>
                    <a:p>
                      <a:pPr>
                        <a:defRPr sz="1200" b="1">
                          <a:solidFill>
                            <a:srgbClr val="475569"/>
                          </a:solidFill>
                          <a:latin typeface="Segoe UI"/>
                        </a:defRPr>
                      </a:pPr>
                      <a:r>
                        <a:rPr sz="1600"/>
                        <a:t>High</a:t>
                      </a:r>
                    </a:p>
                  </a:txBody>
                  <a:tcPr marL="109728" marR="109728" marT="54864" marB="54864">
                    <a:solidFill>
                      <a:srgbClr val="FFFFFF"/>
                    </a:solidFill>
                  </a:tcPr>
                </a:tc>
                <a:tc>
                  <a:txBody>
                    <a:bodyPr/>
                    <a:lstStyle/>
                    <a:p>
                      <a:pPr>
                        <a:defRPr sz="1200">
                          <a:solidFill>
                            <a:srgbClr val="475569"/>
                          </a:solidFill>
                          <a:latin typeface="Segoe UI"/>
                        </a:defRPr>
                      </a:pPr>
                      <a:r>
                        <a:rPr sz="1600"/>
                        <a:t>Immediate assessment</a:t>
                      </a:r>
                    </a:p>
                  </a:txBody>
                  <a:tcPr marL="109728" marR="109728" marT="54864" marB="54864">
                    <a:solidFill>
                      <a:srgbClr val="FFFFFF"/>
                    </a:solidFill>
                  </a:tcPr>
                </a:tc>
                <a:tc>
                  <a:txBody>
                    <a:bodyPr/>
                    <a:lstStyle/>
                    <a:p>
                      <a:pPr>
                        <a:defRPr sz="1200">
                          <a:solidFill>
                            <a:srgbClr val="475569"/>
                          </a:solidFill>
                          <a:latin typeface="Segoe UI"/>
                        </a:defRPr>
                      </a:pPr>
                      <a:r>
                        <a:rPr sz="1600"/>
                        <a:t>Active migration</a:t>
                      </a:r>
                    </a:p>
                  </a:txBody>
                  <a:tcPr marL="109728" marR="109728" marT="54864" marB="54864">
                    <a:solidFill>
                      <a:srgbClr val="FFFFFF"/>
                    </a:solidFill>
                  </a:tcPr>
                </a:tc>
                <a:extLst>
                  <a:ext uri="{0D108BD9-81ED-4DB2-BD59-A6C34878D82A}">
                    <a16:rowId xmlns:a16="http://schemas.microsoft.com/office/drawing/2014/main" val="10003"/>
                  </a:ext>
                </a:extLst>
              </a:tr>
              <a:tr h="614477">
                <a:tc>
                  <a:txBody>
                    <a:bodyPr/>
                    <a:lstStyle/>
                    <a:p>
                      <a:pPr>
                        <a:defRPr sz="1200" b="1">
                          <a:solidFill>
                            <a:srgbClr val="7F1D1D"/>
                          </a:solidFill>
                          <a:latin typeface="Segoe UI"/>
                        </a:defRPr>
                      </a:pPr>
                      <a:r>
                        <a:rPr sz="1600"/>
                        <a:t>0.85 - 1.00</a:t>
                      </a:r>
                    </a:p>
                  </a:txBody>
                  <a:tcPr marL="109728" marR="109728" marT="54864" marB="54864">
                    <a:solidFill>
                      <a:srgbClr val="FECACA"/>
                    </a:solidFill>
                  </a:tcPr>
                </a:tc>
                <a:tc>
                  <a:txBody>
                    <a:bodyPr/>
                    <a:lstStyle/>
                    <a:p>
                      <a:pPr>
                        <a:defRPr sz="1200" b="1">
                          <a:solidFill>
                            <a:srgbClr val="475569"/>
                          </a:solidFill>
                          <a:latin typeface="Segoe UI"/>
                        </a:defRPr>
                      </a:pPr>
                      <a:r>
                        <a:rPr sz="1600"/>
                        <a:t>Critical</a:t>
                      </a:r>
                    </a:p>
                  </a:txBody>
                  <a:tcPr marL="109728" marR="109728" marT="54864" marB="54864">
                    <a:solidFill>
                      <a:srgbClr val="FFFFFF"/>
                    </a:solidFill>
                  </a:tcPr>
                </a:tc>
                <a:tc>
                  <a:txBody>
                    <a:bodyPr/>
                    <a:lstStyle/>
                    <a:p>
                      <a:pPr>
                        <a:defRPr sz="1200">
                          <a:solidFill>
                            <a:srgbClr val="475569"/>
                          </a:solidFill>
                          <a:latin typeface="Segoe UI"/>
                        </a:defRPr>
                      </a:pPr>
                      <a:r>
                        <a:rPr sz="1600"/>
                        <a:t>Emergency response</a:t>
                      </a:r>
                    </a:p>
                  </a:txBody>
                  <a:tcPr marL="109728" marR="109728" marT="54864" marB="54864">
                    <a:solidFill>
                      <a:srgbClr val="FFFFFF"/>
                    </a:solidFill>
                  </a:tcPr>
                </a:tc>
                <a:tc>
                  <a:txBody>
                    <a:bodyPr/>
                    <a:lstStyle/>
                    <a:p>
                      <a:pPr>
                        <a:defRPr sz="1200">
                          <a:solidFill>
                            <a:srgbClr val="475569"/>
                          </a:solidFill>
                          <a:latin typeface="Segoe UI"/>
                        </a:defRPr>
                      </a:pPr>
                      <a:r>
                        <a:rPr sz="1600" dirty="0"/>
                        <a:t>Immediate execution</a:t>
                      </a:r>
                    </a:p>
                  </a:txBody>
                  <a:tcPr marL="109728" marR="109728" marT="54864" marB="54864">
                    <a:solidFill>
                      <a:srgbClr val="FFFFFF"/>
                    </a:solidFill>
                  </a:tcPr>
                </a:tc>
                <a:extLst>
                  <a:ext uri="{0D108BD9-81ED-4DB2-BD59-A6C34878D82A}">
                    <a16:rowId xmlns:a16="http://schemas.microsoft.com/office/drawing/2014/main" val="10004"/>
                  </a:ext>
                </a:extLst>
              </a:tr>
            </a:tbl>
          </a:graphicData>
        </a:graphic>
      </p:graphicFrame>
      <p:sp>
        <p:nvSpPr>
          <p:cNvPr id="16" name="TextBox 15">
            <a:extLst>
              <a:ext uri="{FF2B5EF4-FFF2-40B4-BE49-F238E27FC236}">
                <a16:creationId xmlns:a16="http://schemas.microsoft.com/office/drawing/2014/main" id="{106EF5F7-D978-8BA1-4CCE-BFF25AD6D457}"/>
              </a:ext>
            </a:extLst>
          </p:cNvPr>
          <p:cNvSpPr txBox="1"/>
          <p:nvPr/>
        </p:nvSpPr>
        <p:spPr>
          <a:xfrm>
            <a:off x="14165705" y="4242216"/>
            <a:ext cx="0" cy="0"/>
          </a:xfrm>
          <a:prstGeom prst="rect">
            <a:avLst/>
          </a:prstGeom>
        </p:spPr>
        <p:txBody>
          <a:bodyPr wrap="none" lIns="0" tIns="0" rIns="0" bIns="0" rtlCol="0">
            <a:noAutofit/>
          </a:bodyPr>
          <a:lstStyle/>
          <a:p>
            <a:pPr>
              <a:lnSpc>
                <a:spcPct val="105000"/>
              </a:lnSpc>
              <a:spcBef>
                <a:spcPts val="1000"/>
              </a:spcBef>
            </a:pPr>
            <a:endParaRPr lang="de-DE" sz="2000" dirty="0" err="1">
              <a:solidFill>
                <a:schemeClr val="tx1"/>
              </a:solidFill>
              <a:latin typeface="IBM Plex Sans" charset="0"/>
              <a:ea typeface="IBM Plex Sans" charset="0"/>
              <a:cs typeface="IBM Plex Sans"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77824" y="152400"/>
            <a:ext cx="12070080" cy="646331"/>
          </a:xfrm>
          <a:prstGeom prst="rect">
            <a:avLst/>
          </a:prstGeom>
          <a:noFill/>
        </p:spPr>
        <p:txBody>
          <a:bodyPr wrap="square">
            <a:spAutoFit/>
          </a:bodyPr>
          <a:lstStyle/>
          <a:p>
            <a:pPr algn="l">
              <a:defRPr sz="3600" b="0">
                <a:solidFill>
                  <a:srgbClr val="1E293B"/>
                </a:solidFill>
                <a:latin typeface="Segoe UI"/>
              </a:defRPr>
            </a:pPr>
            <a:r>
              <a:rPr sz="3600" b="1" dirty="0"/>
              <a:t>Sector-Specific Weighting</a:t>
            </a:r>
          </a:p>
        </p:txBody>
      </p:sp>
      <p:graphicFrame>
        <p:nvGraphicFramePr>
          <p:cNvPr id="7" name="Table 6"/>
          <p:cNvGraphicFramePr>
            <a:graphicFrameLocks noGrp="1"/>
          </p:cNvGraphicFramePr>
          <p:nvPr>
            <p:extLst>
              <p:ext uri="{D42A27DB-BD31-4B8C-83A1-F6EECF244321}">
                <p14:modId xmlns:p14="http://schemas.microsoft.com/office/powerpoint/2010/main" val="1800962257"/>
              </p:ext>
            </p:extLst>
          </p:nvPr>
        </p:nvGraphicFramePr>
        <p:xfrm>
          <a:off x="877824" y="838201"/>
          <a:ext cx="12618720" cy="2731008"/>
        </p:xfrm>
        <a:graphic>
          <a:graphicData uri="http://schemas.openxmlformats.org/drawingml/2006/table">
            <a:tbl>
              <a:tblPr firstRow="1" bandRow="1">
                <a:tableStyleId>{5C22544A-7EE6-4342-B048-85BDC9FD1C3A}</a:tableStyleId>
              </a:tblPr>
              <a:tblGrid>
                <a:gridCol w="2414016">
                  <a:extLst>
                    <a:ext uri="{9D8B030D-6E8A-4147-A177-3AD203B41FA5}">
                      <a16:colId xmlns:a16="http://schemas.microsoft.com/office/drawing/2014/main" val="20000"/>
                    </a:ext>
                  </a:extLst>
                </a:gridCol>
                <a:gridCol w="1975104">
                  <a:extLst>
                    <a:ext uri="{9D8B030D-6E8A-4147-A177-3AD203B41FA5}">
                      <a16:colId xmlns:a16="http://schemas.microsoft.com/office/drawing/2014/main" val="20001"/>
                    </a:ext>
                  </a:extLst>
                </a:gridCol>
                <a:gridCol w="1975104">
                  <a:extLst>
                    <a:ext uri="{9D8B030D-6E8A-4147-A177-3AD203B41FA5}">
                      <a16:colId xmlns:a16="http://schemas.microsoft.com/office/drawing/2014/main" val="20002"/>
                    </a:ext>
                  </a:extLst>
                </a:gridCol>
                <a:gridCol w="1975104">
                  <a:extLst>
                    <a:ext uri="{9D8B030D-6E8A-4147-A177-3AD203B41FA5}">
                      <a16:colId xmlns:a16="http://schemas.microsoft.com/office/drawing/2014/main" val="20003"/>
                    </a:ext>
                  </a:extLst>
                </a:gridCol>
                <a:gridCol w="4279392">
                  <a:extLst>
                    <a:ext uri="{9D8B030D-6E8A-4147-A177-3AD203B41FA5}">
                      <a16:colId xmlns:a16="http://schemas.microsoft.com/office/drawing/2014/main" val="20004"/>
                    </a:ext>
                  </a:extLst>
                </a:gridCol>
              </a:tblGrid>
              <a:tr h="533400">
                <a:tc>
                  <a:txBody>
                    <a:bodyPr/>
                    <a:lstStyle/>
                    <a:p>
                      <a:pPr>
                        <a:defRPr sz="1300" b="1">
                          <a:solidFill>
                            <a:srgbClr val="1E293B"/>
                          </a:solidFill>
                          <a:latin typeface="Segoe UI"/>
                        </a:defRPr>
                      </a:pPr>
                      <a:r>
                        <a:rPr sz="1800" b="1"/>
                        <a:t>Sector Profile</a:t>
                      </a:r>
                    </a:p>
                  </a:txBody>
                  <a:tcPr marL="109728" marR="109728" marT="54864" marB="54864">
                    <a:solidFill>
                      <a:srgbClr val="F1F5F9"/>
                    </a:solidFill>
                  </a:tcPr>
                </a:tc>
                <a:tc>
                  <a:txBody>
                    <a:bodyPr/>
                    <a:lstStyle/>
                    <a:p>
                      <a:pPr>
                        <a:defRPr sz="1300" b="1">
                          <a:solidFill>
                            <a:srgbClr val="1E293B"/>
                          </a:solidFill>
                          <a:latin typeface="Segoe UI"/>
                        </a:defRPr>
                      </a:pPr>
                      <a:r>
                        <a:rPr sz="1800" b="1"/>
                        <a:t>Timeline (wT)</a:t>
                      </a:r>
                    </a:p>
                  </a:txBody>
                  <a:tcPr marL="109728" marR="109728" marT="54864" marB="54864">
                    <a:solidFill>
                      <a:srgbClr val="F1F5F9"/>
                    </a:solidFill>
                  </a:tcPr>
                </a:tc>
                <a:tc>
                  <a:txBody>
                    <a:bodyPr/>
                    <a:lstStyle/>
                    <a:p>
                      <a:pPr>
                        <a:defRPr sz="1300" b="1">
                          <a:solidFill>
                            <a:srgbClr val="1E293B"/>
                          </a:solidFill>
                          <a:latin typeface="Segoe UI"/>
                        </a:defRPr>
                      </a:pPr>
                      <a:r>
                        <a:rPr sz="1800" b="1"/>
                        <a:t>Sensitivity (wS)</a:t>
                      </a:r>
                    </a:p>
                  </a:txBody>
                  <a:tcPr marL="109728" marR="109728" marT="54864" marB="54864">
                    <a:solidFill>
                      <a:srgbClr val="F1F5F9"/>
                    </a:solidFill>
                  </a:tcPr>
                </a:tc>
                <a:tc>
                  <a:txBody>
                    <a:bodyPr/>
                    <a:lstStyle/>
                    <a:p>
                      <a:pPr>
                        <a:defRPr sz="1300" b="1">
                          <a:solidFill>
                            <a:srgbClr val="1E293B"/>
                          </a:solidFill>
                          <a:latin typeface="Segoe UI"/>
                        </a:defRPr>
                      </a:pPr>
                      <a:r>
                        <a:rPr sz="1800" b="1"/>
                        <a:t>Exposure (wE)</a:t>
                      </a:r>
                    </a:p>
                  </a:txBody>
                  <a:tcPr marL="109728" marR="109728" marT="54864" marB="54864">
                    <a:solidFill>
                      <a:srgbClr val="F1F5F9"/>
                    </a:solidFill>
                  </a:tcPr>
                </a:tc>
                <a:tc>
                  <a:txBody>
                    <a:bodyPr/>
                    <a:lstStyle/>
                    <a:p>
                      <a:pPr>
                        <a:defRPr sz="1300" b="1">
                          <a:solidFill>
                            <a:srgbClr val="1E293B"/>
                          </a:solidFill>
                          <a:latin typeface="Segoe UI"/>
                        </a:defRPr>
                      </a:pPr>
                      <a:r>
                        <a:rPr sz="1800" b="1"/>
                        <a:t>Rationale</a:t>
                      </a:r>
                    </a:p>
                  </a:txBody>
                  <a:tcPr marL="109728" marR="109728" marT="54864" marB="54864">
                    <a:solidFill>
                      <a:srgbClr val="F1F5F9"/>
                    </a:solidFill>
                  </a:tcPr>
                </a:tc>
                <a:extLst>
                  <a:ext uri="{0D108BD9-81ED-4DB2-BD59-A6C34878D82A}">
                    <a16:rowId xmlns:a16="http://schemas.microsoft.com/office/drawing/2014/main" val="10000"/>
                  </a:ext>
                </a:extLst>
              </a:tr>
              <a:tr h="533400">
                <a:tc>
                  <a:txBody>
                    <a:bodyPr/>
                    <a:lstStyle/>
                    <a:p>
                      <a:pPr>
                        <a:defRPr sz="1200" b="1">
                          <a:solidFill>
                            <a:srgbClr val="475569"/>
                          </a:solidFill>
                          <a:latin typeface="Segoe UI"/>
                        </a:defRPr>
                      </a:pPr>
                      <a:r>
                        <a:rPr sz="1600" b="1"/>
                        <a:t>Finance</a:t>
                      </a:r>
                    </a:p>
                  </a:txBody>
                  <a:tcPr marL="109728" marR="109728" marT="54864" marB="54864">
                    <a:solidFill>
                      <a:srgbClr val="FFFFFF"/>
                    </a:solidFill>
                  </a:tcPr>
                </a:tc>
                <a:tc>
                  <a:txBody>
                    <a:bodyPr/>
                    <a:lstStyle/>
                    <a:p>
                      <a:pPr>
                        <a:defRPr sz="1200">
                          <a:solidFill>
                            <a:srgbClr val="475569"/>
                          </a:solidFill>
                          <a:latin typeface="Segoe UI"/>
                        </a:defRPr>
                      </a:pPr>
                      <a:r>
                        <a:rPr sz="1600" b="1"/>
                        <a:t>0.40</a:t>
                      </a:r>
                    </a:p>
                  </a:txBody>
                  <a:tcPr marL="109728" marR="109728" marT="54864" marB="54864">
                    <a:solidFill>
                      <a:srgbClr val="FFFFFF"/>
                    </a:solidFill>
                  </a:tcPr>
                </a:tc>
                <a:tc>
                  <a:txBody>
                    <a:bodyPr/>
                    <a:lstStyle/>
                    <a:p>
                      <a:pPr>
                        <a:defRPr sz="1200">
                          <a:solidFill>
                            <a:srgbClr val="475569"/>
                          </a:solidFill>
                          <a:latin typeface="Segoe UI"/>
                        </a:defRPr>
                      </a:pPr>
                      <a:r>
                        <a:rPr sz="1600" b="1"/>
                        <a:t>0.40</a:t>
                      </a:r>
                    </a:p>
                  </a:txBody>
                  <a:tcPr marL="109728" marR="109728" marT="54864" marB="54864">
                    <a:solidFill>
                      <a:srgbClr val="FFFFFF"/>
                    </a:solidFill>
                  </a:tcPr>
                </a:tc>
                <a:tc>
                  <a:txBody>
                    <a:bodyPr/>
                    <a:lstStyle/>
                    <a:p>
                      <a:pPr>
                        <a:defRPr sz="1200">
                          <a:solidFill>
                            <a:srgbClr val="475569"/>
                          </a:solidFill>
                          <a:latin typeface="Segoe UI"/>
                        </a:defRPr>
                      </a:pPr>
                      <a:r>
                        <a:rPr sz="1600" b="1"/>
                        <a:t>0.20</a:t>
                      </a:r>
                    </a:p>
                  </a:txBody>
                  <a:tcPr marL="109728" marR="109728" marT="54864" marB="54864">
                    <a:solidFill>
                      <a:srgbClr val="FFFFFF"/>
                    </a:solidFill>
                  </a:tcPr>
                </a:tc>
                <a:tc>
                  <a:txBody>
                    <a:bodyPr/>
                    <a:lstStyle/>
                    <a:p>
                      <a:pPr>
                        <a:defRPr sz="1200">
                          <a:solidFill>
                            <a:srgbClr val="475569"/>
                          </a:solidFill>
                          <a:latin typeface="Segoe UI"/>
                        </a:defRPr>
                      </a:pPr>
                      <a:r>
                        <a:rPr sz="1600" b="1"/>
                        <a:t>Regulatory pressure, transaction integrity</a:t>
                      </a:r>
                    </a:p>
                  </a:txBody>
                  <a:tcPr marL="109728" marR="109728" marT="54864" marB="54864">
                    <a:solidFill>
                      <a:srgbClr val="FFFFFF"/>
                    </a:solidFill>
                  </a:tcPr>
                </a:tc>
                <a:extLst>
                  <a:ext uri="{0D108BD9-81ED-4DB2-BD59-A6C34878D82A}">
                    <a16:rowId xmlns:a16="http://schemas.microsoft.com/office/drawing/2014/main" val="10001"/>
                  </a:ext>
                </a:extLst>
              </a:tr>
              <a:tr h="533400">
                <a:tc>
                  <a:txBody>
                    <a:bodyPr/>
                    <a:lstStyle/>
                    <a:p>
                      <a:pPr>
                        <a:defRPr sz="1200" b="1">
                          <a:solidFill>
                            <a:srgbClr val="475569"/>
                          </a:solidFill>
                          <a:latin typeface="Segoe UI"/>
                        </a:defRPr>
                      </a:pPr>
                      <a:r>
                        <a:rPr sz="1600" b="1"/>
                        <a:t>IoT / Embedded</a:t>
                      </a:r>
                    </a:p>
                  </a:txBody>
                  <a:tcPr marL="109728" marR="109728" marT="54864" marB="54864">
                    <a:solidFill>
                      <a:srgbClr val="FFFFFF"/>
                    </a:solidFill>
                  </a:tcPr>
                </a:tc>
                <a:tc>
                  <a:txBody>
                    <a:bodyPr/>
                    <a:lstStyle/>
                    <a:p>
                      <a:pPr>
                        <a:defRPr sz="1200">
                          <a:solidFill>
                            <a:srgbClr val="475569"/>
                          </a:solidFill>
                          <a:latin typeface="Segoe UI"/>
                        </a:defRPr>
                      </a:pPr>
                      <a:r>
                        <a:rPr sz="1600" b="1"/>
                        <a:t>0.50</a:t>
                      </a:r>
                    </a:p>
                  </a:txBody>
                  <a:tcPr marL="109728" marR="109728" marT="54864" marB="54864">
                    <a:solidFill>
                      <a:srgbClr val="FFFFFF"/>
                    </a:solidFill>
                  </a:tcPr>
                </a:tc>
                <a:tc>
                  <a:txBody>
                    <a:bodyPr/>
                    <a:lstStyle/>
                    <a:p>
                      <a:pPr>
                        <a:defRPr sz="1200">
                          <a:solidFill>
                            <a:srgbClr val="475569"/>
                          </a:solidFill>
                          <a:latin typeface="Segoe UI"/>
                        </a:defRPr>
                      </a:pPr>
                      <a:r>
                        <a:rPr sz="1600" b="1"/>
                        <a:t>0.20</a:t>
                      </a:r>
                    </a:p>
                  </a:txBody>
                  <a:tcPr marL="109728" marR="109728" marT="54864" marB="54864">
                    <a:solidFill>
                      <a:srgbClr val="FFFFFF"/>
                    </a:solidFill>
                  </a:tcPr>
                </a:tc>
                <a:tc>
                  <a:txBody>
                    <a:bodyPr/>
                    <a:lstStyle/>
                    <a:p>
                      <a:pPr>
                        <a:defRPr sz="1200">
                          <a:solidFill>
                            <a:srgbClr val="475569"/>
                          </a:solidFill>
                          <a:latin typeface="Segoe UI"/>
                        </a:defRPr>
                      </a:pPr>
                      <a:r>
                        <a:rPr sz="1600" b="1"/>
                        <a:t>0.30</a:t>
                      </a:r>
                    </a:p>
                  </a:txBody>
                  <a:tcPr marL="109728" marR="109728" marT="54864" marB="54864">
                    <a:solidFill>
                      <a:srgbClr val="FFFFFF"/>
                    </a:solidFill>
                  </a:tcPr>
                </a:tc>
                <a:tc>
                  <a:txBody>
                    <a:bodyPr/>
                    <a:lstStyle/>
                    <a:p>
                      <a:pPr>
                        <a:defRPr sz="1200">
                          <a:solidFill>
                            <a:srgbClr val="475569"/>
                          </a:solidFill>
                          <a:latin typeface="Segoe UI"/>
                        </a:defRPr>
                      </a:pPr>
                      <a:r>
                        <a:rPr sz="1600" b="1"/>
                        <a:t>Hardware replacement cycles, long deployment</a:t>
                      </a:r>
                    </a:p>
                  </a:txBody>
                  <a:tcPr marL="109728" marR="109728" marT="54864" marB="54864">
                    <a:solidFill>
                      <a:srgbClr val="FFFFFF"/>
                    </a:solidFill>
                  </a:tcPr>
                </a:tc>
                <a:extLst>
                  <a:ext uri="{0D108BD9-81ED-4DB2-BD59-A6C34878D82A}">
                    <a16:rowId xmlns:a16="http://schemas.microsoft.com/office/drawing/2014/main" val="10002"/>
                  </a:ext>
                </a:extLst>
              </a:tr>
              <a:tr h="533400">
                <a:tc>
                  <a:txBody>
                    <a:bodyPr/>
                    <a:lstStyle/>
                    <a:p>
                      <a:pPr>
                        <a:defRPr sz="1200" b="1">
                          <a:solidFill>
                            <a:srgbClr val="475569"/>
                          </a:solidFill>
                          <a:latin typeface="Segoe UI"/>
                        </a:defRPr>
                      </a:pPr>
                      <a:r>
                        <a:rPr sz="1600" b="1"/>
                        <a:t>Cloud Services</a:t>
                      </a:r>
                    </a:p>
                  </a:txBody>
                  <a:tcPr marL="109728" marR="109728" marT="54864" marB="54864">
                    <a:solidFill>
                      <a:srgbClr val="FFFFFF"/>
                    </a:solidFill>
                  </a:tcPr>
                </a:tc>
                <a:tc>
                  <a:txBody>
                    <a:bodyPr/>
                    <a:lstStyle/>
                    <a:p>
                      <a:pPr>
                        <a:defRPr sz="1200">
                          <a:solidFill>
                            <a:srgbClr val="475569"/>
                          </a:solidFill>
                          <a:latin typeface="Segoe UI"/>
                        </a:defRPr>
                      </a:pPr>
                      <a:r>
                        <a:rPr sz="1600" b="1"/>
                        <a:t>0.30</a:t>
                      </a:r>
                    </a:p>
                  </a:txBody>
                  <a:tcPr marL="109728" marR="109728" marT="54864" marB="54864">
                    <a:solidFill>
                      <a:srgbClr val="FFFFFF"/>
                    </a:solidFill>
                  </a:tcPr>
                </a:tc>
                <a:tc>
                  <a:txBody>
                    <a:bodyPr/>
                    <a:lstStyle/>
                    <a:p>
                      <a:pPr>
                        <a:defRPr sz="1200">
                          <a:solidFill>
                            <a:srgbClr val="475569"/>
                          </a:solidFill>
                          <a:latin typeface="Segoe UI"/>
                        </a:defRPr>
                      </a:pPr>
                      <a:r>
                        <a:rPr sz="1600" b="1"/>
                        <a:t>0.20</a:t>
                      </a:r>
                    </a:p>
                  </a:txBody>
                  <a:tcPr marL="109728" marR="109728" marT="54864" marB="54864">
                    <a:solidFill>
                      <a:srgbClr val="FFFFFF"/>
                    </a:solidFill>
                  </a:tcPr>
                </a:tc>
                <a:tc>
                  <a:txBody>
                    <a:bodyPr/>
                    <a:lstStyle/>
                    <a:p>
                      <a:pPr>
                        <a:defRPr sz="1200">
                          <a:solidFill>
                            <a:srgbClr val="475569"/>
                          </a:solidFill>
                          <a:latin typeface="Segoe UI"/>
                        </a:defRPr>
                      </a:pPr>
                      <a:r>
                        <a:rPr sz="1600" b="1"/>
                        <a:t>0.50</a:t>
                      </a:r>
                    </a:p>
                  </a:txBody>
                  <a:tcPr marL="109728" marR="109728" marT="54864" marB="54864">
                    <a:solidFill>
                      <a:srgbClr val="FFFFFF"/>
                    </a:solidFill>
                  </a:tcPr>
                </a:tc>
                <a:tc>
                  <a:txBody>
                    <a:bodyPr/>
                    <a:lstStyle/>
                    <a:p>
                      <a:pPr>
                        <a:defRPr sz="1200">
                          <a:solidFill>
                            <a:srgbClr val="475569"/>
                          </a:solidFill>
                          <a:latin typeface="Segoe UI"/>
                        </a:defRPr>
                      </a:pPr>
                      <a:r>
                        <a:rPr sz="1600" b="1"/>
                        <a:t>Multi-tenancy, shared infrastructure risk</a:t>
                      </a:r>
                    </a:p>
                  </a:txBody>
                  <a:tcPr marL="109728" marR="109728" marT="54864" marB="54864">
                    <a:solidFill>
                      <a:srgbClr val="FFFFFF"/>
                    </a:solidFill>
                  </a:tcPr>
                </a:tc>
                <a:extLst>
                  <a:ext uri="{0D108BD9-81ED-4DB2-BD59-A6C34878D82A}">
                    <a16:rowId xmlns:a16="http://schemas.microsoft.com/office/drawing/2014/main" val="10003"/>
                  </a:ext>
                </a:extLst>
              </a:tr>
              <a:tr h="533400">
                <a:tc>
                  <a:txBody>
                    <a:bodyPr/>
                    <a:lstStyle/>
                    <a:p>
                      <a:pPr>
                        <a:defRPr sz="1200" b="1">
                          <a:solidFill>
                            <a:srgbClr val="475569"/>
                          </a:solidFill>
                          <a:latin typeface="Segoe UI"/>
                        </a:defRPr>
                      </a:pPr>
                      <a:r>
                        <a:rPr sz="1600" b="1"/>
                        <a:t>General Baseline</a:t>
                      </a:r>
                    </a:p>
                  </a:txBody>
                  <a:tcPr marL="109728" marR="109728" marT="54864" marB="54864">
                    <a:solidFill>
                      <a:srgbClr val="FFFFFF"/>
                    </a:solidFill>
                  </a:tcPr>
                </a:tc>
                <a:tc>
                  <a:txBody>
                    <a:bodyPr/>
                    <a:lstStyle/>
                    <a:p>
                      <a:pPr>
                        <a:defRPr sz="1200">
                          <a:solidFill>
                            <a:srgbClr val="475569"/>
                          </a:solidFill>
                          <a:latin typeface="Segoe UI"/>
                        </a:defRPr>
                      </a:pPr>
                      <a:r>
                        <a:rPr sz="1600" b="1"/>
                        <a:t>0.33</a:t>
                      </a:r>
                    </a:p>
                  </a:txBody>
                  <a:tcPr marL="109728" marR="109728" marT="54864" marB="54864">
                    <a:solidFill>
                      <a:srgbClr val="FFFFFF"/>
                    </a:solidFill>
                  </a:tcPr>
                </a:tc>
                <a:tc>
                  <a:txBody>
                    <a:bodyPr/>
                    <a:lstStyle/>
                    <a:p>
                      <a:pPr>
                        <a:defRPr sz="1200">
                          <a:solidFill>
                            <a:srgbClr val="475569"/>
                          </a:solidFill>
                          <a:latin typeface="Segoe UI"/>
                        </a:defRPr>
                      </a:pPr>
                      <a:r>
                        <a:rPr sz="1600" b="1"/>
                        <a:t>0.33</a:t>
                      </a:r>
                    </a:p>
                  </a:txBody>
                  <a:tcPr marL="109728" marR="109728" marT="54864" marB="54864">
                    <a:solidFill>
                      <a:srgbClr val="FFFFFF"/>
                    </a:solidFill>
                  </a:tcPr>
                </a:tc>
                <a:tc>
                  <a:txBody>
                    <a:bodyPr/>
                    <a:lstStyle/>
                    <a:p>
                      <a:pPr>
                        <a:defRPr sz="1200">
                          <a:solidFill>
                            <a:srgbClr val="475569"/>
                          </a:solidFill>
                          <a:latin typeface="Segoe UI"/>
                        </a:defRPr>
                      </a:pPr>
                      <a:r>
                        <a:rPr sz="1600" b="1"/>
                        <a:t>0.34</a:t>
                      </a:r>
                    </a:p>
                  </a:txBody>
                  <a:tcPr marL="109728" marR="109728" marT="54864" marB="54864">
                    <a:solidFill>
                      <a:srgbClr val="FFFFFF"/>
                    </a:solidFill>
                  </a:tcPr>
                </a:tc>
                <a:tc>
                  <a:txBody>
                    <a:bodyPr/>
                    <a:lstStyle/>
                    <a:p>
                      <a:pPr>
                        <a:defRPr sz="1200">
                          <a:solidFill>
                            <a:srgbClr val="475569"/>
                          </a:solidFill>
                          <a:latin typeface="Segoe UI"/>
                        </a:defRPr>
                      </a:pPr>
                      <a:r>
                        <a:rPr sz="1600" b="1" dirty="0"/>
                        <a:t>Balanced enterprise view</a:t>
                      </a:r>
                    </a:p>
                  </a:txBody>
                  <a:tcPr marL="109728" marR="109728" marT="54864" marB="54864">
                    <a:solidFill>
                      <a:srgbClr val="FFFFFF"/>
                    </a:solidFill>
                  </a:tcPr>
                </a:tc>
                <a:extLst>
                  <a:ext uri="{0D108BD9-81ED-4DB2-BD59-A6C34878D82A}">
                    <a16:rowId xmlns:a16="http://schemas.microsoft.com/office/drawing/2014/main" val="10004"/>
                  </a:ext>
                </a:extLst>
              </a:tr>
            </a:tbl>
          </a:graphicData>
        </a:graphic>
      </p:graphicFrame>
      <p:sp>
        <p:nvSpPr>
          <p:cNvPr id="9" name="TextBox 8">
            <a:extLst>
              <a:ext uri="{FF2B5EF4-FFF2-40B4-BE49-F238E27FC236}">
                <a16:creationId xmlns:a16="http://schemas.microsoft.com/office/drawing/2014/main" id="{37512D82-A2C1-AF9E-6FBB-88430E72F4BC}"/>
              </a:ext>
            </a:extLst>
          </p:cNvPr>
          <p:cNvSpPr txBox="1"/>
          <p:nvPr/>
        </p:nvSpPr>
        <p:spPr>
          <a:xfrm>
            <a:off x="861585" y="3657600"/>
            <a:ext cx="12070080" cy="584775"/>
          </a:xfrm>
          <a:prstGeom prst="rect">
            <a:avLst/>
          </a:prstGeom>
          <a:noFill/>
        </p:spPr>
        <p:txBody>
          <a:bodyPr wrap="square">
            <a:spAutoFit/>
          </a:bodyPr>
          <a:lstStyle/>
          <a:p>
            <a:pPr algn="l">
              <a:defRPr sz="3600" b="0">
                <a:solidFill>
                  <a:srgbClr val="1E293B"/>
                </a:solidFill>
                <a:latin typeface="Segoe UI"/>
              </a:defRPr>
            </a:pPr>
            <a:r>
              <a:rPr sz="3200" b="1" dirty="0"/>
              <a:t>Sample Risk Portfolio</a:t>
            </a:r>
          </a:p>
        </p:txBody>
      </p:sp>
      <p:graphicFrame>
        <p:nvGraphicFramePr>
          <p:cNvPr id="10" name="Table 9">
            <a:extLst>
              <a:ext uri="{FF2B5EF4-FFF2-40B4-BE49-F238E27FC236}">
                <a16:creationId xmlns:a16="http://schemas.microsoft.com/office/drawing/2014/main" id="{FB4741A8-E6A5-053F-21BE-74567DB362D5}"/>
              </a:ext>
            </a:extLst>
          </p:cNvPr>
          <p:cNvGraphicFramePr>
            <a:graphicFrameLocks noGrp="1"/>
          </p:cNvGraphicFramePr>
          <p:nvPr>
            <p:extLst>
              <p:ext uri="{D42A27DB-BD31-4B8C-83A1-F6EECF244321}">
                <p14:modId xmlns:p14="http://schemas.microsoft.com/office/powerpoint/2010/main" val="3451176976"/>
              </p:ext>
            </p:extLst>
          </p:nvPr>
        </p:nvGraphicFramePr>
        <p:xfrm>
          <a:off x="877824" y="4267200"/>
          <a:ext cx="12618720" cy="3276600"/>
        </p:xfrm>
        <a:graphic>
          <a:graphicData uri="http://schemas.openxmlformats.org/drawingml/2006/table">
            <a:tbl>
              <a:tblPr firstRow="1" bandRow="1">
                <a:tableStyleId>{5C22544A-7EE6-4342-B048-85BDC9FD1C3A}</a:tableStyleId>
              </a:tblPr>
              <a:tblGrid>
                <a:gridCol w="3511296">
                  <a:extLst>
                    <a:ext uri="{9D8B030D-6E8A-4147-A177-3AD203B41FA5}">
                      <a16:colId xmlns:a16="http://schemas.microsoft.com/office/drawing/2014/main" val="20000"/>
                    </a:ext>
                  </a:extLst>
                </a:gridCol>
                <a:gridCol w="1975104">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414016">
                  <a:extLst>
                    <a:ext uri="{9D8B030D-6E8A-4147-A177-3AD203B41FA5}">
                      <a16:colId xmlns:a16="http://schemas.microsoft.com/office/drawing/2014/main" val="20003"/>
                    </a:ext>
                  </a:extLst>
                </a:gridCol>
                <a:gridCol w="2523744">
                  <a:extLst>
                    <a:ext uri="{9D8B030D-6E8A-4147-A177-3AD203B41FA5}">
                      <a16:colId xmlns:a16="http://schemas.microsoft.com/office/drawing/2014/main" val="20004"/>
                    </a:ext>
                  </a:extLst>
                </a:gridCol>
              </a:tblGrid>
              <a:tr h="546100">
                <a:tc>
                  <a:txBody>
                    <a:bodyPr/>
                    <a:lstStyle/>
                    <a:p>
                      <a:pPr algn="ctr">
                        <a:defRPr sz="1300" b="1">
                          <a:solidFill>
                            <a:srgbClr val="1E293B"/>
                          </a:solidFill>
                          <a:latin typeface="Segoe UI"/>
                        </a:defRPr>
                      </a:pPr>
                      <a:r>
                        <a:rPr sz="1800" b="1"/>
                        <a:t>Asset</a:t>
                      </a:r>
                    </a:p>
                  </a:txBody>
                  <a:tcPr marL="109728" marR="109728" marT="54864" marB="54864">
                    <a:solidFill>
                      <a:srgbClr val="F1F5F9"/>
                    </a:solidFill>
                  </a:tcPr>
                </a:tc>
                <a:tc>
                  <a:txBody>
                    <a:bodyPr/>
                    <a:lstStyle/>
                    <a:p>
                      <a:pPr algn="ctr">
                        <a:defRPr sz="1300" b="1">
                          <a:solidFill>
                            <a:srgbClr val="1E293B"/>
                          </a:solidFill>
                          <a:latin typeface="Segoe UI"/>
                        </a:defRPr>
                      </a:pPr>
                      <a:r>
                        <a:rPr sz="1800" b="1" dirty="0"/>
                        <a:t>Sector</a:t>
                      </a:r>
                    </a:p>
                  </a:txBody>
                  <a:tcPr marL="109728" marR="109728" marT="54864" marB="54864">
                    <a:solidFill>
                      <a:srgbClr val="F1F5F9"/>
                    </a:solidFill>
                  </a:tcPr>
                </a:tc>
                <a:tc>
                  <a:txBody>
                    <a:bodyPr/>
                    <a:lstStyle/>
                    <a:p>
                      <a:pPr algn="ctr">
                        <a:defRPr sz="1300" b="1">
                          <a:solidFill>
                            <a:srgbClr val="1E293B"/>
                          </a:solidFill>
                          <a:latin typeface="Segoe UI"/>
                        </a:defRPr>
                      </a:pPr>
                      <a:r>
                        <a:rPr sz="1800" b="1"/>
                        <a:t>QARS Score</a:t>
                      </a:r>
                    </a:p>
                  </a:txBody>
                  <a:tcPr marL="109728" marR="109728" marT="54864" marB="54864">
                    <a:solidFill>
                      <a:srgbClr val="F1F5F9"/>
                    </a:solidFill>
                  </a:tcPr>
                </a:tc>
                <a:tc>
                  <a:txBody>
                    <a:bodyPr/>
                    <a:lstStyle/>
                    <a:p>
                      <a:pPr algn="ctr">
                        <a:defRPr sz="1300" b="1">
                          <a:solidFill>
                            <a:srgbClr val="1E293B"/>
                          </a:solidFill>
                          <a:latin typeface="Segoe UI"/>
                        </a:defRPr>
                      </a:pPr>
                      <a:r>
                        <a:rPr sz="1800" b="1"/>
                        <a:t>Risk Level</a:t>
                      </a:r>
                    </a:p>
                  </a:txBody>
                  <a:tcPr marL="109728" marR="109728" marT="54864" marB="54864">
                    <a:solidFill>
                      <a:srgbClr val="F1F5F9"/>
                    </a:solidFill>
                  </a:tcPr>
                </a:tc>
                <a:tc>
                  <a:txBody>
                    <a:bodyPr/>
                    <a:lstStyle/>
                    <a:p>
                      <a:pPr algn="ctr">
                        <a:defRPr sz="1300" b="1">
                          <a:solidFill>
                            <a:srgbClr val="1E293B"/>
                          </a:solidFill>
                          <a:latin typeface="Segoe UI"/>
                        </a:defRPr>
                      </a:pPr>
                      <a:r>
                        <a:rPr sz="1800" b="1" dirty="0"/>
                        <a:t>Mosca Status</a:t>
                      </a:r>
                    </a:p>
                  </a:txBody>
                  <a:tcPr marL="109728" marR="109728" marT="54864" marB="54864">
                    <a:solidFill>
                      <a:srgbClr val="F1F5F9"/>
                    </a:solidFill>
                  </a:tcPr>
                </a:tc>
                <a:extLst>
                  <a:ext uri="{0D108BD9-81ED-4DB2-BD59-A6C34878D82A}">
                    <a16:rowId xmlns:a16="http://schemas.microsoft.com/office/drawing/2014/main" val="10000"/>
                  </a:ext>
                </a:extLst>
              </a:tr>
              <a:tr h="546100">
                <a:tc>
                  <a:txBody>
                    <a:bodyPr/>
                    <a:lstStyle/>
                    <a:p>
                      <a:pPr>
                        <a:defRPr sz="1200">
                          <a:solidFill>
                            <a:srgbClr val="475569"/>
                          </a:solidFill>
                          <a:latin typeface="Segoe UI"/>
                        </a:defRPr>
                      </a:pPr>
                      <a:r>
                        <a:rPr sz="1600" b="1"/>
                        <a:t>Core Banking System</a:t>
                      </a:r>
                    </a:p>
                  </a:txBody>
                  <a:tcPr marL="109728" marR="109728" marT="54864" marB="54864">
                    <a:solidFill>
                      <a:srgbClr val="FFFFFF"/>
                    </a:solidFill>
                  </a:tcPr>
                </a:tc>
                <a:tc>
                  <a:txBody>
                    <a:bodyPr/>
                    <a:lstStyle/>
                    <a:p>
                      <a:pPr>
                        <a:defRPr sz="1200">
                          <a:solidFill>
                            <a:srgbClr val="475569"/>
                          </a:solidFill>
                          <a:latin typeface="Segoe UI"/>
                        </a:defRPr>
                      </a:pPr>
                      <a:r>
                        <a:rPr sz="1600" b="1"/>
                        <a:t>Finance</a:t>
                      </a:r>
                    </a:p>
                  </a:txBody>
                  <a:tcPr marL="109728" marR="109728" marT="54864" marB="54864">
                    <a:solidFill>
                      <a:srgbClr val="FFFFFF"/>
                    </a:solidFill>
                  </a:tcPr>
                </a:tc>
                <a:tc>
                  <a:txBody>
                    <a:bodyPr/>
                    <a:lstStyle/>
                    <a:p>
                      <a:pPr>
                        <a:defRPr sz="1200" b="1">
                          <a:solidFill>
                            <a:srgbClr val="475569"/>
                          </a:solidFill>
                          <a:latin typeface="Segoe UI"/>
                        </a:defRPr>
                      </a:pPr>
                      <a:r>
                        <a:rPr sz="1600" b="1"/>
                        <a:t>0.924</a:t>
                      </a:r>
                    </a:p>
                  </a:txBody>
                  <a:tcPr marL="109728" marR="109728" marT="54864" marB="54864">
                    <a:solidFill>
                      <a:srgbClr val="FFFFFF"/>
                    </a:solidFill>
                  </a:tcPr>
                </a:tc>
                <a:tc>
                  <a:txBody>
                    <a:bodyPr/>
                    <a:lstStyle/>
                    <a:p>
                      <a:pPr>
                        <a:defRPr sz="1200" b="1">
                          <a:solidFill>
                            <a:srgbClr val="7F1D1D"/>
                          </a:solidFill>
                          <a:latin typeface="Segoe UI"/>
                        </a:defRPr>
                      </a:pPr>
                      <a:r>
                        <a:rPr sz="1600" b="1"/>
                        <a:t>Critical</a:t>
                      </a:r>
                    </a:p>
                  </a:txBody>
                  <a:tcPr marL="109728" marR="109728" marT="54864" marB="54864">
                    <a:solidFill>
                      <a:srgbClr val="FECACA"/>
                    </a:solidFill>
                  </a:tcPr>
                </a:tc>
                <a:tc>
                  <a:txBody>
                    <a:bodyPr/>
                    <a:lstStyle/>
                    <a:p>
                      <a:pPr>
                        <a:defRPr sz="1200">
                          <a:solidFill>
                            <a:srgbClr val="475569"/>
                          </a:solidFill>
                          <a:latin typeface="Segoe UI"/>
                        </a:defRPr>
                      </a:pPr>
                      <a:r>
                        <a:rPr sz="1600" b="1"/>
                        <a:t>⚠️ Violation</a:t>
                      </a:r>
                    </a:p>
                  </a:txBody>
                  <a:tcPr marL="109728" marR="109728" marT="54864" marB="54864">
                    <a:solidFill>
                      <a:srgbClr val="FFFFFF"/>
                    </a:solidFill>
                  </a:tcPr>
                </a:tc>
                <a:extLst>
                  <a:ext uri="{0D108BD9-81ED-4DB2-BD59-A6C34878D82A}">
                    <a16:rowId xmlns:a16="http://schemas.microsoft.com/office/drawing/2014/main" val="10001"/>
                  </a:ext>
                </a:extLst>
              </a:tr>
              <a:tr h="546100">
                <a:tc>
                  <a:txBody>
                    <a:bodyPr/>
                    <a:lstStyle/>
                    <a:p>
                      <a:pPr>
                        <a:defRPr sz="1200">
                          <a:solidFill>
                            <a:srgbClr val="475569"/>
                          </a:solidFill>
                          <a:latin typeface="Segoe UI"/>
                        </a:defRPr>
                      </a:pPr>
                      <a:r>
                        <a:rPr sz="1600" b="1"/>
                        <a:t>Identity Provider</a:t>
                      </a:r>
                    </a:p>
                  </a:txBody>
                  <a:tcPr marL="109728" marR="109728" marT="54864" marB="54864">
                    <a:solidFill>
                      <a:srgbClr val="FFFFFF"/>
                    </a:solidFill>
                  </a:tcPr>
                </a:tc>
                <a:tc>
                  <a:txBody>
                    <a:bodyPr/>
                    <a:lstStyle/>
                    <a:p>
                      <a:pPr>
                        <a:defRPr sz="1200">
                          <a:solidFill>
                            <a:srgbClr val="475569"/>
                          </a:solidFill>
                          <a:latin typeface="Segoe UI"/>
                        </a:defRPr>
                      </a:pPr>
                      <a:r>
                        <a:rPr sz="1600" b="1"/>
                        <a:t>Cloud</a:t>
                      </a:r>
                    </a:p>
                  </a:txBody>
                  <a:tcPr marL="109728" marR="109728" marT="54864" marB="54864">
                    <a:solidFill>
                      <a:srgbClr val="FFFFFF"/>
                    </a:solidFill>
                  </a:tcPr>
                </a:tc>
                <a:tc>
                  <a:txBody>
                    <a:bodyPr/>
                    <a:lstStyle/>
                    <a:p>
                      <a:pPr>
                        <a:defRPr sz="1200" b="1">
                          <a:solidFill>
                            <a:srgbClr val="475569"/>
                          </a:solidFill>
                          <a:latin typeface="Segoe UI"/>
                        </a:defRPr>
                      </a:pPr>
                      <a:r>
                        <a:rPr sz="1600" b="1"/>
                        <a:t>0.891</a:t>
                      </a:r>
                    </a:p>
                  </a:txBody>
                  <a:tcPr marL="109728" marR="109728" marT="54864" marB="54864">
                    <a:solidFill>
                      <a:srgbClr val="FFFFFF"/>
                    </a:solidFill>
                  </a:tcPr>
                </a:tc>
                <a:tc>
                  <a:txBody>
                    <a:bodyPr/>
                    <a:lstStyle/>
                    <a:p>
                      <a:pPr>
                        <a:defRPr sz="1200" b="1">
                          <a:solidFill>
                            <a:srgbClr val="7F1D1D"/>
                          </a:solidFill>
                          <a:latin typeface="Segoe UI"/>
                        </a:defRPr>
                      </a:pPr>
                      <a:r>
                        <a:rPr sz="1600" b="1"/>
                        <a:t>Critical</a:t>
                      </a:r>
                    </a:p>
                  </a:txBody>
                  <a:tcPr marL="109728" marR="109728" marT="54864" marB="54864">
                    <a:solidFill>
                      <a:srgbClr val="FECACA"/>
                    </a:solidFill>
                  </a:tcPr>
                </a:tc>
                <a:tc>
                  <a:txBody>
                    <a:bodyPr/>
                    <a:lstStyle/>
                    <a:p>
                      <a:pPr>
                        <a:defRPr sz="1200">
                          <a:solidFill>
                            <a:srgbClr val="475569"/>
                          </a:solidFill>
                          <a:latin typeface="Segoe UI"/>
                        </a:defRPr>
                      </a:pPr>
                      <a:r>
                        <a:rPr sz="1600" b="1"/>
                        <a:t>⚠️ Violation</a:t>
                      </a:r>
                    </a:p>
                  </a:txBody>
                  <a:tcPr marL="109728" marR="109728" marT="54864" marB="54864">
                    <a:solidFill>
                      <a:srgbClr val="FFFFFF"/>
                    </a:solidFill>
                  </a:tcPr>
                </a:tc>
                <a:extLst>
                  <a:ext uri="{0D108BD9-81ED-4DB2-BD59-A6C34878D82A}">
                    <a16:rowId xmlns:a16="http://schemas.microsoft.com/office/drawing/2014/main" val="10002"/>
                  </a:ext>
                </a:extLst>
              </a:tr>
              <a:tr h="546100">
                <a:tc>
                  <a:txBody>
                    <a:bodyPr/>
                    <a:lstStyle/>
                    <a:p>
                      <a:pPr>
                        <a:defRPr sz="1200">
                          <a:solidFill>
                            <a:srgbClr val="475569"/>
                          </a:solidFill>
                          <a:latin typeface="Segoe UI"/>
                        </a:defRPr>
                      </a:pPr>
                      <a:r>
                        <a:rPr sz="1600" b="1"/>
                        <a:t>Payment Gateway API</a:t>
                      </a:r>
                    </a:p>
                  </a:txBody>
                  <a:tcPr marL="109728" marR="109728" marT="54864" marB="54864">
                    <a:solidFill>
                      <a:srgbClr val="FFFFFF"/>
                    </a:solidFill>
                  </a:tcPr>
                </a:tc>
                <a:tc>
                  <a:txBody>
                    <a:bodyPr/>
                    <a:lstStyle/>
                    <a:p>
                      <a:pPr>
                        <a:defRPr sz="1200">
                          <a:solidFill>
                            <a:srgbClr val="475569"/>
                          </a:solidFill>
                          <a:latin typeface="Segoe UI"/>
                        </a:defRPr>
                      </a:pPr>
                      <a:r>
                        <a:rPr sz="1600" b="1"/>
                        <a:t>Finance</a:t>
                      </a:r>
                    </a:p>
                  </a:txBody>
                  <a:tcPr marL="109728" marR="109728" marT="54864" marB="54864">
                    <a:solidFill>
                      <a:srgbClr val="FFFFFF"/>
                    </a:solidFill>
                  </a:tcPr>
                </a:tc>
                <a:tc>
                  <a:txBody>
                    <a:bodyPr/>
                    <a:lstStyle/>
                    <a:p>
                      <a:pPr>
                        <a:defRPr sz="1200" b="1">
                          <a:solidFill>
                            <a:srgbClr val="475569"/>
                          </a:solidFill>
                          <a:latin typeface="Segoe UI"/>
                        </a:defRPr>
                      </a:pPr>
                      <a:r>
                        <a:rPr sz="1600" b="1"/>
                        <a:t>0.756</a:t>
                      </a:r>
                    </a:p>
                  </a:txBody>
                  <a:tcPr marL="109728" marR="109728" marT="54864" marB="54864">
                    <a:solidFill>
                      <a:srgbClr val="FFFFFF"/>
                    </a:solidFill>
                  </a:tcPr>
                </a:tc>
                <a:tc>
                  <a:txBody>
                    <a:bodyPr/>
                    <a:lstStyle/>
                    <a:p>
                      <a:pPr>
                        <a:defRPr sz="1200" b="1">
                          <a:solidFill>
                            <a:srgbClr val="991B1B"/>
                          </a:solidFill>
                          <a:latin typeface="Segoe UI"/>
                        </a:defRPr>
                      </a:pPr>
                      <a:r>
                        <a:rPr sz="1600" b="1"/>
                        <a:t>High</a:t>
                      </a:r>
                    </a:p>
                  </a:txBody>
                  <a:tcPr marL="109728" marR="109728" marT="54864" marB="54864">
                    <a:solidFill>
                      <a:srgbClr val="FEE2E2"/>
                    </a:solidFill>
                  </a:tcPr>
                </a:tc>
                <a:tc>
                  <a:txBody>
                    <a:bodyPr/>
                    <a:lstStyle/>
                    <a:p>
                      <a:pPr>
                        <a:defRPr sz="1200">
                          <a:solidFill>
                            <a:srgbClr val="475569"/>
                          </a:solidFill>
                          <a:latin typeface="Segoe UI"/>
                        </a:defRPr>
                      </a:pPr>
                      <a:r>
                        <a:rPr sz="1600" b="1"/>
                        <a:t>✓ Safe</a:t>
                      </a:r>
                    </a:p>
                  </a:txBody>
                  <a:tcPr marL="109728" marR="109728" marT="54864" marB="54864">
                    <a:solidFill>
                      <a:srgbClr val="FFFFFF"/>
                    </a:solidFill>
                  </a:tcPr>
                </a:tc>
                <a:extLst>
                  <a:ext uri="{0D108BD9-81ED-4DB2-BD59-A6C34878D82A}">
                    <a16:rowId xmlns:a16="http://schemas.microsoft.com/office/drawing/2014/main" val="10003"/>
                  </a:ext>
                </a:extLst>
              </a:tr>
              <a:tr h="546100">
                <a:tc>
                  <a:txBody>
                    <a:bodyPr/>
                    <a:lstStyle/>
                    <a:p>
                      <a:pPr>
                        <a:defRPr sz="1200">
                          <a:solidFill>
                            <a:srgbClr val="475569"/>
                          </a:solidFill>
                          <a:latin typeface="Segoe UI"/>
                        </a:defRPr>
                      </a:pPr>
                      <a:r>
                        <a:rPr sz="1600" b="1"/>
                        <a:t>Smart Meter Infrastructure</a:t>
                      </a:r>
                    </a:p>
                  </a:txBody>
                  <a:tcPr marL="109728" marR="109728" marT="54864" marB="54864">
                    <a:solidFill>
                      <a:srgbClr val="FFFFFF"/>
                    </a:solidFill>
                  </a:tcPr>
                </a:tc>
                <a:tc>
                  <a:txBody>
                    <a:bodyPr/>
                    <a:lstStyle/>
                    <a:p>
                      <a:pPr>
                        <a:defRPr sz="1200">
                          <a:solidFill>
                            <a:srgbClr val="475569"/>
                          </a:solidFill>
                          <a:latin typeface="Segoe UI"/>
                        </a:defRPr>
                      </a:pPr>
                      <a:r>
                        <a:rPr sz="1600" b="1"/>
                        <a:t>IoT</a:t>
                      </a:r>
                    </a:p>
                  </a:txBody>
                  <a:tcPr marL="109728" marR="109728" marT="54864" marB="54864">
                    <a:solidFill>
                      <a:srgbClr val="FFFFFF"/>
                    </a:solidFill>
                  </a:tcPr>
                </a:tc>
                <a:tc>
                  <a:txBody>
                    <a:bodyPr/>
                    <a:lstStyle/>
                    <a:p>
                      <a:pPr>
                        <a:defRPr sz="1200" b="1">
                          <a:solidFill>
                            <a:srgbClr val="475569"/>
                          </a:solidFill>
                          <a:latin typeface="Segoe UI"/>
                        </a:defRPr>
                      </a:pPr>
                      <a:r>
                        <a:rPr sz="1600" b="1" dirty="0"/>
                        <a:t>0.823</a:t>
                      </a:r>
                    </a:p>
                  </a:txBody>
                  <a:tcPr marL="109728" marR="109728" marT="54864" marB="54864">
                    <a:solidFill>
                      <a:srgbClr val="FFFFFF"/>
                    </a:solidFill>
                  </a:tcPr>
                </a:tc>
                <a:tc>
                  <a:txBody>
                    <a:bodyPr/>
                    <a:lstStyle/>
                    <a:p>
                      <a:pPr>
                        <a:defRPr sz="1200" b="1">
                          <a:solidFill>
                            <a:srgbClr val="991B1B"/>
                          </a:solidFill>
                          <a:latin typeface="Segoe UI"/>
                        </a:defRPr>
                      </a:pPr>
                      <a:r>
                        <a:rPr sz="1600" b="1"/>
                        <a:t>High</a:t>
                      </a:r>
                    </a:p>
                  </a:txBody>
                  <a:tcPr marL="109728" marR="109728" marT="54864" marB="54864">
                    <a:solidFill>
                      <a:srgbClr val="FEE2E2"/>
                    </a:solidFill>
                  </a:tcPr>
                </a:tc>
                <a:tc>
                  <a:txBody>
                    <a:bodyPr/>
                    <a:lstStyle/>
                    <a:p>
                      <a:pPr>
                        <a:defRPr sz="1200">
                          <a:solidFill>
                            <a:srgbClr val="475569"/>
                          </a:solidFill>
                          <a:latin typeface="Segoe UI"/>
                        </a:defRPr>
                      </a:pPr>
                      <a:r>
                        <a:rPr sz="1600" b="1"/>
                        <a:t>⚠️ Violation</a:t>
                      </a:r>
                    </a:p>
                  </a:txBody>
                  <a:tcPr marL="109728" marR="109728" marT="54864" marB="54864">
                    <a:solidFill>
                      <a:srgbClr val="FFFFFF"/>
                    </a:solidFill>
                  </a:tcPr>
                </a:tc>
                <a:extLst>
                  <a:ext uri="{0D108BD9-81ED-4DB2-BD59-A6C34878D82A}">
                    <a16:rowId xmlns:a16="http://schemas.microsoft.com/office/drawing/2014/main" val="10004"/>
                  </a:ext>
                </a:extLst>
              </a:tr>
              <a:tr h="546100">
                <a:tc>
                  <a:txBody>
                    <a:bodyPr/>
                    <a:lstStyle/>
                    <a:p>
                      <a:pPr>
                        <a:defRPr sz="1200">
                          <a:solidFill>
                            <a:srgbClr val="475569"/>
                          </a:solidFill>
                          <a:latin typeface="Segoe UI"/>
                        </a:defRPr>
                      </a:pPr>
                      <a:r>
                        <a:rPr sz="1600" b="1"/>
                        <a:t>Serverless Functions</a:t>
                      </a:r>
                    </a:p>
                  </a:txBody>
                  <a:tcPr marL="109728" marR="109728" marT="54864" marB="54864">
                    <a:solidFill>
                      <a:srgbClr val="FFFFFF"/>
                    </a:solidFill>
                  </a:tcPr>
                </a:tc>
                <a:tc>
                  <a:txBody>
                    <a:bodyPr/>
                    <a:lstStyle/>
                    <a:p>
                      <a:pPr>
                        <a:defRPr sz="1200">
                          <a:solidFill>
                            <a:srgbClr val="475569"/>
                          </a:solidFill>
                          <a:latin typeface="Segoe UI"/>
                        </a:defRPr>
                      </a:pPr>
                      <a:r>
                        <a:rPr sz="1600" b="1"/>
                        <a:t>Cloud</a:t>
                      </a:r>
                    </a:p>
                  </a:txBody>
                  <a:tcPr marL="109728" marR="109728" marT="54864" marB="54864">
                    <a:solidFill>
                      <a:srgbClr val="FFFFFF"/>
                    </a:solidFill>
                  </a:tcPr>
                </a:tc>
                <a:tc>
                  <a:txBody>
                    <a:bodyPr/>
                    <a:lstStyle/>
                    <a:p>
                      <a:pPr>
                        <a:defRPr sz="1200" b="1">
                          <a:solidFill>
                            <a:srgbClr val="475569"/>
                          </a:solidFill>
                          <a:latin typeface="Segoe UI"/>
                        </a:defRPr>
                      </a:pPr>
                      <a:r>
                        <a:rPr sz="1600" b="1"/>
                        <a:t>0.142</a:t>
                      </a:r>
                    </a:p>
                  </a:txBody>
                  <a:tcPr marL="109728" marR="109728" marT="54864" marB="54864">
                    <a:solidFill>
                      <a:srgbClr val="FFFFFF"/>
                    </a:solidFill>
                  </a:tcPr>
                </a:tc>
                <a:tc>
                  <a:txBody>
                    <a:bodyPr/>
                    <a:lstStyle/>
                    <a:p>
                      <a:pPr>
                        <a:defRPr sz="1200" b="1">
                          <a:solidFill>
                            <a:srgbClr val="166534"/>
                          </a:solidFill>
                          <a:latin typeface="Segoe UI"/>
                        </a:defRPr>
                      </a:pPr>
                      <a:r>
                        <a:rPr sz="1600" b="1"/>
                        <a:t>Low</a:t>
                      </a:r>
                    </a:p>
                  </a:txBody>
                  <a:tcPr marL="109728" marR="109728" marT="54864" marB="54864">
                    <a:solidFill>
                      <a:srgbClr val="DCFCE7"/>
                    </a:solidFill>
                  </a:tcPr>
                </a:tc>
                <a:tc>
                  <a:txBody>
                    <a:bodyPr/>
                    <a:lstStyle/>
                    <a:p>
                      <a:pPr>
                        <a:defRPr sz="1200">
                          <a:solidFill>
                            <a:srgbClr val="475569"/>
                          </a:solidFill>
                          <a:latin typeface="Segoe UI"/>
                        </a:defRPr>
                      </a:pPr>
                      <a:r>
                        <a:rPr sz="1600" b="1" dirty="0"/>
                        <a:t>✓ Safe</a:t>
                      </a:r>
                    </a:p>
                  </a:txBody>
                  <a:tcPr marL="109728" marR="109728" marT="54864" marB="54864">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FABBC-DD82-9248-769F-5BE75963FEC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F7785F-F70B-B672-73E2-B2FCCDADC4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10000" y="4876800"/>
            <a:ext cx="7772400" cy="2831245"/>
          </a:xfrm>
          <a:prstGeom prst="rect">
            <a:avLst/>
          </a:prstGeom>
        </p:spPr>
      </p:pic>
      <p:sp>
        <p:nvSpPr>
          <p:cNvPr id="2" name="Title 1">
            <a:extLst>
              <a:ext uri="{FF2B5EF4-FFF2-40B4-BE49-F238E27FC236}">
                <a16:creationId xmlns:a16="http://schemas.microsoft.com/office/drawing/2014/main" id="{20DA35E8-56C8-D571-22D1-49530D5B3AB8}"/>
              </a:ext>
            </a:extLst>
          </p:cNvPr>
          <p:cNvSpPr>
            <a:spLocks noGrp="1"/>
          </p:cNvSpPr>
          <p:nvPr>
            <p:ph type="title"/>
          </p:nvPr>
        </p:nvSpPr>
        <p:spPr/>
        <p:txBody>
          <a:bodyPr/>
          <a:lstStyle/>
          <a:p>
            <a:pPr algn="ctr"/>
            <a:r>
              <a:rPr lang="en-US" sz="3200" b="1" dirty="0"/>
              <a:t>Hybrid Approach: Immediate Action with Cryptographic Inventory Development</a:t>
            </a:r>
            <a:endParaRPr lang="en-EG" sz="3200" b="1" dirty="0"/>
          </a:p>
        </p:txBody>
      </p:sp>
      <p:sp>
        <p:nvSpPr>
          <p:cNvPr id="3" name="Content Placeholder 2">
            <a:extLst>
              <a:ext uri="{FF2B5EF4-FFF2-40B4-BE49-F238E27FC236}">
                <a16:creationId xmlns:a16="http://schemas.microsoft.com/office/drawing/2014/main" id="{C9BDF266-3815-BAA8-BDB4-CFFB08819ABA}"/>
              </a:ext>
            </a:extLst>
          </p:cNvPr>
          <p:cNvSpPr>
            <a:spLocks noGrp="1"/>
          </p:cNvSpPr>
          <p:nvPr>
            <p:ph idx="4294967295"/>
          </p:nvPr>
        </p:nvSpPr>
        <p:spPr>
          <a:xfrm>
            <a:off x="1066800" y="1281035"/>
            <a:ext cx="13106400" cy="5257800"/>
          </a:xfrm>
        </p:spPr>
        <p:txBody>
          <a:bodyPr/>
          <a:lstStyle/>
          <a:p>
            <a:pPr marL="514350" indent="-514350">
              <a:buFont typeface="+mj-lt"/>
              <a:buAutoNum type="arabicPeriod"/>
            </a:pPr>
            <a:r>
              <a:rPr lang="en-US" sz="2800" dirty="0"/>
              <a:t>A hybrid strategy that initiates immediate remediation on critical systems.</a:t>
            </a:r>
          </a:p>
          <a:p>
            <a:pPr marL="514350" indent="-514350">
              <a:buFont typeface="+mj-lt"/>
              <a:buAutoNum type="arabicPeriod"/>
            </a:pPr>
            <a:r>
              <a:rPr lang="en-US" sz="2800" dirty="0"/>
              <a:t>Simultaneously, building a comprehensive cryptographic inventory.</a:t>
            </a:r>
          </a:p>
          <a:p>
            <a:pPr marL="514350" indent="-514350">
              <a:buFont typeface="+mj-lt"/>
              <a:buAutoNum type="arabicPeriod"/>
            </a:pPr>
            <a:r>
              <a:rPr lang="en-US" sz="2800" dirty="0"/>
              <a:t>The most effective path forward, as it:</a:t>
            </a:r>
          </a:p>
          <a:p>
            <a:pPr marL="914400" lvl="2" indent="-457200">
              <a:buFont typeface="Wingdings" pitchFamily="2" charset="2"/>
              <a:buChar char="Ø"/>
            </a:pPr>
            <a:r>
              <a:rPr lang="en-US" sz="2800" dirty="0"/>
              <a:t>Addresses the need for quick action</a:t>
            </a:r>
          </a:p>
          <a:p>
            <a:pPr marL="914400" lvl="2" indent="-457200">
              <a:buFont typeface="Wingdings" pitchFamily="2" charset="2"/>
              <a:buChar char="Ø"/>
            </a:pPr>
            <a:r>
              <a:rPr lang="en-US" sz="2800" dirty="0"/>
              <a:t>Keep focus on long-term security vision</a:t>
            </a:r>
          </a:p>
          <a:p>
            <a:pPr marL="914400" lvl="2" indent="-457200">
              <a:buFont typeface="Wingdings" pitchFamily="2" charset="2"/>
              <a:buChar char="Ø"/>
            </a:pPr>
            <a:r>
              <a:rPr lang="en-US" sz="2800" dirty="0"/>
              <a:t>Allows organizations to demonstrate progress, meet regulatory obligations, and establish a solid foundation for PQC.</a:t>
            </a:r>
            <a:endParaRPr lang="en-EG" sz="2800" dirty="0"/>
          </a:p>
        </p:txBody>
      </p:sp>
    </p:spTree>
    <p:extLst>
      <p:ext uri="{BB962C8B-B14F-4D97-AF65-F5344CB8AC3E}">
        <p14:creationId xmlns:p14="http://schemas.microsoft.com/office/powerpoint/2010/main" val="3085263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2D47F-9694-36DE-5001-1371A174C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57A53-5D30-BDD1-A834-34ECAFE0C85C}"/>
              </a:ext>
            </a:extLst>
          </p:cNvPr>
          <p:cNvSpPr>
            <a:spLocks noGrp="1"/>
          </p:cNvSpPr>
          <p:nvPr>
            <p:ph type="title"/>
          </p:nvPr>
        </p:nvSpPr>
        <p:spPr>
          <a:xfrm>
            <a:off x="457200" y="685801"/>
            <a:ext cx="13716000" cy="1143000"/>
          </a:xfrm>
        </p:spPr>
        <p:txBody>
          <a:bodyPr anchor="t">
            <a:normAutofit/>
          </a:bodyPr>
          <a:lstStyle/>
          <a:p>
            <a:r>
              <a:rPr lang="en-US" b="1"/>
              <a:t>Hybrid PQC Migration &amp; Cryptographic Agility</a:t>
            </a:r>
            <a:endParaRPr lang="en-EG" b="1"/>
          </a:p>
        </p:txBody>
      </p:sp>
      <p:sp>
        <p:nvSpPr>
          <p:cNvPr id="3" name="Content Placeholder 2">
            <a:extLst>
              <a:ext uri="{FF2B5EF4-FFF2-40B4-BE49-F238E27FC236}">
                <a16:creationId xmlns:a16="http://schemas.microsoft.com/office/drawing/2014/main" id="{55E2FC09-2BE9-0909-9752-B543E6630139}"/>
              </a:ext>
            </a:extLst>
          </p:cNvPr>
          <p:cNvSpPr>
            <a:spLocks noGrp="1"/>
          </p:cNvSpPr>
          <p:nvPr>
            <p:ph idx="4294967295"/>
          </p:nvPr>
        </p:nvSpPr>
        <p:spPr>
          <a:xfrm>
            <a:off x="457200" y="1600200"/>
            <a:ext cx="6583680" cy="5715001"/>
          </a:xfrm>
        </p:spPr>
        <p:txBody>
          <a:bodyPr anchor="t">
            <a:normAutofit/>
          </a:bodyPr>
          <a:lstStyle/>
          <a:p>
            <a:pPr algn="just">
              <a:lnSpc>
                <a:spcPct val="95000"/>
              </a:lnSpc>
            </a:pPr>
            <a:r>
              <a:rPr lang="en-US" sz="1800" b="1" dirty="0"/>
              <a:t>Cryptographic Agility</a:t>
            </a:r>
            <a:r>
              <a:rPr lang="en-US" sz="1600" b="1" dirty="0"/>
              <a:t>:</a:t>
            </a:r>
            <a:r>
              <a:rPr lang="en-US" sz="1600" dirty="0"/>
              <a:t> The ability to swiftly change cryptographic algorithms in applications and infrastructure as threats evolve or new standards emerge. This ensures future-proofing against "Harvest Now, Decrypt Later" (HNDL) attacks.</a:t>
            </a:r>
          </a:p>
          <a:p>
            <a:pPr algn="just">
              <a:lnSpc>
                <a:spcPct val="95000"/>
              </a:lnSpc>
            </a:pPr>
            <a:r>
              <a:rPr lang="en-US" sz="1800" b="1" dirty="0"/>
              <a:t>Hybrid Migration</a:t>
            </a:r>
            <a:r>
              <a:rPr lang="en-US" sz="1600" b="1" dirty="0"/>
              <a:t>:</a:t>
            </a:r>
            <a:r>
              <a:rPr lang="en-US" sz="1600" dirty="0"/>
              <a:t> An intermediate step combining a classical algorithm (like RSA or ECC) with a post-quantum algorithm (like ML-KEM). This provides redundancy; if one algorithm is compromised, the other maintains security.</a:t>
            </a:r>
          </a:p>
          <a:p>
            <a:pPr algn="just">
              <a:lnSpc>
                <a:spcPct val="95000"/>
              </a:lnSpc>
            </a:pPr>
            <a:br>
              <a:rPr lang="en-US" sz="1600" dirty="0"/>
            </a:br>
            <a:endParaRPr lang="en-US" sz="1600" dirty="0"/>
          </a:p>
          <a:p>
            <a:pPr algn="just">
              <a:lnSpc>
                <a:spcPct val="95000"/>
              </a:lnSpc>
            </a:pPr>
            <a:r>
              <a:rPr lang="en-US" sz="1800" b="1" dirty="0"/>
              <a:t>Architectural Patterns for Migration</a:t>
            </a:r>
          </a:p>
          <a:p>
            <a:pPr marL="285750" indent="-285750" algn="just">
              <a:lnSpc>
                <a:spcPct val="95000"/>
              </a:lnSpc>
              <a:buFont typeface="Arial" panose="020B0604020202020204" pitchFamily="34" charset="0"/>
              <a:buChar char="•"/>
            </a:pPr>
            <a:r>
              <a:rPr lang="en-US" sz="1600" b="1" dirty="0"/>
              <a:t>Proxy Pattern:</a:t>
            </a:r>
            <a:r>
              <a:rPr lang="en-US" sz="1600" dirty="0"/>
              <a:t> Overlaying an agile security layer on existing components to future-proof legacy systems without requiring a full hardware overhaul.</a:t>
            </a:r>
          </a:p>
          <a:p>
            <a:pPr marL="285750" indent="-285750" algn="just">
              <a:lnSpc>
                <a:spcPct val="95000"/>
              </a:lnSpc>
              <a:buFont typeface="Arial" panose="020B0604020202020204" pitchFamily="34" charset="0"/>
              <a:buChar char="•"/>
            </a:pPr>
            <a:r>
              <a:rPr lang="en-US" sz="1600" b="1" dirty="0"/>
              <a:t>Upgrade Pattern:</a:t>
            </a:r>
            <a:r>
              <a:rPr lang="en-US" sz="1600" dirty="0"/>
              <a:t> Replacing components with versions that natively support NIST-standardized PQC algorithms like </a:t>
            </a:r>
            <a:r>
              <a:rPr lang="en-US" sz="1600" b="1" dirty="0"/>
              <a:t>ML-KEM (FIPS 203)</a:t>
            </a:r>
            <a:r>
              <a:rPr lang="en-US" sz="1600" dirty="0"/>
              <a:t> and </a:t>
            </a:r>
            <a:r>
              <a:rPr lang="en-US" sz="1600" b="1" dirty="0"/>
              <a:t>ML-DSA (FIPS 204)</a:t>
            </a:r>
            <a:r>
              <a:rPr lang="en-US" sz="1600" dirty="0"/>
              <a:t>.</a:t>
            </a:r>
          </a:p>
          <a:p>
            <a:pPr marL="285750" indent="-285750" algn="just">
              <a:lnSpc>
                <a:spcPct val="95000"/>
              </a:lnSpc>
              <a:buFont typeface="Arial" panose="020B0604020202020204" pitchFamily="34" charset="0"/>
              <a:buChar char="•"/>
            </a:pPr>
            <a:r>
              <a:rPr lang="en-US" sz="1600" b="1" dirty="0"/>
              <a:t>QKD Pattern:</a:t>
            </a:r>
            <a:r>
              <a:rPr lang="en-US" sz="1600" dirty="0"/>
              <a:t> Utilizing Quantum Key Distribution for short-distance key exchanges that do not rely on mathematical algorithms.</a:t>
            </a:r>
          </a:p>
          <a:p>
            <a:pPr marL="514350" indent="-514350" algn="just">
              <a:lnSpc>
                <a:spcPct val="95000"/>
              </a:lnSpc>
              <a:buFont typeface="+mj-lt"/>
              <a:buAutoNum type="arabicPeriod"/>
            </a:pPr>
            <a:endParaRPr lang="en-EG" sz="1600" dirty="0"/>
          </a:p>
        </p:txBody>
      </p:sp>
      <p:pic>
        <p:nvPicPr>
          <p:cNvPr id="5" name="Picture 4" descr="A diagram of a cloud computing network&#10;&#10;AI-generated content may be incorrect.">
            <a:extLst>
              <a:ext uri="{FF2B5EF4-FFF2-40B4-BE49-F238E27FC236}">
                <a16:creationId xmlns:a16="http://schemas.microsoft.com/office/drawing/2014/main" id="{545A6B68-038A-486C-0921-DEC23046CC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315200" y="1905000"/>
            <a:ext cx="6705600" cy="5029200"/>
          </a:xfrm>
          <a:prstGeom prst="rect">
            <a:avLst/>
          </a:prstGeom>
          <a:noFill/>
          <a:ln>
            <a:solidFill>
              <a:schemeClr val="accent1"/>
            </a:solidFill>
          </a:ln>
        </p:spPr>
      </p:pic>
    </p:spTree>
    <p:extLst>
      <p:ext uri="{BB962C8B-B14F-4D97-AF65-F5344CB8AC3E}">
        <p14:creationId xmlns:p14="http://schemas.microsoft.com/office/powerpoint/2010/main" val="2103599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11DFC-A26C-4EE5-D34D-FE4B3A3A0C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638DC1-6769-D6D1-C526-DE301D77D722}"/>
              </a:ext>
            </a:extLst>
          </p:cNvPr>
          <p:cNvSpPr>
            <a:spLocks noGrp="1"/>
          </p:cNvSpPr>
          <p:nvPr>
            <p:ph type="title"/>
          </p:nvPr>
        </p:nvSpPr>
        <p:spPr>
          <a:xfrm>
            <a:off x="304800" y="330270"/>
            <a:ext cx="14020800" cy="533400"/>
          </a:xfrm>
        </p:spPr>
        <p:txBody>
          <a:bodyPr>
            <a:noAutofit/>
          </a:bodyPr>
          <a:lstStyle/>
          <a:p>
            <a:pPr algn="ctr"/>
            <a:r>
              <a:rPr lang="en-US" sz="4000" b="1" dirty="0">
                <a:latin typeface="Calibri" panose="020F0502020204030204" pitchFamily="34" charset="0"/>
                <a:cs typeface="Calibri" panose="020F0502020204030204" pitchFamily="34" charset="0"/>
              </a:rPr>
              <a:t>Quantum Risk Assessment</a:t>
            </a:r>
            <a:br>
              <a:rPr lang="en-US" sz="3840" b="1" dirty="0">
                <a:solidFill>
                  <a:schemeClr val="bg1"/>
                </a:solidFill>
              </a:rPr>
            </a:br>
            <a:r>
              <a:rPr lang="en-US" sz="3200" b="1" dirty="0">
                <a:solidFill>
                  <a:schemeClr val="bg1"/>
                </a:solidFill>
              </a:rPr>
              <a:t>Quantum Resilience Strategy Framework Scope Summary</a:t>
            </a:r>
            <a:endParaRPr lang="en-US" sz="4480" dirty="0">
              <a:solidFill>
                <a:schemeClr val="bg1"/>
              </a:solidFill>
            </a:endParaRPr>
          </a:p>
        </p:txBody>
      </p:sp>
      <p:sp>
        <p:nvSpPr>
          <p:cNvPr id="3" name="TextBox 2">
            <a:extLst>
              <a:ext uri="{FF2B5EF4-FFF2-40B4-BE49-F238E27FC236}">
                <a16:creationId xmlns:a16="http://schemas.microsoft.com/office/drawing/2014/main" id="{B6AA1E8B-ADBD-5985-61B7-07B32AC9F30C}"/>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560" dirty="0" err="1">
              <a:solidFill>
                <a:srgbClr val="051243"/>
              </a:solidFill>
              <a:latin typeface="Calibri" panose="020F0502020204030204" pitchFamily="34" charset="0"/>
              <a:ea typeface="IBM Plex Sans" charset="0"/>
              <a:cs typeface="Calibri" panose="020F0502020204030204" pitchFamily="34" charset="0"/>
            </a:endParaRPr>
          </a:p>
        </p:txBody>
      </p:sp>
      <p:sp>
        <p:nvSpPr>
          <p:cNvPr id="9" name="TextBox 8">
            <a:extLst>
              <a:ext uri="{FF2B5EF4-FFF2-40B4-BE49-F238E27FC236}">
                <a16:creationId xmlns:a16="http://schemas.microsoft.com/office/drawing/2014/main" id="{276FF64F-1085-C47B-FB01-C27718C7F313}"/>
              </a:ext>
            </a:extLst>
          </p:cNvPr>
          <p:cNvSpPr txBox="1"/>
          <p:nvPr/>
        </p:nvSpPr>
        <p:spPr>
          <a:xfrm>
            <a:off x="609600" y="1295400"/>
            <a:ext cx="13411199" cy="6494085"/>
          </a:xfrm>
          <a:prstGeom prst="rect">
            <a:avLst/>
          </a:prstGeom>
          <a:noFill/>
        </p:spPr>
        <p:txBody>
          <a:bodyPr wrap="square">
            <a:spAutoFit/>
          </a:bodyPr>
          <a:lstStyle/>
          <a:p>
            <a:pPr algn="l">
              <a:spcAft>
                <a:spcPts val="300"/>
              </a:spcAft>
            </a:pPr>
            <a:r>
              <a:rPr lang="en-US" sz="2800" b="1" i="0" dirty="0">
                <a:solidFill>
                  <a:srgbClr val="404040"/>
                </a:solidFill>
                <a:effectLst/>
                <a:latin typeface="Inter"/>
              </a:rPr>
              <a:t>Preparation</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Build knowledge of PQC algorithms (e.g., CRYSTALS-Kyber, </a:t>
            </a:r>
            <a:r>
              <a:rPr lang="en-US" sz="2400" b="0" i="0" dirty="0" err="1">
                <a:solidFill>
                  <a:srgbClr val="404040"/>
                </a:solidFill>
                <a:effectLst/>
                <a:latin typeface="Inter"/>
              </a:rPr>
              <a:t>Dilithium</a:t>
            </a:r>
            <a:r>
              <a:rPr lang="en-US" sz="2400" b="0" i="0" dirty="0">
                <a:solidFill>
                  <a:srgbClr val="404040"/>
                </a:solidFill>
                <a:effectLst/>
                <a:latin typeface="Inter"/>
              </a:rPr>
              <a:t>, …etc.).</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Inventory systems, protocols, and data sensitivity (e.g., TLS, VPNs, databases).</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Prioritize risks using confidentiality lifespan and quantum exposure (e.g., Shor’s algorithm impact).</a:t>
            </a:r>
            <a:endParaRPr lang="en-US" sz="2400" b="1" i="0" dirty="0">
              <a:solidFill>
                <a:srgbClr val="404040"/>
              </a:solidFill>
              <a:effectLst/>
              <a:latin typeface="Inter"/>
            </a:endParaRPr>
          </a:p>
          <a:p>
            <a:pPr algn="l">
              <a:spcBef>
                <a:spcPts val="300"/>
              </a:spcBef>
              <a:spcAft>
                <a:spcPts val="300"/>
              </a:spcAft>
            </a:pPr>
            <a:r>
              <a:rPr lang="en-US" sz="2800" b="1" i="0" dirty="0">
                <a:solidFill>
                  <a:srgbClr val="404040"/>
                </a:solidFill>
                <a:effectLst/>
                <a:latin typeface="Inter"/>
              </a:rPr>
              <a:t>Implementation</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Vulnerability testing (penetration tests, code reviews).</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Crypto health checks, PKI readiness, and stakeholder communication.</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Develop master plan and budget (phased migration, vendor collaboration).</a:t>
            </a:r>
            <a:endParaRPr lang="en-US" sz="2800" b="1" i="0" dirty="0">
              <a:solidFill>
                <a:srgbClr val="404040"/>
              </a:solidFill>
              <a:effectLst/>
              <a:latin typeface="Inter"/>
            </a:endParaRPr>
          </a:p>
          <a:p>
            <a:pPr algn="l">
              <a:spcBef>
                <a:spcPts val="300"/>
              </a:spcBef>
              <a:spcAft>
                <a:spcPts val="300"/>
              </a:spcAft>
            </a:pPr>
            <a:r>
              <a:rPr lang="en-US" sz="2800" b="1" i="0" dirty="0">
                <a:solidFill>
                  <a:srgbClr val="404040"/>
                </a:solidFill>
                <a:effectLst/>
                <a:latin typeface="Inter"/>
              </a:rPr>
              <a:t>Remediation</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Deploy PQC upgrades, hybrid solutions, QKD, and Zero Trust.</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Modernize legacy systems and update key management.</a:t>
            </a:r>
            <a:endParaRPr lang="en-US" sz="2800" b="1" i="0" dirty="0">
              <a:solidFill>
                <a:srgbClr val="404040"/>
              </a:solidFill>
              <a:effectLst/>
              <a:latin typeface="Inter"/>
            </a:endParaRPr>
          </a:p>
          <a:p>
            <a:pPr algn="l">
              <a:spcBef>
                <a:spcPts val="300"/>
              </a:spcBef>
              <a:spcAft>
                <a:spcPts val="300"/>
              </a:spcAft>
            </a:pPr>
            <a:r>
              <a:rPr lang="en-US" sz="2800" b="1" i="0" dirty="0">
                <a:solidFill>
                  <a:srgbClr val="404040"/>
                </a:solidFill>
                <a:effectLst/>
                <a:latin typeface="Inter"/>
              </a:rPr>
              <a:t>Ongoing Monitoring</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Track evolving quantum threats and NIST standards, and annual policy reviews and performance audits.</a:t>
            </a:r>
          </a:p>
          <a:p>
            <a:pPr defTabSz="731520"/>
            <a:endParaRPr lang="en-EG" sz="2400" dirty="0">
              <a:solidFill>
                <a:srgbClr val="051243"/>
              </a:solidFill>
              <a:latin typeface="Arial"/>
            </a:endParaRPr>
          </a:p>
        </p:txBody>
      </p:sp>
    </p:spTree>
    <p:extLst>
      <p:ext uri="{BB962C8B-B14F-4D97-AF65-F5344CB8AC3E}">
        <p14:creationId xmlns:p14="http://schemas.microsoft.com/office/powerpoint/2010/main" val="71118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D9573-5681-FE38-988B-E577B992C2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193EAA-8328-3BE5-ED61-0ED8330DEDC4}"/>
              </a:ext>
            </a:extLst>
          </p:cNvPr>
          <p:cNvSpPr>
            <a:spLocks noGrp="1"/>
          </p:cNvSpPr>
          <p:nvPr>
            <p:ph type="title"/>
          </p:nvPr>
        </p:nvSpPr>
        <p:spPr>
          <a:xfrm>
            <a:off x="304800" y="330270"/>
            <a:ext cx="14020800" cy="533400"/>
          </a:xfrm>
        </p:spPr>
        <p:txBody>
          <a:bodyPr>
            <a:noAutofit/>
          </a:bodyPr>
          <a:lstStyle/>
          <a:p>
            <a:pPr algn="ctr"/>
            <a:r>
              <a:rPr lang="en-US" sz="4000" b="1" dirty="0">
                <a:latin typeface="Calibri" panose="020F0502020204030204" pitchFamily="34" charset="0"/>
                <a:cs typeface="Calibri" panose="020F0502020204030204" pitchFamily="34" charset="0"/>
              </a:rPr>
              <a:t>Quantum Risk Assessment</a:t>
            </a:r>
            <a:br>
              <a:rPr lang="en-US" sz="3840" b="1" dirty="0">
                <a:solidFill>
                  <a:schemeClr val="bg1"/>
                </a:solidFill>
              </a:rPr>
            </a:br>
            <a:r>
              <a:rPr lang="en-US" sz="3200" b="1" dirty="0">
                <a:solidFill>
                  <a:schemeClr val="bg1"/>
                </a:solidFill>
              </a:rPr>
              <a:t>Quantum Resilience Program Outputs/Deliverables </a:t>
            </a:r>
            <a:endParaRPr lang="en-US" sz="4480" dirty="0">
              <a:solidFill>
                <a:schemeClr val="bg1"/>
              </a:solidFill>
            </a:endParaRPr>
          </a:p>
        </p:txBody>
      </p:sp>
      <p:sp>
        <p:nvSpPr>
          <p:cNvPr id="3" name="TextBox 2">
            <a:extLst>
              <a:ext uri="{FF2B5EF4-FFF2-40B4-BE49-F238E27FC236}">
                <a16:creationId xmlns:a16="http://schemas.microsoft.com/office/drawing/2014/main" id="{8E9E83BC-5A51-8143-CD83-4FE743A70B31}"/>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560" dirty="0" err="1">
              <a:solidFill>
                <a:srgbClr val="051243"/>
              </a:solidFill>
              <a:latin typeface="Calibri" panose="020F0502020204030204" pitchFamily="34" charset="0"/>
              <a:ea typeface="IBM Plex Sans" charset="0"/>
              <a:cs typeface="Calibri" panose="020F0502020204030204" pitchFamily="34" charset="0"/>
            </a:endParaRPr>
          </a:p>
        </p:txBody>
      </p:sp>
      <p:sp>
        <p:nvSpPr>
          <p:cNvPr id="9" name="TextBox 8">
            <a:extLst>
              <a:ext uri="{FF2B5EF4-FFF2-40B4-BE49-F238E27FC236}">
                <a16:creationId xmlns:a16="http://schemas.microsoft.com/office/drawing/2014/main" id="{AD5E8D70-A2DF-909A-967A-6F6CECDC8898}"/>
              </a:ext>
            </a:extLst>
          </p:cNvPr>
          <p:cNvSpPr txBox="1"/>
          <p:nvPr/>
        </p:nvSpPr>
        <p:spPr>
          <a:xfrm>
            <a:off x="609600" y="1708386"/>
            <a:ext cx="13563600" cy="7625164"/>
          </a:xfrm>
          <a:prstGeom prst="rect">
            <a:avLst/>
          </a:prstGeom>
          <a:noFill/>
        </p:spPr>
        <p:txBody>
          <a:bodyPr wrap="square">
            <a:spAutoFit/>
          </a:bodyPr>
          <a:lstStyle/>
          <a:p>
            <a:pPr marL="457200" indent="-457200" algn="l">
              <a:spcAft>
                <a:spcPts val="300"/>
              </a:spcAft>
              <a:buFont typeface="+mj-lt"/>
              <a:buAutoNum type="arabicPeriod"/>
            </a:pPr>
            <a:r>
              <a:rPr lang="en-US" sz="2400" b="1" i="0" dirty="0">
                <a:solidFill>
                  <a:srgbClr val="404040"/>
                </a:solidFill>
                <a:effectLst/>
                <a:latin typeface="Inter"/>
              </a:rPr>
              <a:t>Risk Assessment Matrix</a:t>
            </a:r>
            <a:r>
              <a:rPr lang="en-US" sz="2400" b="0" i="0" dirty="0">
                <a:solidFill>
                  <a:srgbClr val="404040"/>
                </a:solidFill>
                <a:effectLst/>
                <a:latin typeface="Inter"/>
              </a:rPr>
              <a:t>: Prioritized list of systems vulnerable to quantum attacks (e.g., RSA-2048).</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Crypto Inventory Report</a:t>
            </a:r>
            <a:r>
              <a:rPr lang="en-US" sz="2400" b="0" i="0" dirty="0">
                <a:solidFill>
                  <a:srgbClr val="404040"/>
                </a:solidFill>
                <a:effectLst/>
                <a:latin typeface="Inter"/>
              </a:rPr>
              <a:t>: Detailed registry of cryptographic assets (algorithms, key sizes, protocols).</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Master Plan Roadmap</a:t>
            </a:r>
            <a:r>
              <a:rPr lang="en-US" sz="2400" b="0" i="0" dirty="0">
                <a:solidFill>
                  <a:srgbClr val="404040"/>
                </a:solidFill>
                <a:effectLst/>
                <a:latin typeface="Inter"/>
              </a:rPr>
              <a:t>: Phased migration timeline (critical systems first) with milestones and vendors.</a:t>
            </a:r>
          </a:p>
          <a:p>
            <a:pPr marL="457200" indent="-457200" algn="l">
              <a:spcAft>
                <a:spcPts val="300"/>
              </a:spcAft>
              <a:buFont typeface="+mj-lt"/>
              <a:buAutoNum type="arabicPeriod"/>
            </a:pPr>
            <a:r>
              <a:rPr lang="en-US" sz="2400" b="1" i="0" dirty="0">
                <a:solidFill>
                  <a:srgbClr val="404040"/>
                </a:solidFill>
                <a:effectLst/>
                <a:latin typeface="Inter"/>
              </a:rPr>
              <a:t>PQC Implementation Guidelines</a:t>
            </a:r>
            <a:r>
              <a:rPr lang="en-US" sz="2400" b="0" i="0" dirty="0">
                <a:solidFill>
                  <a:srgbClr val="404040"/>
                </a:solidFill>
                <a:effectLst/>
                <a:latin typeface="Inter"/>
              </a:rPr>
              <a:t>: Documentation for upgrading to quantum-safe algorithms (e.g., CRYSTALS-</a:t>
            </a:r>
            <a:r>
              <a:rPr lang="en-US" sz="2400" b="0" i="0" dirty="0" err="1">
                <a:solidFill>
                  <a:srgbClr val="404040"/>
                </a:solidFill>
                <a:effectLst/>
                <a:latin typeface="Inter"/>
              </a:rPr>
              <a:t>Kyber</a:t>
            </a:r>
            <a:r>
              <a:rPr lang="en-US" sz="2400" b="0" i="0" dirty="0">
                <a:solidFill>
                  <a:srgbClr val="404040"/>
                </a:solidFill>
                <a:effectLst/>
                <a:latin typeface="Inter"/>
              </a:rPr>
              <a:t> for TLS).</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Hybrid Deployment Framework</a:t>
            </a:r>
            <a:r>
              <a:rPr lang="en-US" sz="2400" b="0" i="0" dirty="0">
                <a:solidFill>
                  <a:srgbClr val="404040"/>
                </a:solidFill>
                <a:effectLst/>
                <a:latin typeface="Inter"/>
              </a:rPr>
              <a:t>: Architecture for integrating classical + PQC during transition.</a:t>
            </a:r>
          </a:p>
          <a:p>
            <a:pPr marL="457200" indent="-457200" algn="l">
              <a:spcAft>
                <a:spcPts val="300"/>
              </a:spcAft>
              <a:buFont typeface="+mj-lt"/>
              <a:buAutoNum type="arabicPeriod"/>
            </a:pPr>
            <a:r>
              <a:rPr lang="en-US" sz="2400" b="1" i="0" dirty="0">
                <a:solidFill>
                  <a:srgbClr val="404040"/>
                </a:solidFill>
                <a:effectLst/>
                <a:latin typeface="Inter"/>
              </a:rPr>
              <a:t>Budget  Draft</a:t>
            </a:r>
            <a:r>
              <a:rPr lang="en-US" sz="2400" b="0" i="0" dirty="0">
                <a:solidFill>
                  <a:srgbClr val="404040"/>
                </a:solidFill>
                <a:effectLst/>
                <a:latin typeface="Inter"/>
              </a:rPr>
              <a:t>: Cost analysis for PQC migration (software, hardware, training, downtime).</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Training Modules</a:t>
            </a:r>
            <a:r>
              <a:rPr lang="en-US" sz="2400" b="0" i="0" dirty="0">
                <a:solidFill>
                  <a:srgbClr val="404040"/>
                </a:solidFill>
                <a:effectLst/>
                <a:latin typeface="Inter"/>
              </a:rPr>
              <a:t>: Workshops for IT/security teams on PQC management and compliance.</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Updated Policies</a:t>
            </a:r>
            <a:r>
              <a:rPr lang="en-US" sz="2400" b="0" i="0" dirty="0">
                <a:solidFill>
                  <a:srgbClr val="404040"/>
                </a:solidFill>
                <a:effectLst/>
                <a:latin typeface="Inter"/>
              </a:rPr>
              <a:t>: Revised cryptographic and key management policies aligned with NIST standards.</a:t>
            </a:r>
          </a:p>
          <a:p>
            <a:pPr marL="457200" indent="-457200" algn="l">
              <a:spcBef>
                <a:spcPts val="300"/>
              </a:spcBef>
              <a:spcAft>
                <a:spcPts val="300"/>
              </a:spcAft>
              <a:buFont typeface="+mj-lt"/>
              <a:buAutoNum type="arabicPeriod"/>
            </a:pPr>
            <a:endParaRPr lang="en-US" sz="2400" dirty="0">
              <a:solidFill>
                <a:srgbClr val="404040"/>
              </a:solidFill>
              <a:latin typeface="Inter"/>
            </a:endParaRPr>
          </a:p>
          <a:p>
            <a:pPr algn="l"/>
            <a:r>
              <a:rPr lang="en-US" sz="2400" b="1" i="0" dirty="0">
                <a:solidFill>
                  <a:srgbClr val="404040"/>
                </a:solidFill>
                <a:effectLst/>
                <a:latin typeface="Inter"/>
              </a:rPr>
              <a:t>Timeline</a:t>
            </a:r>
            <a:r>
              <a:rPr lang="en-US" sz="2400" b="0" i="0" dirty="0">
                <a:solidFill>
                  <a:srgbClr val="404040"/>
                </a:solidFill>
                <a:effectLst/>
                <a:latin typeface="Inter"/>
              </a:rPr>
              <a:t>:</a:t>
            </a:r>
          </a:p>
          <a:p>
            <a:pPr marL="342900" indent="-342900" algn="l">
              <a:buFont typeface="Arial" panose="020B0604020202020204" pitchFamily="34" charset="0"/>
              <a:buChar char="•"/>
            </a:pPr>
            <a:r>
              <a:rPr lang="en-US" sz="2400" b="1" i="1" dirty="0">
                <a:solidFill>
                  <a:srgbClr val="404040"/>
                </a:solidFill>
                <a:effectLst/>
                <a:latin typeface="Inter"/>
              </a:rPr>
              <a:t>Short-term</a:t>
            </a:r>
            <a:r>
              <a:rPr lang="en-US" sz="2400" b="0" i="0" dirty="0">
                <a:solidFill>
                  <a:srgbClr val="404040"/>
                </a:solidFill>
                <a:effectLst/>
                <a:latin typeface="Inter"/>
              </a:rPr>
              <a:t>: Inventory and risk assessment (1-3 months).</a:t>
            </a:r>
          </a:p>
          <a:p>
            <a:pPr marL="342900" indent="-342900" algn="l">
              <a:spcBef>
                <a:spcPts val="300"/>
              </a:spcBef>
              <a:buFont typeface="Arial" panose="020B0604020202020204" pitchFamily="34" charset="0"/>
              <a:buChar char="•"/>
            </a:pPr>
            <a:r>
              <a:rPr lang="en-US" sz="2400" b="1" i="1" dirty="0">
                <a:solidFill>
                  <a:srgbClr val="404040"/>
                </a:solidFill>
                <a:effectLst/>
                <a:latin typeface="Inter"/>
              </a:rPr>
              <a:t>Mid-term</a:t>
            </a:r>
            <a:r>
              <a:rPr lang="en-US" sz="2400" b="1" i="0" dirty="0">
                <a:solidFill>
                  <a:srgbClr val="404040"/>
                </a:solidFill>
                <a:effectLst/>
                <a:latin typeface="Inter"/>
              </a:rPr>
              <a:t>:</a:t>
            </a:r>
            <a:r>
              <a:rPr lang="en-US" sz="2400" b="0" i="0" dirty="0">
                <a:solidFill>
                  <a:srgbClr val="404040"/>
                </a:solidFill>
                <a:effectLst/>
                <a:latin typeface="Inter"/>
              </a:rPr>
              <a:t> Pilot migration and deployments (6 months).</a:t>
            </a:r>
          </a:p>
          <a:p>
            <a:pPr marL="342900" indent="-342900" algn="l">
              <a:spcBef>
                <a:spcPts val="300"/>
              </a:spcBef>
              <a:buFont typeface="Arial" panose="020B0604020202020204" pitchFamily="34" charset="0"/>
              <a:buChar char="•"/>
            </a:pPr>
            <a:r>
              <a:rPr lang="en-US" sz="2400" b="1" i="1" dirty="0">
                <a:solidFill>
                  <a:srgbClr val="404040"/>
                </a:solidFill>
                <a:effectLst/>
                <a:latin typeface="Inter"/>
              </a:rPr>
              <a:t>Long-term</a:t>
            </a:r>
            <a:r>
              <a:rPr lang="en-US" sz="2400" b="0" i="0" dirty="0">
                <a:solidFill>
                  <a:srgbClr val="404040"/>
                </a:solidFill>
                <a:effectLst/>
                <a:latin typeface="Inter"/>
              </a:rPr>
              <a:t>: Full migration (1–3 years).</a:t>
            </a:r>
          </a:p>
          <a:p>
            <a:pPr algn="l">
              <a:spcBef>
                <a:spcPts val="300"/>
              </a:spcBef>
              <a:spcAft>
                <a:spcPts val="300"/>
              </a:spcAft>
            </a:pPr>
            <a:endParaRPr lang="en-US" sz="2400" b="0" i="0" dirty="0">
              <a:solidFill>
                <a:srgbClr val="404040"/>
              </a:solidFill>
              <a:effectLst/>
              <a:latin typeface="Inter"/>
            </a:endParaRPr>
          </a:p>
          <a:p>
            <a:pPr algn="l">
              <a:spcBef>
                <a:spcPts val="300"/>
              </a:spcBef>
              <a:spcAft>
                <a:spcPts val="300"/>
              </a:spcAft>
            </a:pPr>
            <a:endParaRPr lang="en-US" sz="2400" dirty="0">
              <a:solidFill>
                <a:srgbClr val="404040"/>
              </a:solidFill>
              <a:latin typeface="Inter"/>
            </a:endParaRPr>
          </a:p>
          <a:p>
            <a:pPr algn="l">
              <a:spcBef>
                <a:spcPts val="300"/>
              </a:spcBef>
              <a:spcAft>
                <a:spcPts val="300"/>
              </a:spcAft>
            </a:pPr>
            <a:endParaRPr lang="en-US" sz="2400" b="0" i="0" dirty="0">
              <a:solidFill>
                <a:srgbClr val="404040"/>
              </a:solidFill>
              <a:effectLst/>
              <a:latin typeface="Inter"/>
            </a:endParaRPr>
          </a:p>
          <a:p>
            <a:pPr defTabSz="731520"/>
            <a:endParaRPr lang="en-EG" sz="2400" dirty="0">
              <a:solidFill>
                <a:srgbClr val="051243"/>
              </a:solidFill>
              <a:latin typeface="Arial"/>
            </a:endParaRPr>
          </a:p>
        </p:txBody>
      </p:sp>
    </p:spTree>
    <p:extLst>
      <p:ext uri="{BB962C8B-B14F-4D97-AF65-F5344CB8AC3E}">
        <p14:creationId xmlns:p14="http://schemas.microsoft.com/office/powerpoint/2010/main" val="3244826120"/>
      </p:ext>
    </p:extLst>
  </p:cSld>
  <p:clrMapOvr>
    <a:masterClrMapping/>
  </p:clrMapOvr>
</p:sld>
</file>

<file path=ppt/theme/theme1.xml><?xml version="1.0" encoding="utf-8"?>
<a:theme xmlns:a="http://schemas.openxmlformats.org/drawingml/2006/main" name="1_COVERS">
  <a:themeElements>
    <a:clrScheme name="IBM Services Palette Final">
      <a:dk1>
        <a:srgbClr val="000000"/>
      </a:dk1>
      <a:lt1>
        <a:srgbClr val="051243"/>
      </a:lt1>
      <a:dk2>
        <a:srgbClr val="F3F3F3"/>
      </a:dk2>
      <a:lt2>
        <a:srgbClr val="FFFFFF"/>
      </a:lt2>
      <a:accent1>
        <a:srgbClr val="6EA6FF"/>
      </a:accent1>
      <a:accent2>
        <a:srgbClr val="0F6DFF"/>
      </a:accent2>
      <a:accent3>
        <a:srgbClr val="0530AD"/>
      </a:accent3>
      <a:accent4>
        <a:srgbClr val="00BAB6"/>
      </a:accent4>
      <a:accent5>
        <a:srgbClr val="924CFC"/>
      </a:accent5>
      <a:accent6>
        <a:srgbClr val="D7306D"/>
      </a:accent6>
      <a:hlink>
        <a:srgbClr val="0F6DFF"/>
      </a:hlink>
      <a:folHlink>
        <a:srgbClr val="E0E0E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lstStyle>
        <a:defPPr algn="l">
          <a:defRPr sz="2000" dirty="0">
            <a:latin typeface="IBM Plex Sans" panose="020B0503050000000000"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wrap="square" lIns="91440" tIns="45720" rIns="91440" bIns="45720" rtlCol="0">
        <a:noAutofit/>
      </a:bodyPr>
      <a:lstStyle>
        <a:defPPr>
          <a:lnSpc>
            <a:spcPct val="105000"/>
          </a:lnSpc>
          <a:spcBef>
            <a:spcPts val="1000"/>
          </a:spcBef>
          <a:defRPr sz="2000" dirty="0" err="1" smtClean="0">
            <a:solidFill>
              <a:schemeClr val="tx1"/>
            </a:solidFill>
            <a:latin typeface="IBM Plex Sans" charset="0"/>
            <a:ea typeface="IBM Plex Sans" charset="0"/>
            <a:cs typeface="IBM Plex Sans" charset="0"/>
          </a:defRPr>
        </a:defPPr>
      </a:lstStyle>
    </a:txDef>
  </a:objectDefaults>
  <a:extraClrSchemeLst/>
  <a:extLst>
    <a:ext uri="{05A4C25C-085E-4340-85A3-A5531E510DB2}">
      <thm15:themeFamily xmlns:thm15="http://schemas.microsoft.com/office/thememl/2012/main" name="IBM Services Academy_Basic PPT_Plex_v5.8" id="{16CFD3B1-9246-A547-A47B-AD27F55F87D1}" vid="{750DE2A3-828F-3F4B-A26D-620EAA74ACB2}"/>
    </a:ext>
  </a:extLst>
</a:theme>
</file>

<file path=ppt/theme/theme2.xml><?xml version="1.0" encoding="utf-8"?>
<a:theme xmlns:a="http://schemas.openxmlformats.org/drawingml/2006/main" name="3_Light Background">
  <a:themeElements>
    <a:clrScheme name="IBM Services Palette Final">
      <a:dk1>
        <a:srgbClr val="000000"/>
      </a:dk1>
      <a:lt1>
        <a:srgbClr val="051243"/>
      </a:lt1>
      <a:dk2>
        <a:srgbClr val="F3F3F3"/>
      </a:dk2>
      <a:lt2>
        <a:srgbClr val="FFFFFF"/>
      </a:lt2>
      <a:accent1>
        <a:srgbClr val="6EA6FF"/>
      </a:accent1>
      <a:accent2>
        <a:srgbClr val="0F6DFF"/>
      </a:accent2>
      <a:accent3>
        <a:srgbClr val="0530AD"/>
      </a:accent3>
      <a:accent4>
        <a:srgbClr val="00BAB6"/>
      </a:accent4>
      <a:accent5>
        <a:srgbClr val="924CFC"/>
      </a:accent5>
      <a:accent6>
        <a:srgbClr val="D7306D"/>
      </a:accent6>
      <a:hlink>
        <a:srgbClr val="0F6DFF"/>
      </a:hlink>
      <a:folHlink>
        <a:srgbClr val="E0E0E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noAutofit/>
      </a:bodyPr>
      <a:lstStyle>
        <a:defPPr>
          <a:lnSpc>
            <a:spcPct val="105000"/>
          </a:lnSpc>
          <a:spcBef>
            <a:spcPts val="1000"/>
          </a:spcBef>
          <a:defRPr sz="2000" dirty="0" err="1" smtClean="0">
            <a:solidFill>
              <a:schemeClr val="tx1"/>
            </a:solidFill>
            <a:latin typeface="IBM Plex Sans" charset="0"/>
            <a:ea typeface="IBM Plex Sans" charset="0"/>
            <a:cs typeface="IBM Plex Sans"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academy</Template>
  <TotalTime>7842</TotalTime>
  <Words>2747</Words>
  <Application>Microsoft Macintosh PowerPoint</Application>
  <PresentationFormat>Custom</PresentationFormat>
  <Paragraphs>410</Paragraphs>
  <Slides>22</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.AppleSystemUIFont</vt:lpstr>
      <vt:lpstr>Aptos Narrow</vt:lpstr>
      <vt:lpstr>Arial</vt:lpstr>
      <vt:lpstr>Arial Regular</vt:lpstr>
      <vt:lpstr>Calibri</vt:lpstr>
      <vt:lpstr>IBM Plex Sans</vt:lpstr>
      <vt:lpstr>Inter</vt:lpstr>
      <vt:lpstr>LucidaGrande</vt:lpstr>
      <vt:lpstr>Segoe UI</vt:lpstr>
      <vt:lpstr>Wingdings</vt:lpstr>
      <vt:lpstr>1_COVERS</vt:lpstr>
      <vt:lpstr>3_Light Background</vt:lpstr>
      <vt:lpstr>PowerPoint Presentation</vt:lpstr>
      <vt:lpstr>Triangle of Quantum Security (QC + PQC + QRNG)  </vt:lpstr>
      <vt:lpstr>PowerPoint Presentation</vt:lpstr>
      <vt:lpstr>PowerPoint Presentation</vt:lpstr>
      <vt:lpstr>PowerPoint Presentation</vt:lpstr>
      <vt:lpstr>Quantum-Resistant Standards for New Cryptographic Algorithms</vt:lpstr>
      <vt:lpstr>PowerPoint Presentation</vt:lpstr>
      <vt:lpstr>Quantum Risk Assessment Post-Quantum Cryptography Assessment Service </vt:lpstr>
      <vt:lpstr>Today’s Classical Cryptographic Algorithms and Protocols</vt:lpstr>
      <vt:lpstr>Estimated Cryptographic Algorithm Count (a.k.a. Crypto Inventory Typical Size/Volume)  </vt:lpstr>
      <vt:lpstr>Discovery Tools for Comprehensive Cryptographic Inventory</vt:lpstr>
      <vt:lpstr>Building a Comprehensive Cryptographic Bill of Materials (CBOM)</vt:lpstr>
      <vt:lpstr>Sample Cryptographic Bill of Materials (CBOM)</vt:lpstr>
      <vt:lpstr>PowerPoint Presentation</vt:lpstr>
      <vt:lpstr>PowerPoint Presentation</vt:lpstr>
      <vt:lpstr>PowerPoint Presentation</vt:lpstr>
      <vt:lpstr>PowerPoint Presentation</vt:lpstr>
      <vt:lpstr>PowerPoint Presentation</vt:lpstr>
      <vt:lpstr>Hybrid Approach: Immediate Action with Cryptographic Inventory Development</vt:lpstr>
      <vt:lpstr>Hybrid PQC Migration &amp; Cryptographic Agility</vt:lpstr>
      <vt:lpstr>Quantum Risk Assessment Quantum Resilience Strategy Framework Scope Summary</vt:lpstr>
      <vt:lpstr>Quantum Risk Assessment Quantum Resilience Program Outputs/Deliverables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and Storytelling</dc:title>
  <dc:creator>Kl Hamilton</dc:creator>
  <cp:lastModifiedBy>Sameh Saeed</cp:lastModifiedBy>
  <cp:revision>273</cp:revision>
  <cp:lastPrinted>2017-10-24T19:02:10Z</cp:lastPrinted>
  <dcterms:created xsi:type="dcterms:W3CDTF">2019-03-19T20:16:43Z</dcterms:created>
  <dcterms:modified xsi:type="dcterms:W3CDTF">2026-03-13T19:13:31Z</dcterms:modified>
</cp:coreProperties>
</file>