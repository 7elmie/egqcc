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20"/>
  </p:notesMasterIdLst>
  <p:handoutMasterIdLst>
    <p:handoutMasterId r:id="rId21"/>
  </p:handoutMasterIdLst>
  <p:sldIdLst>
    <p:sldId id="141168164" r:id="rId3"/>
    <p:sldId id="141168166" r:id="rId4"/>
    <p:sldId id="141168160" r:id="rId5"/>
    <p:sldId id="141168177" r:id="rId6"/>
    <p:sldId id="141168186" r:id="rId7"/>
    <p:sldId id="141168184" r:id="rId8"/>
    <p:sldId id="141168187" r:id="rId9"/>
    <p:sldId id="141168167" r:id="rId10"/>
    <p:sldId id="141168174" r:id="rId11"/>
    <p:sldId id="141168173" r:id="rId12"/>
    <p:sldId id="141168170" r:id="rId13"/>
    <p:sldId id="141168171" r:id="rId14"/>
    <p:sldId id="141168178" r:id="rId15"/>
    <p:sldId id="141168172" r:id="rId16"/>
    <p:sldId id="141168185" r:id="rId17"/>
    <p:sldId id="141168168" r:id="rId18"/>
    <p:sldId id="141168169" r:id="rId19"/>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2549" autoAdjust="0"/>
    <p:restoredTop sz="95707"/>
  </p:normalViewPr>
  <p:slideViewPr>
    <p:cSldViewPr snapToObjects="1">
      <p:cViewPr varScale="1">
        <p:scale>
          <a:sx n="82" d="100"/>
          <a:sy n="82" d="100"/>
        </p:scale>
        <p:origin x="168" y="384"/>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handoutMaster" Target="handoutMasters/handout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commentAuthors" Target="commentAuthors.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3/12/26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3/12/26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
        <p:nvSpPr>
          <p:cNvPr id="2" name="Slide Number Placeholder 2">
            <a:extLst>
              <a:ext uri="{FF2B5EF4-FFF2-40B4-BE49-F238E27FC236}">
                <a16:creationId xmlns:a16="http://schemas.microsoft.com/office/drawing/2014/main" id="{9014E83F-520A-4CD5-0E53-3C0111C0784C}"/>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bg2"/>
                </a:solidFill>
                <a:latin typeface="IBM Plex Sans" charset="0"/>
                <a:ea typeface="IBM Plex Sans" charset="0"/>
                <a:cs typeface="IBM Plex Sans" charset="0"/>
              </a:rPr>
              <a:t>Page </a:t>
            </a:r>
            <a:fld id="{3FD999D4-B456-9943-89B7-30D56181CE18}" type="slidenum">
              <a:rPr lang="en-US" sz="1920" b="0" i="0" smtClean="0">
                <a:solidFill>
                  <a:schemeClr val="bg2"/>
                </a:solidFill>
                <a:latin typeface="IBM Plex Sans" charset="0"/>
                <a:ea typeface="IBM Plex Sans" charset="0"/>
                <a:cs typeface="IBM Plex Sans" charset="0"/>
              </a:rPr>
              <a:pPr algn="l"/>
              <a:t>‹#›</a:t>
            </a:fld>
            <a:r>
              <a:rPr lang="en-US" sz="1920" b="0" i="0" dirty="0">
                <a:solidFill>
                  <a:schemeClr val="bg2"/>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
        <p:nvSpPr>
          <p:cNvPr id="4" name="Slide Number Placeholder 2">
            <a:extLst>
              <a:ext uri="{FF2B5EF4-FFF2-40B4-BE49-F238E27FC236}">
                <a16:creationId xmlns:a16="http://schemas.microsoft.com/office/drawing/2014/main" id="{59600BEE-0DDA-C4E8-9DEB-7A1A735B88CF}"/>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
        <p:nvSpPr>
          <p:cNvPr id="4" name="Slide Number Placeholder 2">
            <a:extLst>
              <a:ext uri="{FF2B5EF4-FFF2-40B4-BE49-F238E27FC236}">
                <a16:creationId xmlns:a16="http://schemas.microsoft.com/office/drawing/2014/main" id="{F9BEFB92-6D08-A8E4-8DD7-2D8EF02FF760}"/>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FD673-BBF5-18DA-9C17-0DF2FBAC550F}"/>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EF5BDDCB-C3DE-12AC-1EAA-1866CD7F8C84}"/>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Quantum Threat Models</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E242639-068F-754E-4840-E60A4C7C5A2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599" y="838200"/>
            <a:ext cx="14114117" cy="6858000"/>
          </a:xfrm>
          <a:prstGeom prst="rect">
            <a:avLst/>
          </a:prstGeom>
        </p:spPr>
      </p:pic>
    </p:spTree>
    <p:extLst>
      <p:ext uri="{BB962C8B-B14F-4D97-AF65-F5344CB8AC3E}">
        <p14:creationId xmlns:p14="http://schemas.microsoft.com/office/powerpoint/2010/main" val="822086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extLst>
              <p:ext uri="{D42A27DB-BD31-4B8C-83A1-F6EECF244321}">
                <p14:modId xmlns:p14="http://schemas.microsoft.com/office/powerpoint/2010/main" val="2517811213"/>
              </p:ext>
            </p:extLst>
          </p:nvPr>
        </p:nvGraphicFramePr>
        <p:xfrm>
          <a:off x="457200" y="664316"/>
          <a:ext cx="13487400" cy="7156675"/>
        </p:xfrm>
        <a:graphic>
          <a:graphicData uri="http://schemas.openxmlformats.org/drawingml/2006/table">
            <a:tbl>
              <a:tblPr>
                <a:tableStyleId>{5C22544A-7EE6-4342-B048-85BDC9FD1C3A}</a:tableStyleId>
              </a:tblPr>
              <a:tblGrid>
                <a:gridCol w="1447800">
                  <a:extLst>
                    <a:ext uri="{9D8B030D-6E8A-4147-A177-3AD203B41FA5}">
                      <a16:colId xmlns:a16="http://schemas.microsoft.com/office/drawing/2014/main" val="1549872932"/>
                    </a:ext>
                  </a:extLst>
                </a:gridCol>
                <a:gridCol w="2971800">
                  <a:extLst>
                    <a:ext uri="{9D8B030D-6E8A-4147-A177-3AD203B41FA5}">
                      <a16:colId xmlns:a16="http://schemas.microsoft.com/office/drawing/2014/main" val="3971865718"/>
                    </a:ext>
                  </a:extLst>
                </a:gridCol>
                <a:gridCol w="3733800">
                  <a:extLst>
                    <a:ext uri="{9D8B030D-6E8A-4147-A177-3AD203B41FA5}">
                      <a16:colId xmlns:a16="http://schemas.microsoft.com/office/drawing/2014/main" val="899511941"/>
                    </a:ext>
                  </a:extLst>
                </a:gridCol>
                <a:gridCol w="5334000">
                  <a:extLst>
                    <a:ext uri="{9D8B030D-6E8A-4147-A177-3AD203B41FA5}">
                      <a16:colId xmlns:a16="http://schemas.microsoft.com/office/drawing/2014/main" val="4137139247"/>
                    </a:ext>
                  </a:extLst>
                </a:gridCol>
              </a:tblGrid>
              <a:tr h="300128">
                <a:tc>
                  <a:txBody>
                    <a:bodyPr/>
                    <a:lstStyle/>
                    <a:p>
                      <a:pPr algn="ctr" fontAlgn="ctr"/>
                      <a:r>
                        <a:rPr lang="en-US" sz="1600" b="1" u="none" strike="noStrike">
                          <a:effectLst/>
                          <a:latin typeface="Calibri" panose="020F0502020204030204" pitchFamily="34" charset="0"/>
                          <a:cs typeface="Calibri" panose="020F0502020204030204" pitchFamily="34" charset="0"/>
                        </a:rPr>
                        <a:t>Region / Body</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a:effectLst/>
                          <a:latin typeface="Calibri" panose="020F0502020204030204" pitchFamily="34" charset="0"/>
                          <a:cs typeface="Calibri" panose="020F0502020204030204" pitchFamily="34" charset="0"/>
                        </a:rPr>
                        <a:t>Organization</a:t>
                      </a:r>
                      <a:endParaRPr lang="en-US" sz="18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dirty="0">
                          <a:effectLst/>
                          <a:latin typeface="Calibri" panose="020F0502020204030204" pitchFamily="34" charset="0"/>
                          <a:cs typeface="Calibri" panose="020F0502020204030204" pitchFamily="34" charset="0"/>
                        </a:rPr>
                        <a:t>Key Initiatives &amp; Standards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800" b="1" u="none" strike="noStrike" dirty="0">
                          <a:effectLst/>
                          <a:latin typeface="Calibri" panose="020F0502020204030204" pitchFamily="34" charset="0"/>
                          <a:cs typeface="Calibri" panose="020F0502020204030204" pitchFamily="34" charset="0"/>
                        </a:rPr>
                        <a:t>Notable Algorithms Specifications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722695625"/>
                  </a:ext>
                </a:extLst>
              </a:tr>
              <a:tr h="948655">
                <a:tc>
                  <a:txBody>
                    <a:bodyPr/>
                    <a:lstStyle/>
                    <a:p>
                      <a:pPr algn="ctr" fontAlgn="ctr"/>
                      <a:r>
                        <a:rPr lang="en-US" sz="1600" b="1" u="none" strike="noStrike" dirty="0">
                          <a:effectLst/>
                          <a:latin typeface="Calibri" panose="020F0502020204030204" pitchFamily="34" charset="0"/>
                          <a:cs typeface="Calibri" panose="020F0502020204030204" pitchFamily="34" charset="0"/>
                        </a:rPr>
                        <a:t>United States</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NIST</a:t>
                      </a:r>
                      <a:r>
                        <a:rPr lang="en-US" sz="1600" u="none" strike="noStrike" dirty="0">
                          <a:effectLst/>
                          <a:latin typeface="Calibri" panose="020F0502020204030204" pitchFamily="34" charset="0"/>
                          <a:cs typeface="Calibri" panose="020F0502020204030204" pitchFamily="34" charset="0"/>
                        </a:rPr>
                        <a:t> (National Institute of Standards and Technology)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Standards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203</a:t>
                      </a:r>
                      <a:r>
                        <a:rPr lang="en-US" sz="1600" u="none" strike="noStrike" dirty="0">
                          <a:effectLst/>
                          <a:latin typeface="Calibri" panose="020F0502020204030204" pitchFamily="34" charset="0"/>
                          <a:cs typeface="Calibri" panose="020F0502020204030204" pitchFamily="34" charset="0"/>
                        </a:rPr>
                        <a:t>: ML-KEM (Kyber)</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204</a:t>
                      </a:r>
                      <a:r>
                        <a:rPr lang="en-US" sz="1600" u="none" strike="noStrike" dirty="0">
                          <a:effectLst/>
                          <a:latin typeface="Calibri" panose="020F0502020204030204" pitchFamily="34" charset="0"/>
                          <a:cs typeface="Calibri" panose="020F0502020204030204" pitchFamily="34" charset="0"/>
                        </a:rPr>
                        <a:t>: ML-DSA (</a:t>
                      </a:r>
                      <a:r>
                        <a:rPr lang="en-US" sz="1600" u="none" strike="noStrike" dirty="0" err="1">
                          <a:effectLst/>
                          <a:latin typeface="Calibri" panose="020F0502020204030204" pitchFamily="34" charset="0"/>
                          <a:cs typeface="Calibri" panose="020F0502020204030204" pitchFamily="34" charset="0"/>
                        </a:rPr>
                        <a:t>Dilithium</a:t>
                      </a:r>
                      <a:r>
                        <a:rPr lang="en-US" sz="1600" u="none" strike="noStrike" dirty="0">
                          <a:effectLst/>
                          <a:latin typeface="Calibri" panose="020F0502020204030204" pitchFamily="34" charset="0"/>
                          <a:cs typeface="Calibri" panose="020F0502020204030204" pitchFamily="34" charset="0"/>
                        </a:rPr>
                        <a:t>)</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205</a:t>
                      </a:r>
                      <a:r>
                        <a:rPr lang="en-US" sz="1600" u="none" strike="noStrike" dirty="0">
                          <a:effectLst/>
                          <a:latin typeface="Calibri" panose="020F0502020204030204" pitchFamily="34" charset="0"/>
                          <a:cs typeface="Calibri" panose="020F0502020204030204" pitchFamily="34" charset="0"/>
                        </a:rPr>
                        <a:t>: SLH-DSA (SPHINCS+)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a:t>
                      </a:r>
                      <a:r>
                        <a:rPr lang="en-US" sz="1600" b="1" u="none" strike="noStrike" dirty="0">
                          <a:effectLst/>
                          <a:latin typeface="Calibri" panose="020F0502020204030204" pitchFamily="34" charset="0"/>
                          <a:cs typeface="Calibri" panose="020F0502020204030204" pitchFamily="34" charset="0"/>
                        </a:rPr>
                        <a:t>ML-KEM (Kyber)</a:t>
                      </a:r>
                      <a:r>
                        <a:rPr lang="en-US" sz="1600" u="none" strike="noStrike" dirty="0">
                          <a:effectLst/>
                          <a:latin typeface="Calibri" panose="020F0502020204030204" pitchFamily="34" charset="0"/>
                          <a:cs typeface="Calibri" panose="020F0502020204030204" pitchFamily="34" charset="0"/>
                        </a:rPr>
                        <a:t>: Key encapsulation</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ML-DSA (</a:t>
                      </a:r>
                      <a:r>
                        <a:rPr lang="en-US" sz="1600" b="1" u="none" strike="noStrike" dirty="0" err="1">
                          <a:effectLst/>
                          <a:latin typeface="Calibri" panose="020F0502020204030204" pitchFamily="34" charset="0"/>
                          <a:cs typeface="Calibri" panose="020F0502020204030204" pitchFamily="34" charset="0"/>
                        </a:rPr>
                        <a:t>Dilithium</a:t>
                      </a:r>
                      <a:r>
                        <a:rPr lang="en-US" sz="1600" b="1" u="none" strike="noStrike" dirty="0">
                          <a:effectLst/>
                          <a:latin typeface="Calibri" panose="020F0502020204030204" pitchFamily="34" charset="0"/>
                          <a:cs typeface="Calibri" panose="020F0502020204030204" pitchFamily="34" charset="0"/>
                        </a:rPr>
                        <a:t>)</a:t>
                      </a:r>
                      <a:r>
                        <a:rPr lang="en-US" sz="1600" u="none" strike="noStrike" dirty="0">
                          <a:effectLst/>
                          <a:latin typeface="Calibri" panose="020F0502020204030204" pitchFamily="34" charset="0"/>
                          <a:cs typeface="Calibri" panose="020F0502020204030204" pitchFamily="34" charset="0"/>
                        </a:rPr>
                        <a:t>: Digital signatures</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SLH-DSA (SPHINCS+)</a:t>
                      </a:r>
                      <a:r>
                        <a:rPr lang="en-US" sz="1600" u="none" strike="noStrike" dirty="0">
                          <a:effectLst/>
                          <a:latin typeface="Calibri" panose="020F0502020204030204" pitchFamily="34" charset="0"/>
                          <a:cs typeface="Calibri" panose="020F0502020204030204" pitchFamily="34" charset="0"/>
                        </a:rPr>
                        <a:t>: Stateless hash-based signatures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376957520"/>
                  </a:ext>
                </a:extLst>
              </a:tr>
              <a:tr h="948655">
                <a:tc rowSpan="2">
                  <a:txBody>
                    <a:bodyPr/>
                    <a:lstStyle/>
                    <a:p>
                      <a:pPr algn="ctr" fontAlgn="ctr"/>
                      <a:r>
                        <a:rPr lang="en-US" sz="1600" b="1" u="none" strike="noStrike">
                          <a:effectLst/>
                          <a:latin typeface="Calibri" panose="020F0502020204030204" pitchFamily="34" charset="0"/>
                          <a:cs typeface="Calibri" panose="020F0502020204030204" pitchFamily="34" charset="0"/>
                        </a:rPr>
                        <a:t>European Union</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ETSI</a:t>
                      </a:r>
                      <a:r>
                        <a:rPr lang="en-US" sz="1600" u="none" strike="noStrike" dirty="0">
                          <a:effectLst/>
                          <a:latin typeface="Calibri" panose="020F0502020204030204" pitchFamily="34" charset="0"/>
                          <a:cs typeface="Calibri" panose="020F0502020204030204" pitchFamily="34" charset="0"/>
                        </a:rPr>
                        <a:t> (European Telecommunications Standards Institute)</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Quantum-Safe Cryptography (</a:t>
                      </a:r>
                      <a:r>
                        <a:rPr lang="en-US" sz="1600" b="1" u="none" strike="noStrike" dirty="0">
                          <a:effectLst/>
                          <a:latin typeface="Calibri" panose="020F0502020204030204" pitchFamily="34" charset="0"/>
                          <a:cs typeface="Calibri" panose="020F0502020204030204" pitchFamily="34" charset="0"/>
                        </a:rPr>
                        <a:t>QSC</a:t>
                      </a:r>
                      <a:r>
                        <a:rPr lang="en-US" sz="1600" u="none" strike="noStrike" dirty="0">
                          <a:effectLst/>
                          <a:latin typeface="Calibri" panose="020F0502020204030204" pitchFamily="34" charset="0"/>
                          <a:cs typeface="Calibri" panose="020F0502020204030204" pitchFamily="34" charset="0"/>
                        </a:rPr>
                        <a:t>)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ETSI TS 104 015</a:t>
                      </a:r>
                      <a:r>
                        <a:rPr lang="en-US" sz="1600" u="none" strike="noStrike" dirty="0">
                          <a:effectLst/>
                          <a:latin typeface="Calibri" panose="020F0502020204030204" pitchFamily="34" charset="0"/>
                          <a:cs typeface="Calibri" panose="020F0502020204030204" pitchFamily="34" charset="0"/>
                        </a:rPr>
                        <a:t>: Efficient Quantum-Safe Hybrid Key Exchanges with Hidden Access Policies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err="1">
                          <a:effectLst/>
                          <a:latin typeface="Calibri" panose="020F0502020204030204" pitchFamily="34" charset="0"/>
                          <a:cs typeface="Calibri" panose="020F0502020204030204" pitchFamily="34" charset="0"/>
                        </a:rPr>
                        <a:t>Covercrypt</a:t>
                      </a:r>
                      <a:r>
                        <a:rPr lang="en-US" sz="1600" u="none" strike="noStrike" dirty="0">
                          <a:effectLst/>
                          <a:latin typeface="Calibri" panose="020F0502020204030204" pitchFamily="34" charset="0"/>
                          <a:cs typeface="Calibri" panose="020F0502020204030204" pitchFamily="34" charset="0"/>
                        </a:rPr>
                        <a:t>: Hybrid key encapsulation mechanism with access control</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2355632758"/>
                  </a:ext>
                </a:extLst>
              </a:tr>
              <a:tr h="699223">
                <a:tc vMerge="1">
                  <a:txBody>
                    <a:bodyPr/>
                    <a:lstStyle/>
                    <a:p>
                      <a:endParaRPr lang="en-EG"/>
                    </a:p>
                  </a:txBody>
                  <a:tcPr/>
                </a:tc>
                <a:tc>
                  <a:txBody>
                    <a:bodyPr/>
                    <a:lstStyle/>
                    <a:p>
                      <a:pPr algn="l" fontAlgn="ctr"/>
                      <a:r>
                        <a:rPr lang="en-US" sz="1600" b="1" u="none" strike="noStrike" dirty="0">
                          <a:effectLst/>
                          <a:latin typeface="Calibri" panose="020F0502020204030204" pitchFamily="34" charset="0"/>
                          <a:cs typeface="Calibri" panose="020F0502020204030204" pitchFamily="34" charset="0"/>
                        </a:rPr>
                        <a:t>ENISA</a:t>
                      </a:r>
                      <a:r>
                        <a:rPr lang="en-US" sz="1600" u="none" strike="noStrike" dirty="0">
                          <a:effectLst/>
                          <a:latin typeface="Calibri" panose="020F0502020204030204" pitchFamily="34" charset="0"/>
                          <a:cs typeface="Calibri" panose="020F0502020204030204" pitchFamily="34" charset="0"/>
                        </a:rPr>
                        <a:t> (European Union Agency for Cybersecurity)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0"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standardization and integration</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Frameworks for PQC adoption and migration strategies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1727606736"/>
                  </a:ext>
                </a:extLst>
              </a:tr>
              <a:tr h="713502">
                <a:tc rowSpan="2">
                  <a:txBody>
                    <a:bodyPr/>
                    <a:lstStyle/>
                    <a:p>
                      <a:pPr algn="ctr" fontAlgn="ctr"/>
                      <a:r>
                        <a:rPr lang="en-US" sz="1600" b="1" u="none" strike="noStrike" dirty="0">
                          <a:effectLst/>
                          <a:latin typeface="Calibri" panose="020F0502020204030204" pitchFamily="34" charset="0"/>
                          <a:cs typeface="Calibri" panose="020F0502020204030204" pitchFamily="34" charset="0"/>
                        </a:rPr>
                        <a:t>China</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National Cryptography Administration (</a:t>
                      </a:r>
                      <a:r>
                        <a:rPr lang="en-US" sz="1600" b="1" u="none" strike="noStrike" dirty="0">
                          <a:effectLst/>
                          <a:latin typeface="Calibri" panose="020F0502020204030204" pitchFamily="34" charset="0"/>
                          <a:cs typeface="Calibri" panose="020F0502020204030204" pitchFamily="34" charset="0"/>
                        </a:rPr>
                        <a:t>NCA</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National PQC standardization </a:t>
                      </a:r>
                      <a:br>
                        <a:rPr lang="en-US" sz="1600" u="none" strike="noStrike">
                          <a:effectLst/>
                          <a:latin typeface="Calibri" panose="020F0502020204030204" pitchFamily="34" charset="0"/>
                          <a:cs typeface="Calibri" panose="020F0502020204030204" pitchFamily="34" charset="0"/>
                        </a:rPr>
                      </a:br>
                      <a:r>
                        <a:rPr lang="en-US" sz="1600" u="none" strike="noStrike">
                          <a:effectLst/>
                          <a:latin typeface="Calibri" panose="020F0502020204030204" pitchFamily="34" charset="0"/>
                          <a:cs typeface="Calibri" panose="020F0502020204030204" pitchFamily="34" charset="0"/>
                        </a:rPr>
                        <a:t>- Development of  quantum-resistant algorithms</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Proprietary</a:t>
                      </a:r>
                      <a:r>
                        <a:rPr lang="en-US" sz="1600" u="none" strike="noStrike" dirty="0">
                          <a:effectLst/>
                          <a:latin typeface="Calibri" panose="020F0502020204030204" pitchFamily="34" charset="0"/>
                          <a:cs typeface="Calibri" panose="020F0502020204030204" pitchFamily="34" charset="0"/>
                        </a:rPr>
                        <a:t> algorithms under evaluation </a:t>
                      </a:r>
                    </a:p>
                    <a:p>
                      <a:pPr algn="l" fontAlgn="ctr"/>
                      <a:r>
                        <a:rPr lang="en-US" sz="1600" b="1" u="none" strike="noStrike" dirty="0">
                          <a:effectLst/>
                          <a:latin typeface="Calibri" panose="020F0502020204030204" pitchFamily="34" charset="0"/>
                          <a:cs typeface="Calibri" panose="020F0502020204030204" pitchFamily="34" charset="0"/>
                        </a:rPr>
                        <a:t>(not publicly disclosed)</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870568737"/>
                  </a:ext>
                </a:extLst>
              </a:tr>
              <a:tr h="515644">
                <a:tc vMerge="1">
                  <a:txBody>
                    <a:bodyPr/>
                    <a:lstStyle/>
                    <a:p>
                      <a:endParaRPr lang="en-EG"/>
                    </a:p>
                  </a:txBody>
                  <a:tcPr/>
                </a:tc>
                <a:tc>
                  <a:txBody>
                    <a:bodyPr/>
                    <a:lstStyle/>
                    <a:p>
                      <a:pPr algn="l" fontAlgn="ctr"/>
                      <a:r>
                        <a:rPr lang="en-US" sz="1600" u="none" strike="noStrike" dirty="0">
                          <a:effectLst/>
                          <a:latin typeface="Calibri" panose="020F0502020204030204" pitchFamily="34" charset="0"/>
                          <a:cs typeface="Calibri" panose="020F0502020204030204" pitchFamily="34" charset="0"/>
                        </a:rPr>
                        <a:t>Institute of Commercial Cryptography Standards (</a:t>
                      </a:r>
                      <a:r>
                        <a:rPr lang="en-US" sz="1600" b="1" u="none" strike="noStrike" dirty="0">
                          <a:effectLst/>
                          <a:latin typeface="Calibri" panose="020F0502020204030204" pitchFamily="34" charset="0"/>
                          <a:cs typeface="Calibri" panose="020F0502020204030204" pitchFamily="34" charset="0"/>
                        </a:rPr>
                        <a:t>ICCS</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PQC Evaluation based on security, performance, and feasibility</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Ongoing selection process for suitable algorithms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470857180"/>
                  </a:ext>
                </a:extLst>
              </a:tr>
              <a:tr h="2829878">
                <a:tc>
                  <a:txBody>
                    <a:bodyPr/>
                    <a:lstStyle/>
                    <a:p>
                      <a:pPr algn="ctr" fontAlgn="ctr"/>
                      <a:r>
                        <a:rPr lang="en-US" sz="1600" b="1" i="0" u="none" strike="noStrike" dirty="0">
                          <a:solidFill>
                            <a:srgbClr val="000000"/>
                          </a:solidFill>
                          <a:effectLst/>
                          <a:latin typeface="Calibri" panose="020F0502020204030204" pitchFamily="34" charset="0"/>
                          <a:cs typeface="Calibri" panose="020F0502020204030204" pitchFamily="34" charset="0"/>
                        </a:rPr>
                        <a:t>Middle East</a:t>
                      </a: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 NCA (National Cybersecurity Authority) - NCS-2:2025</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UAE:</a:t>
                      </a:r>
                      <a:r>
                        <a:rPr lang="en-US" sz="1600" dirty="0">
                          <a:latin typeface="Calibri" panose="020F0502020204030204" pitchFamily="34" charset="0"/>
                          <a:cs typeface="Calibri" panose="020F0502020204030204" pitchFamily="34" charset="0"/>
                        </a:rPr>
                        <a:t> </a:t>
                      </a:r>
                      <a:r>
                        <a:rPr lang="en-US" sz="1600" b="1" dirty="0">
                          <a:latin typeface="Calibri" panose="020F0502020204030204" pitchFamily="34" charset="0"/>
                          <a:cs typeface="Calibri" panose="020F0502020204030204" pitchFamily="34" charset="0"/>
                        </a:rPr>
                        <a:t>UAECSC</a:t>
                      </a:r>
                      <a:r>
                        <a:rPr lang="en-US" sz="1600" dirty="0">
                          <a:latin typeface="Calibri" panose="020F0502020204030204" pitchFamily="34" charset="0"/>
                          <a:cs typeface="Calibri" panose="020F0502020204030204" pitchFamily="34" charset="0"/>
                        </a:rPr>
                        <a:t> (Cyber Security Council) </a:t>
                      </a:r>
                      <a:r>
                        <a:rPr lang="en-US" sz="1600" b="1" dirty="0">
                          <a:latin typeface="Calibri" panose="020F0502020204030204" pitchFamily="34" charset="0"/>
                          <a:cs typeface="Calibri" panose="020F0502020204030204" pitchFamily="34" charset="0"/>
                        </a:rPr>
                        <a:t>National Encryption Policy</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Qatar: NCSA</a:t>
                      </a:r>
                      <a:r>
                        <a:rPr lang="en-US" sz="1600" dirty="0">
                          <a:latin typeface="Calibri" panose="020F0502020204030204" pitchFamily="34" charset="0"/>
                          <a:cs typeface="Calibri" panose="020F0502020204030204" pitchFamily="34" charset="0"/>
                        </a:rPr>
                        <a:t> (National Cybersecurity Agency) - </a:t>
                      </a:r>
                      <a:r>
                        <a:rPr lang="en-US" sz="1600" b="1" dirty="0">
                          <a:latin typeface="Calibri" panose="020F0502020204030204" pitchFamily="34" charset="0"/>
                          <a:cs typeface="Calibri" panose="020F0502020204030204" pitchFamily="34" charset="0"/>
                        </a:rPr>
                        <a:t>Strategy 2024–2030</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Dec 2025 – </a:t>
                      </a:r>
                      <a:r>
                        <a:rPr lang="en-US" sz="1600" b="1" i="0" u="none" strike="noStrike" dirty="0" err="1">
                          <a:solidFill>
                            <a:srgbClr val="000000"/>
                          </a:solidFill>
                          <a:effectLst/>
                          <a:latin typeface="Calibri" panose="020F0502020204030204" pitchFamily="34" charset="0"/>
                          <a:cs typeface="Calibri" panose="020F0502020204030204" pitchFamily="34" charset="0"/>
                        </a:rPr>
                        <a:t>Q2</a:t>
                      </a:r>
                      <a:r>
                        <a:rPr lang="en-US" sz="1600" b="1" i="0" u="none" strike="noStrike" dirty="0">
                          <a:solidFill>
                            <a:srgbClr val="000000"/>
                          </a:solidFill>
                          <a:effectLst/>
                          <a:latin typeface="Calibri" panose="020F0502020204030204" pitchFamily="34" charset="0"/>
                          <a:cs typeface="Calibri" panose="020F0502020204030204" pitchFamily="34" charset="0"/>
                        </a:rPr>
                        <a:t> 2026</a:t>
                      </a:r>
                      <a:r>
                        <a:rPr lang="en-US" sz="1600" b="0" i="0" u="none" strike="noStrike" dirty="0">
                          <a:solidFill>
                            <a:srgbClr val="000000"/>
                          </a:solidFill>
                          <a:effectLst/>
                          <a:latin typeface="Calibri" panose="020F0502020204030204" pitchFamily="34" charset="0"/>
                          <a:cs typeface="Calibri" panose="020F0502020204030204" pitchFamily="34" charset="0"/>
                        </a:rPr>
                        <a:t>: Mandatory submission of PQC Risk Assessments and "Advanced" level crypto-inventories for CNI</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UAE</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May – July 2026</a:t>
                      </a:r>
                      <a:r>
                        <a:rPr lang="en-US" sz="1600" b="0" i="0" u="none" strike="noStrike" dirty="0">
                          <a:solidFill>
                            <a:srgbClr val="000000"/>
                          </a:solidFill>
                          <a:effectLst/>
                          <a:latin typeface="Calibri" panose="020F0502020204030204" pitchFamily="34" charset="0"/>
                          <a:cs typeface="Calibri" panose="020F0502020204030204" pitchFamily="34" charset="0"/>
                        </a:rPr>
                        <a:t>: Entities must submit PQC Migration Plans within 180 days of regulatory "Phase 0" notification.</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Qatar</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end of 2026</a:t>
                      </a:r>
                      <a:r>
                        <a:rPr lang="en-US" sz="1600" b="0" i="0" u="none" strike="noStrike" dirty="0">
                          <a:solidFill>
                            <a:srgbClr val="000000"/>
                          </a:solidFill>
                          <a:effectLst/>
                          <a:latin typeface="Calibri" panose="020F0502020204030204" pitchFamily="34" charset="0"/>
                          <a:cs typeface="Calibri" panose="020F0502020204030204" pitchFamily="34" charset="0"/>
                        </a:rPr>
                        <a:t>: Modernization of financial sector PKI to support hybrid PQC/classical algorithms.</a:t>
                      </a:r>
                    </a:p>
                  </a:txBody>
                  <a:tcPr marL="8340" marR="8340" marT="8340" marB="0" anchor="ctr"/>
                </a:tc>
                <a:tc>
                  <a:txBody>
                    <a:bodyPr/>
                    <a:lstStyle/>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NIST Baseline: ML-KEM (Kyber), ML-DSA (</a:t>
                      </a:r>
                      <a:r>
                        <a:rPr lang="en-US" sz="1600" b="0" i="0" u="none" strike="noStrike" dirty="0" err="1">
                          <a:solidFill>
                            <a:srgbClr val="000000"/>
                          </a:solidFill>
                          <a:effectLst/>
                          <a:latin typeface="Calibri" panose="020F0502020204030204" pitchFamily="34" charset="0"/>
                          <a:cs typeface="Calibri" panose="020F0502020204030204" pitchFamily="34" charset="0"/>
                        </a:rPr>
                        <a:t>Dilithium</a:t>
                      </a:r>
                      <a:r>
                        <a:rPr lang="en-US" sz="1600" b="0" i="0" u="none" strike="noStrike" dirty="0">
                          <a:solidFill>
                            <a:srgbClr val="000000"/>
                          </a:solidFill>
                          <a:effectLst/>
                          <a:latin typeface="Calibri" panose="020F0502020204030204" pitchFamily="34" charset="0"/>
                          <a:cs typeface="Calibri" panose="020F0502020204030204" pitchFamily="34" charset="0"/>
                        </a:rPr>
                        <a:t>).</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NCS-2 Requirement: "Advanced" level systems must support Crypto-Agility and hybrid key exchange (e.g., </a:t>
                      </a:r>
                      <a:r>
                        <a:rPr lang="en-US" sz="1600" b="0" i="0" u="none" strike="noStrike" dirty="0" err="1">
                          <a:solidFill>
                            <a:srgbClr val="000000"/>
                          </a:solidFill>
                          <a:effectLst/>
                          <a:latin typeface="Calibri" panose="020F0502020204030204" pitchFamily="34" charset="0"/>
                          <a:cs typeface="Calibri" panose="020F0502020204030204" pitchFamily="34" charset="0"/>
                        </a:rPr>
                        <a:t>X25519</a:t>
                      </a:r>
                      <a:r>
                        <a:rPr lang="en-US" sz="1600" b="0" i="0" u="none" strike="noStrike" dirty="0">
                          <a:solidFill>
                            <a:srgbClr val="000000"/>
                          </a:solidFill>
                          <a:effectLst/>
                          <a:latin typeface="Calibri" panose="020F0502020204030204" pitchFamily="34" charset="0"/>
                          <a:cs typeface="Calibri" panose="020F0502020204030204" pitchFamily="34" charset="0"/>
                        </a:rPr>
                        <a:t> + ML-KEM).</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Sovereign PQC: TII-optimized versions of ML-KEM/ML-DSA.</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Spec: Mandatory use of UAE-accredited libraries for "Priority Entities" to ensure digital sovereignty.</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Hybrid Resilience: Emphasis on dual-signature schemes and QKD (Quantum Key Distribution) for critical fiber backbones in the financial sector.</a:t>
                      </a:r>
                    </a:p>
                  </a:txBody>
                  <a:tcPr marL="8340" marR="8340" marT="8340" marB="0" anchor="ctr"/>
                </a:tc>
                <a:extLst>
                  <a:ext uri="{0D108BD9-81ED-4DB2-BD59-A6C34878D82A}">
                    <a16:rowId xmlns:a16="http://schemas.microsoft.com/office/drawing/2014/main" val="4274379056"/>
                  </a:ext>
                </a:extLst>
              </a:tr>
            </a:tbl>
          </a:graphicData>
        </a:graphic>
      </p:graphicFrame>
    </p:spTree>
    <p:extLst>
      <p:ext uri="{BB962C8B-B14F-4D97-AF65-F5344CB8AC3E}">
        <p14:creationId xmlns:p14="http://schemas.microsoft.com/office/powerpoint/2010/main" val="3615137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chemeClr val="accent2"/>
                </a:solidFill>
                <a:latin typeface="Calibri" panose="020F0502020204030204" pitchFamily="34" charset="0"/>
                <a:ea typeface="IBM Plex Sans"/>
                <a:cs typeface="Calibri" panose="020F0502020204030204" pitchFamily="34" charset="0"/>
              </a:rPr>
              <a:t>QSRI: Quantum-Security Readiness Index Assessment</a:t>
            </a:r>
            <a:endParaRPr lang="en-US" sz="3840" spc="-2" dirty="0">
              <a:solidFill>
                <a:schemeClr val="accent2"/>
              </a:solidFill>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704FE2F3-9C49-0726-B38F-D3A4971C71E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0833100" y="838201"/>
            <a:ext cx="3797300" cy="6858000"/>
          </a:xfrm>
          <a:prstGeom prst="rect">
            <a:avLst/>
          </a:prstGeom>
        </p:spPr>
      </p:pic>
      <p:pic>
        <p:nvPicPr>
          <p:cNvPr id="6" name="Picture 5">
            <a:extLst>
              <a:ext uri="{FF2B5EF4-FFF2-40B4-BE49-F238E27FC236}">
                <a16:creationId xmlns:a16="http://schemas.microsoft.com/office/drawing/2014/main" id="{9363C290-DB35-9ADE-6903-6D587707EBD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24800" y="4342557"/>
            <a:ext cx="2859116" cy="3353643"/>
          </a:xfrm>
          <a:prstGeom prst="rect">
            <a:avLst/>
          </a:prstGeom>
        </p:spPr>
      </p:pic>
      <p:pic>
        <p:nvPicPr>
          <p:cNvPr id="7" name="Picture 6">
            <a:extLst>
              <a:ext uri="{FF2B5EF4-FFF2-40B4-BE49-F238E27FC236}">
                <a16:creationId xmlns:a16="http://schemas.microsoft.com/office/drawing/2014/main" id="{C484CE17-293B-898B-F4B3-A5FEE947AD3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907703" y="840699"/>
            <a:ext cx="2893310" cy="3501858"/>
          </a:xfrm>
          <a:prstGeom prst="rect">
            <a:avLst/>
          </a:prstGeom>
        </p:spPr>
      </p:pic>
      <p:pic>
        <p:nvPicPr>
          <p:cNvPr id="8" name="Picture 7">
            <a:extLst>
              <a:ext uri="{FF2B5EF4-FFF2-40B4-BE49-F238E27FC236}">
                <a16:creationId xmlns:a16="http://schemas.microsoft.com/office/drawing/2014/main" id="{054B9FB9-16B0-CFF8-4FF4-33426189EEBB}"/>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03216" y="838201"/>
            <a:ext cx="7772400" cy="6858000"/>
          </a:xfrm>
          <a:prstGeom prst="rect">
            <a:avLst/>
          </a:prstGeom>
        </p:spPr>
      </p:pic>
    </p:spTree>
    <p:extLst>
      <p:ext uri="{BB962C8B-B14F-4D97-AF65-F5344CB8AC3E}">
        <p14:creationId xmlns:p14="http://schemas.microsoft.com/office/powerpoint/2010/main" val="1547602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Tree>
    <p:extLst>
      <p:ext uri="{BB962C8B-B14F-4D97-AF65-F5344CB8AC3E}">
        <p14:creationId xmlns:p14="http://schemas.microsoft.com/office/powerpoint/2010/main" val="24894349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2D47F-9694-36DE-5001-1371A174C4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957A53-5D30-BDD1-A834-34ECAFE0C85C}"/>
              </a:ext>
            </a:extLst>
          </p:cNvPr>
          <p:cNvSpPr>
            <a:spLocks noGrp="1"/>
          </p:cNvSpPr>
          <p:nvPr>
            <p:ph type="title"/>
          </p:nvPr>
        </p:nvSpPr>
        <p:spPr>
          <a:xfrm>
            <a:off x="457200" y="685801"/>
            <a:ext cx="13716000" cy="1143000"/>
          </a:xfrm>
        </p:spPr>
        <p:txBody>
          <a:bodyPr anchor="t">
            <a:normAutofit/>
          </a:bodyPr>
          <a:lstStyle/>
          <a:p>
            <a:r>
              <a:rPr lang="en-US" b="1"/>
              <a:t>Hybrid PQC Migration &amp; Cryptographic Agility</a:t>
            </a:r>
            <a:endParaRPr lang="en-EG" b="1"/>
          </a:p>
        </p:txBody>
      </p:sp>
      <p:sp>
        <p:nvSpPr>
          <p:cNvPr id="3" name="Content Placeholder 2">
            <a:extLst>
              <a:ext uri="{FF2B5EF4-FFF2-40B4-BE49-F238E27FC236}">
                <a16:creationId xmlns:a16="http://schemas.microsoft.com/office/drawing/2014/main" id="{55E2FC09-2BE9-0909-9752-B543E6630139}"/>
              </a:ext>
            </a:extLst>
          </p:cNvPr>
          <p:cNvSpPr>
            <a:spLocks noGrp="1"/>
          </p:cNvSpPr>
          <p:nvPr>
            <p:ph idx="4294967295"/>
          </p:nvPr>
        </p:nvSpPr>
        <p:spPr>
          <a:xfrm>
            <a:off x="457200" y="1600200"/>
            <a:ext cx="6583680" cy="5715001"/>
          </a:xfrm>
        </p:spPr>
        <p:txBody>
          <a:bodyPr anchor="t">
            <a:normAutofit/>
          </a:bodyPr>
          <a:lstStyle/>
          <a:p>
            <a:pPr algn="just">
              <a:lnSpc>
                <a:spcPct val="95000"/>
              </a:lnSpc>
            </a:pPr>
            <a:r>
              <a:rPr lang="en-US" sz="1800" b="1" dirty="0"/>
              <a:t>Cryptographic Agility</a:t>
            </a:r>
            <a:r>
              <a:rPr lang="en-US" sz="1600" b="1" dirty="0"/>
              <a:t>:</a:t>
            </a:r>
            <a:r>
              <a:rPr lang="en-US" sz="1600" dirty="0"/>
              <a:t> The ability to swiftly change cryptographic algorithms in applications and infrastructure as threats evolve or new standards emerge. This ensures future-proofing against "Harvest Now, Decrypt Later" (HNDL) attacks.</a:t>
            </a:r>
          </a:p>
          <a:p>
            <a:pPr algn="just">
              <a:lnSpc>
                <a:spcPct val="95000"/>
              </a:lnSpc>
            </a:pPr>
            <a:r>
              <a:rPr lang="en-US" sz="1800" b="1" dirty="0"/>
              <a:t>Hybrid Migration</a:t>
            </a:r>
            <a:r>
              <a:rPr lang="en-US" sz="1600" b="1" dirty="0"/>
              <a:t>:</a:t>
            </a:r>
            <a:r>
              <a:rPr lang="en-US" sz="1600" dirty="0"/>
              <a:t> An intermediate step combining a classical algorithm (like RSA or ECC) with a post-quantum algorithm (like ML-KEM). This provides redundancy; if one algorithm is compromised, the other maintains security.</a:t>
            </a:r>
          </a:p>
          <a:p>
            <a:pPr algn="just">
              <a:lnSpc>
                <a:spcPct val="95000"/>
              </a:lnSpc>
            </a:pPr>
            <a:br>
              <a:rPr lang="en-US" sz="1600" dirty="0"/>
            </a:br>
            <a:endParaRPr lang="en-US" sz="1600" dirty="0"/>
          </a:p>
          <a:p>
            <a:pPr algn="just">
              <a:lnSpc>
                <a:spcPct val="95000"/>
              </a:lnSpc>
            </a:pPr>
            <a:r>
              <a:rPr lang="en-US" sz="1800" b="1" dirty="0"/>
              <a:t>Architectural Patterns for Migration</a:t>
            </a:r>
          </a:p>
          <a:p>
            <a:pPr marL="285750" indent="-285750" algn="just">
              <a:lnSpc>
                <a:spcPct val="95000"/>
              </a:lnSpc>
              <a:buFont typeface="Arial" panose="020B0604020202020204" pitchFamily="34" charset="0"/>
              <a:buChar char="•"/>
            </a:pPr>
            <a:r>
              <a:rPr lang="en-US" sz="1600" b="1" dirty="0"/>
              <a:t>Proxy Pattern:</a:t>
            </a:r>
            <a:r>
              <a:rPr lang="en-US" sz="1600" dirty="0"/>
              <a:t> Overlaying an agile security layer on existing components to future-proof legacy systems without requiring a full hardware overhaul.</a:t>
            </a:r>
          </a:p>
          <a:p>
            <a:pPr marL="285750" indent="-285750" algn="just">
              <a:lnSpc>
                <a:spcPct val="95000"/>
              </a:lnSpc>
              <a:buFont typeface="Arial" panose="020B0604020202020204" pitchFamily="34" charset="0"/>
              <a:buChar char="•"/>
            </a:pPr>
            <a:r>
              <a:rPr lang="en-US" sz="1600" b="1" dirty="0"/>
              <a:t>Upgrade Pattern:</a:t>
            </a:r>
            <a:r>
              <a:rPr lang="en-US" sz="1600" dirty="0"/>
              <a:t> Replacing components with versions that natively support NIST-standardized PQC algorithms like </a:t>
            </a:r>
            <a:r>
              <a:rPr lang="en-US" sz="1600" b="1" dirty="0"/>
              <a:t>ML-KEM (FIPS 203)</a:t>
            </a:r>
            <a:r>
              <a:rPr lang="en-US" sz="1600" dirty="0"/>
              <a:t> and </a:t>
            </a:r>
            <a:r>
              <a:rPr lang="en-US" sz="1600" b="1" dirty="0"/>
              <a:t>ML-DSA (FIPS 204)</a:t>
            </a:r>
            <a:r>
              <a:rPr lang="en-US" sz="1600" dirty="0"/>
              <a:t>.</a:t>
            </a:r>
          </a:p>
          <a:p>
            <a:pPr marL="285750" indent="-285750" algn="just">
              <a:lnSpc>
                <a:spcPct val="95000"/>
              </a:lnSpc>
              <a:buFont typeface="Arial" panose="020B0604020202020204" pitchFamily="34" charset="0"/>
              <a:buChar char="•"/>
            </a:pPr>
            <a:r>
              <a:rPr lang="en-US" sz="1600" b="1" dirty="0"/>
              <a:t>QKD Pattern:</a:t>
            </a:r>
            <a:r>
              <a:rPr lang="en-US" sz="1600" dirty="0"/>
              <a:t> Utilizing Quantum Key Distribution for short-distance key exchanges that do not rely on mathematical algorithms.</a:t>
            </a:r>
          </a:p>
          <a:p>
            <a:pPr marL="514350" indent="-514350" algn="just">
              <a:lnSpc>
                <a:spcPct val="95000"/>
              </a:lnSpc>
              <a:buFont typeface="+mj-lt"/>
              <a:buAutoNum type="arabicPeriod"/>
            </a:pPr>
            <a:endParaRPr lang="en-EG" sz="1600" dirty="0"/>
          </a:p>
        </p:txBody>
      </p:sp>
      <p:pic>
        <p:nvPicPr>
          <p:cNvPr id="5" name="Picture 4" descr="A diagram of a cloud computing network&#10;&#10;AI-generated content may be incorrect.">
            <a:extLst>
              <a:ext uri="{FF2B5EF4-FFF2-40B4-BE49-F238E27FC236}">
                <a16:creationId xmlns:a16="http://schemas.microsoft.com/office/drawing/2014/main" id="{545A6B68-038A-486C-0921-DEC23046CC4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315200" y="1905000"/>
            <a:ext cx="6705600" cy="5029200"/>
          </a:xfrm>
          <a:prstGeom prst="rect">
            <a:avLst/>
          </a:prstGeom>
          <a:noFill/>
          <a:ln>
            <a:solidFill>
              <a:schemeClr val="accent1"/>
            </a:solidFill>
          </a:ln>
        </p:spPr>
      </p:pic>
    </p:spTree>
    <p:extLst>
      <p:ext uri="{BB962C8B-B14F-4D97-AF65-F5344CB8AC3E}">
        <p14:creationId xmlns:p14="http://schemas.microsoft.com/office/powerpoint/2010/main" val="2103599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7736</TotalTime>
  <Words>1887</Words>
  <Application>Microsoft Macintosh PowerPoint</Application>
  <PresentationFormat>Custom</PresentationFormat>
  <Paragraphs>255</Paragraphs>
  <Slides>17</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17</vt:i4>
      </vt:variant>
    </vt:vector>
  </HeadingPairs>
  <TitlesOfParts>
    <vt:vector size="28"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PowerPoint Presentation</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Hybrid PQC Migration &amp; Cryptographic Agility</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256</cp:revision>
  <cp:lastPrinted>2017-10-24T19:02:10Z</cp:lastPrinted>
  <dcterms:created xsi:type="dcterms:W3CDTF">2019-03-19T20:16:43Z</dcterms:created>
  <dcterms:modified xsi:type="dcterms:W3CDTF">2026-03-12T19:29:29Z</dcterms:modified>
</cp:coreProperties>
</file>