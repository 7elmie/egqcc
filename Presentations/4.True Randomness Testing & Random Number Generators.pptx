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8" r:id="rId11"/>
    <p:sldId id="269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9F429-4BDD-2F4E-8483-D39FD763D148}" v="7" dt="2026-01-20T10:34:28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19"/>
    <p:restoredTop sz="95694"/>
  </p:normalViewPr>
  <p:slideViewPr>
    <p:cSldViewPr snapToGrid="0" snapToObjects="1">
      <p:cViewPr varScale="1">
        <p:scale>
          <a:sx n="108" d="100"/>
          <a:sy n="108" d="100"/>
        </p:scale>
        <p:origin x="51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eh Saeed" userId="2c0a189a-0f7c-4206-8181-9a10555249db" providerId="ADAL" clId="{852638DA-3B48-5304-BB1F-24E51C1A5FD3}"/>
    <pc:docChg chg="custSel delSld modSld sldOrd">
      <pc:chgData name="Sameh Saeed" userId="2c0a189a-0f7c-4206-8181-9a10555249db" providerId="ADAL" clId="{852638DA-3B48-5304-BB1F-24E51C1A5FD3}" dt="2026-01-20T10:34:55.237" v="360" actId="20577"/>
      <pc:docMkLst>
        <pc:docMk/>
      </pc:docMkLst>
      <pc:sldChg chg="modSp mod">
        <pc:chgData name="Sameh Saeed" userId="2c0a189a-0f7c-4206-8181-9a10555249db" providerId="ADAL" clId="{852638DA-3B48-5304-BB1F-24E51C1A5FD3}" dt="2026-01-20T10:12:40.639" v="4" actId="403"/>
        <pc:sldMkLst>
          <pc:docMk/>
          <pc:sldMk cId="0" sldId="256"/>
        </pc:sldMkLst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Sameh Saeed" userId="2c0a189a-0f7c-4206-8181-9a10555249db" providerId="ADAL" clId="{852638DA-3B48-5304-BB1F-24E51C1A5FD3}" dt="2026-01-20T10:32:51.789" v="343" actId="1038"/>
        <pc:sldMkLst>
          <pc:docMk/>
          <pc:sldMk cId="0" sldId="257"/>
        </pc:sldMkLst>
        <pc:spChg chg="mod">
          <ac:chgData name="Sameh Saeed" userId="2c0a189a-0f7c-4206-8181-9a10555249db" providerId="ADAL" clId="{852638DA-3B48-5304-BB1F-24E51C1A5FD3}" dt="2026-01-20T10:12:50.110" v="7" actId="40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1:56.494" v="296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51.789" v="343" actId="103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9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31:35.798" v="270" actId="478"/>
          <ac:picMkLst>
            <pc:docMk/>
            <pc:sldMk cId="0" sldId="257"/>
            <ac:picMk id="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34.312" v="325" actId="1076"/>
          <ac:picMkLst>
            <pc:docMk/>
            <pc:sldMk cId="0" sldId="257"/>
            <ac:picMk id="17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32:44.197" v="329" actId="14100"/>
          <ac:picMkLst>
            <pc:docMk/>
            <pc:sldMk cId="0" sldId="257"/>
            <ac:picMk id="20" creationId="{199891DE-4828-0516-95E8-38051C082609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23:38.417" v="171" actId="14100"/>
        <pc:sldMkLst>
          <pc:docMk/>
          <pc:sldMk cId="0" sldId="258"/>
        </pc:sldMkLst>
        <pc:spChg chg="mod">
          <ac:chgData name="Sameh Saeed" userId="2c0a189a-0f7c-4206-8181-9a10555249db" providerId="ADAL" clId="{852638DA-3B48-5304-BB1F-24E51C1A5FD3}" dt="2026-01-20T10:23:23.499" v="154" actId="103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3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3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23:38.417" v="171" actId="14100"/>
          <ac:picMkLst>
            <pc:docMk/>
            <pc:sldMk cId="0" sldId="258"/>
            <ac:picMk id="34" creationId="{EE5853D5-1E54-A1FC-B117-025C17136E40}"/>
          </ac:picMkLst>
        </pc:picChg>
      </pc:sldChg>
      <pc:sldChg chg="modSp mod">
        <pc:chgData name="Sameh Saeed" userId="2c0a189a-0f7c-4206-8181-9a10555249db" providerId="ADAL" clId="{852638DA-3B48-5304-BB1F-24E51C1A5FD3}" dt="2026-01-20T10:24:41.953" v="173" actId="403"/>
        <pc:sldMkLst>
          <pc:docMk/>
          <pc:sldMk cId="0" sldId="259"/>
        </pc:sldMkLst>
        <pc:spChg chg="mod">
          <ac:chgData name="Sameh Saeed" userId="2c0a189a-0f7c-4206-8181-9a10555249db" providerId="ADAL" clId="{852638DA-3B48-5304-BB1F-24E51C1A5FD3}" dt="2026-01-20T10:13:19.707" v="13" actId="403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34.874" v="16" actId="403"/>
        <pc:sldMkLst>
          <pc:docMk/>
          <pc:sldMk cId="0" sldId="260"/>
        </pc:sldMkLst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5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53.425" v="19" actId="403"/>
        <pc:sldMkLst>
          <pc:docMk/>
          <pc:sldMk cId="0" sldId="261"/>
        </pc:sldMkLst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6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4:00.916" v="20" actId="2696"/>
        <pc:sldMkLst>
          <pc:docMk/>
          <pc:sldMk cId="0" sldId="262"/>
        </pc:sldMkLst>
      </pc:sldChg>
      <pc:sldChg chg="addSp delSp modSp mod">
        <pc:chgData name="Sameh Saeed" userId="2c0a189a-0f7c-4206-8181-9a10555249db" providerId="ADAL" clId="{852638DA-3B48-5304-BB1F-24E51C1A5FD3}" dt="2026-01-20T10:26:31.432" v="214" actId="1076"/>
        <pc:sldMkLst>
          <pc:docMk/>
          <pc:sldMk cId="0" sldId="263"/>
        </pc:sldMkLst>
        <pc:spChg chg="mod">
          <ac:chgData name="Sameh Saeed" userId="2c0a189a-0f7c-4206-8181-9a10555249db" providerId="ADAL" clId="{852638DA-3B48-5304-BB1F-24E51C1A5FD3}" dt="2026-01-20T10:14:09.537" v="23" actId="403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5:58.916" v="176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31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26:11.764" v="178" actId="478"/>
          <ac:picMkLst>
            <pc:docMk/>
            <pc:sldMk cId="0" sldId="263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6:07.171" v="177" actId="478"/>
          <ac:picMkLst>
            <pc:docMk/>
            <pc:sldMk cId="0" sldId="263"/>
            <ac:picMk id="30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6:31.432" v="214" actId="1076"/>
          <ac:picMkLst>
            <pc:docMk/>
            <pc:sldMk cId="0" sldId="263"/>
            <ac:picMk id="32" creationId="{DBF5A96D-B4F3-7644-474E-31CB444C2B02}"/>
          </ac:picMkLst>
        </pc:picChg>
      </pc:sldChg>
      <pc:sldChg chg="modSp mod ord">
        <pc:chgData name="Sameh Saeed" userId="2c0a189a-0f7c-4206-8181-9a10555249db" providerId="ADAL" clId="{852638DA-3B48-5304-BB1F-24E51C1A5FD3}" dt="2026-01-20T10:25:21.284" v="175" actId="20578"/>
        <pc:sldMkLst>
          <pc:docMk/>
          <pc:sldMk cId="0" sldId="264"/>
        </pc:sldMkLst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36" creationId="{00000000-0000-0000-0000-000000000000}"/>
          </ac:spMkLst>
        </pc:spChg>
      </pc:sldChg>
      <pc:sldChg chg="addSp delSp modSp mod ord">
        <pc:chgData name="Sameh Saeed" userId="2c0a189a-0f7c-4206-8181-9a10555249db" providerId="ADAL" clId="{852638DA-3B48-5304-BB1F-24E51C1A5FD3}" dt="2026-01-20T10:30:21.698" v="267" actId="14100"/>
        <pc:sldMkLst>
          <pc:docMk/>
          <pc:sldMk cId="0" sldId="265"/>
        </pc:sldMkLst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6.281" v="260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3.988" v="259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3.529" v="262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0.606" v="26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8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27:20.518" v="216" actId="1076"/>
          <ac:picMkLst>
            <pc:docMk/>
            <pc:sldMk cId="0" sldId="265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18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46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7:55.143" v="258" actId="167"/>
          <ac:picMkLst>
            <pc:docMk/>
            <pc:sldMk cId="0" sldId="265"/>
            <ac:picMk id="49" creationId="{D15050F9-3A6C-A854-7391-47A14CE1BCCE}"/>
          </ac:picMkLst>
        </pc:picChg>
        <pc:picChg chg="add mod">
          <ac:chgData name="Sameh Saeed" userId="2c0a189a-0f7c-4206-8181-9a10555249db" providerId="ADAL" clId="{852638DA-3B48-5304-BB1F-24E51C1A5FD3}" dt="2026-01-20T10:30:21.698" v="267" actId="14100"/>
          <ac:picMkLst>
            <pc:docMk/>
            <pc:sldMk cId="0" sldId="265"/>
            <ac:picMk id="50" creationId="{76850572-6916-8910-9426-2EEB88DE70E1}"/>
          </ac:picMkLst>
        </pc:picChg>
      </pc:sldChg>
      <pc:sldChg chg="del">
        <pc:chgData name="Sameh Saeed" userId="2c0a189a-0f7c-4206-8181-9a10555249db" providerId="ADAL" clId="{852638DA-3B48-5304-BB1F-24E51C1A5FD3}" dt="2026-01-20T10:15:08.626" v="30" actId="2696"/>
        <pc:sldMkLst>
          <pc:docMk/>
          <pc:sldMk cId="0" sldId="266"/>
        </pc:sldMkLst>
      </pc:sldChg>
      <pc:sldChg chg="modSp mod">
        <pc:chgData name="Sameh Saeed" userId="2c0a189a-0f7c-4206-8181-9a10555249db" providerId="ADAL" clId="{852638DA-3B48-5304-BB1F-24E51C1A5FD3}" dt="2026-01-20T10:15:16.447" v="33" actId="403"/>
        <pc:sldMkLst>
          <pc:docMk/>
          <pc:sldMk cId="0" sldId="267"/>
        </pc:sldMkLst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4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3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27.628" v="36" actId="403"/>
        <pc:sldMkLst>
          <pc:docMk/>
          <pc:sldMk cId="0" sldId="268"/>
        </pc:sldMkLst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9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42.242" v="39" actId="403"/>
        <pc:sldMkLst>
          <pc:docMk/>
          <pc:sldMk cId="0" sldId="269"/>
        </pc:sldMkLst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3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5:48.971" v="40" actId="2696"/>
        <pc:sldMkLst>
          <pc:docMk/>
          <pc:sldMk cId="0" sldId="270"/>
        </pc:sldMkLst>
      </pc:sldChg>
      <pc:sldChg chg="del">
        <pc:chgData name="Sameh Saeed" userId="2c0a189a-0f7c-4206-8181-9a10555249db" providerId="ADAL" clId="{852638DA-3B48-5304-BB1F-24E51C1A5FD3}" dt="2026-01-20T10:16:01.730" v="41" actId="2696"/>
        <pc:sldMkLst>
          <pc:docMk/>
          <pc:sldMk cId="0" sldId="271"/>
        </pc:sldMkLst>
      </pc:sldChg>
      <pc:sldChg chg="modSp mod">
        <pc:chgData name="Sameh Saeed" userId="2c0a189a-0f7c-4206-8181-9a10555249db" providerId="ADAL" clId="{852638DA-3B48-5304-BB1F-24E51C1A5FD3}" dt="2026-01-20T10:17:04.141" v="131" actId="1036"/>
        <pc:sldMkLst>
          <pc:docMk/>
          <pc:sldMk cId="0" sldId="272"/>
        </pc:sldMkLst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59.762" v="119" actId="1036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80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17:04.141" v="131" actId="1036"/>
          <ac:picMkLst>
            <pc:docMk/>
            <pc:sldMk cId="0" sldId="272"/>
            <ac:picMk id="29" creationId="{00000000-0000-0000-0000-000000000000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34:55.237" v="360" actId="20577"/>
        <pc:sldMkLst>
          <pc:docMk/>
          <pc:sldMk cId="0" sldId="273"/>
        </pc:sldMkLst>
        <pc:spChg chg="mod">
          <ac:chgData name="Sameh Saeed" userId="2c0a189a-0f7c-4206-8181-9a10555249db" providerId="ADAL" clId="{852638DA-3B48-5304-BB1F-24E51C1A5FD3}" dt="2026-01-20T10:34:55.237" v="360" actId="20577"/>
          <ac:spMkLst>
            <pc:docMk/>
            <pc:sldMk cId="0" sldId="273"/>
            <ac:spMk id="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0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7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34:39.643" v="348" actId="14100"/>
          <ac:picMkLst>
            <pc:docMk/>
            <pc:sldMk cId="0" sldId="273"/>
            <ac:picMk id="29" creationId="{FB01ED16-AAC6-1EAE-A9F5-78120C48B8A9}"/>
          </ac:picMkLst>
        </pc:picChg>
      </pc:sldChg>
      <pc:sldChg chg="del">
        <pc:chgData name="Sameh Saeed" userId="2c0a189a-0f7c-4206-8181-9a10555249db" providerId="ADAL" clId="{852638DA-3B48-5304-BB1F-24E51C1A5FD3}" dt="2026-01-20T10:17:29.728" v="135" actId="2696"/>
        <pc:sldMkLst>
          <pc:docMk/>
          <pc:sldMk cId="0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154" y="1718829"/>
            <a:ext cx="533386" cy="448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52616" y="2571750"/>
            <a:ext cx="7486462" cy="1428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875"/>
              </a:lnSpc>
              <a:spcBef>
                <a:spcPts val="0"/>
              </a:spcBef>
              <a:spcAft>
                <a:spcPts val="2080"/>
              </a:spcAft>
            </a:pPr>
            <a:r>
              <a:rPr sz="3588" b="1">
                <a:solidFill>
                  <a:srgbClr val="FFFFFF"/>
                </a:solidFill>
                <a:latin typeface="Space Grotesk"/>
              </a:rPr>
              <a:t> True Randomness Testing &amp;</a:t>
            </a:r>
            <a:r>
              <a:rPr sz="1104"/>
              <a:t>
</a:t>
            </a:r>
            <a:r>
              <a:rPr sz="3588" b="1">
                <a:solidFill>
                  <a:srgbClr val="FFFFFF"/>
                </a:solidFill>
                <a:latin typeface="Space Grotesk"/>
              </a:rPr>
              <a:t>Random Number Generators 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371" y="4305300"/>
            <a:ext cx="1904952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D4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2352616" y="4618904"/>
            <a:ext cx="7486462" cy="58246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0B8D4"/>
                </a:solidFill>
                <a:latin typeface="Inter"/>
              </a:rPr>
              <a:t> NIST SP 800-22, </a:t>
            </a:r>
            <a:r>
              <a:rPr sz="2000" b="0" dirty="0" err="1">
                <a:solidFill>
                  <a:srgbClr val="B0B8D4"/>
                </a:solidFill>
                <a:latin typeface="Inter"/>
              </a:rPr>
              <a:t>Dieharder</a:t>
            </a:r>
            <a:r>
              <a:rPr sz="2000" dirty="0"/>
              <a:t>
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  <a:r>
              <a:rPr b="0" dirty="0">
                <a:solidFill>
                  <a:srgbClr val="8A92A8"/>
                </a:solidFill>
                <a:latin typeface="Inter"/>
              </a:rPr>
              <a:t>A Comprehensive Overview of RNG Testing and Quantum Approaches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14788-DF8F-1088-1B36-25798A803CC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674746"/>
            <a:ext cx="1955800" cy="162388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41D80-F0EA-03DC-4547-A02A70145A1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3250434"/>
            <a:ext cx="1955800" cy="912037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12B8CF-232B-A99F-69BB-CD1B77496D7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4088634"/>
            <a:ext cx="1955800" cy="954103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77190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692" y="641743"/>
            <a:ext cx="11584882" cy="913392"/>
          </a:xfrm>
          <a:prstGeom prst="rect">
            <a:avLst/>
          </a:prstGeom>
          <a:noFill/>
          <a:ln w="22225">
            <a:solidFill>
              <a:schemeClr val="bg1"/>
            </a:solidFill>
          </a:ln>
        </p:spPr>
        <p:txBody>
          <a:bodyPr wrap="square" lIns="73152" tIns="54864" rIns="73152" bIns="54864" anchor="ctr">
            <a:spAutoFit/>
          </a:bodyPr>
          <a:lstStyle/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Unpredictability (deterministic - Pseudorandom)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our lack of knowledge, while </a:t>
            </a:r>
          </a:p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True Randomness (non-deterministic)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a </a:t>
            </a: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lack of a deterministic pattern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(in nature)</a:t>
            </a:r>
            <a:endParaRPr sz="2000" b="1" dirty="0">
              <a:solidFill>
                <a:schemeClr val="bg1"/>
              </a:solidFill>
              <a:latin typeface="Space Grotesk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520" y="1821660"/>
            <a:ext cx="304792" cy="2168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3808" y="1715857"/>
            <a:ext cx="279531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Unpredictable ≠ Random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3808" y="2023499"/>
            <a:ext cx="5629134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 An event can be </a:t>
            </a:r>
            <a:r>
              <a:rPr b="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b="0" dirty="0">
                <a:solidFill>
                  <a:srgbClr val="B0B8D4"/>
                </a:solidFill>
                <a:latin typeface="Inter"/>
              </a:rPr>
              <a:t> due to insufficient data (entropy), but not necessarily </a:t>
            </a:r>
            <a:r>
              <a:rPr b="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171" y="1721302"/>
            <a:ext cx="304792" cy="246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459" y="1630153"/>
            <a:ext cx="237680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 dirty="0">
                <a:solidFill>
                  <a:srgbClr val="FFFFFF"/>
                </a:solidFill>
                <a:latin typeface="Inter"/>
              </a:rPr>
              <a:t>Proving Randomness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181" y="1965961"/>
            <a:ext cx="5629134" cy="976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Distinguishing true randomness from unpredictability remains a fundamental challenge in computational systems and cryptography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2D42D6-6904-8DDE-56D9-0F00E850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25" y="2955535"/>
            <a:ext cx="10854703" cy="3883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052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8292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Types of Random Number Generators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065595"/>
            <a:ext cx="342891" cy="289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956270"/>
            <a:ext cx="391145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True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715266"/>
            <a:ext cx="190495" cy="95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596652"/>
            <a:ext cx="340625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Non-deterministic physical sources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134366"/>
            <a:ext cx="190495" cy="9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33466" y="2015752"/>
            <a:ext cx="31966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Thermal noise, user input timing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572516"/>
            <a:ext cx="190495" cy="952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33466" y="2453902"/>
            <a:ext cx="309578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Quantum effects and processes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91616"/>
            <a:ext cx="190495" cy="952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466" y="2873002"/>
            <a:ext cx="292849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Distillation process for quality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429765"/>
            <a:ext cx="190495" cy="95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33466" y="3311151"/>
            <a:ext cx="34464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Must satisfy </a:t>
            </a:r>
            <a:r>
              <a:rPr b="0">
                <a:solidFill>
                  <a:srgbClr val="00D4FF"/>
                </a:solidFill>
                <a:latin typeface="Inter"/>
              </a:rPr>
              <a:t>strict statistical criteria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7566" y="1072168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4755" y="939195"/>
            <a:ext cx="562679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Pseudorandom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1698191"/>
            <a:ext cx="190495" cy="952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48323" y="1579576"/>
            <a:ext cx="37949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Deterministic mathematical algorithms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126816"/>
            <a:ext cx="190495" cy="952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48323" y="2008202"/>
            <a:ext cx="295882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Require </a:t>
            </a:r>
            <a:r>
              <a:rPr b="0">
                <a:solidFill>
                  <a:srgbClr val="00D4FF"/>
                </a:solidFill>
                <a:latin typeface="Inter"/>
              </a:rPr>
              <a:t>random seed</a:t>
            </a:r>
            <a:r>
              <a:rPr b="0">
                <a:solidFill>
                  <a:srgbClr val="B0B8D4"/>
                </a:solidFill>
                <a:latin typeface="Inter"/>
              </a:rPr>
              <a:t> as input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555441"/>
            <a:ext cx="190495" cy="952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2436827"/>
            <a:ext cx="345229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Generate pseudorandom sequence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984066"/>
            <a:ext cx="190495" cy="95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8323" y="2865452"/>
            <a:ext cx="34625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Seed must come from RNG outputs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3412690"/>
            <a:ext cx="190495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48323" y="3294076"/>
            <a:ext cx="273536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Efficient for large quantities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32433CC-A673-FC55-CC18-C134CA89CAE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3613" y="4287379"/>
            <a:ext cx="10150954" cy="2095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09714"/>
            <a:ext cx="5033814" cy="5806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Importance of Random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7483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1059747"/>
            <a:ext cx="380990" cy="291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565" y="948500"/>
            <a:ext cx="330411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Monte Carlo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65" y="1442046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Sampling large phase spaces for complex system modeling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584" y="267244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013563"/>
            <a:ext cx="380990" cy="232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565" y="2872551"/>
            <a:ext cx="102457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3366095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Ensuring unique and unbiased user experiences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639" y="919849"/>
            <a:ext cx="5181470" cy="1276350"/>
          </a:xfrm>
          <a:prstGeom prst="roundRect">
            <a:avLst>
              <a:gd name="adj" fmla="val 1194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1207384"/>
            <a:ext cx="380990" cy="33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62620" y="1119950"/>
            <a:ext cx="1871794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620" y="1686771"/>
            <a:ext cx="4113498" cy="39292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00D4FF"/>
                </a:solidFill>
                <a:latin typeface="Inter"/>
              </a:rPr>
              <a:t>Fundamental basis</a:t>
            </a:r>
            <a:r>
              <a:rPr b="0">
                <a:solidFill>
                  <a:srgbClr val="B0B8D4"/>
                </a:solidFill>
                <a:latin typeface="Inter"/>
              </a:rPr>
              <a:t> of Internet commerce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639" y="25009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2812347"/>
            <a:ext cx="380990" cy="2917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2620" y="2701101"/>
            <a:ext cx="331937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Mathematics &amp;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620" y="3194644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Theoretical foundations and applied contexts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FCBA89F-91C8-E32C-BEF6-5C617B3806F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4478577"/>
            <a:ext cx="10576158" cy="2133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14347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Statistical Testing Core Concepts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203"/>
            <a:ext cx="342891" cy="266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65054"/>
            <a:ext cx="2879443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Purpose of Testing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928683"/>
            <a:ext cx="209544" cy="181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615" y="1851364"/>
            <a:ext cx="4129079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Systematic test suite for </a:t>
            </a:r>
            <a:r>
              <a:rPr b="0">
                <a:solidFill>
                  <a:srgbClr val="00D4FF"/>
                </a:solidFill>
                <a:latin typeface="Inter"/>
              </a:rPr>
              <a:t>all types of RNGs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433508"/>
            <a:ext cx="209544" cy="181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90615" y="2356190"/>
            <a:ext cx="4718471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Detect deviations from </a:t>
            </a:r>
            <a:r>
              <a:rPr b="0">
                <a:solidFill>
                  <a:srgbClr val="00D4FF"/>
                </a:solidFill>
                <a:latin typeface="Inter"/>
              </a:rPr>
              <a:t>truly random sequences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47858"/>
            <a:ext cx="209544" cy="181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0615" y="2870540"/>
            <a:ext cx="4509824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Identify patterns or biases in binary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629025"/>
            <a:ext cx="6200619" cy="1695449"/>
          </a:xfrm>
          <a:prstGeom prst="roundRect">
            <a:avLst>
              <a:gd name="adj" fmla="val 89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-172100" y="4410709"/>
            <a:ext cx="1695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3943764"/>
            <a:ext cx="266693" cy="2087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7268" y="3833883"/>
            <a:ext cx="171207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FFFFFF"/>
                </a:solidFill>
                <a:latin typeface="Space Grotesk"/>
              </a:rPr>
              <a:t>Very Basic Test</a:t>
            </a:r>
            <a:endParaRPr sz="2000" b="1" dirty="0">
              <a:solidFill>
                <a:srgbClr val="FFFFFF"/>
              </a:solidFill>
              <a:latin typeface="Space Grotes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278" y="4375510"/>
            <a:ext cx="5705332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B0B8D4"/>
                </a:solidFill>
                <a:latin typeface="Inter"/>
              </a:rPr>
              <a:t>O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ne of the best ways to measure how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random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a file is involves trying to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compress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it.</a:t>
            </a:r>
            <a:endParaRPr sz="2000" b="0" dirty="0">
              <a:solidFill>
                <a:srgbClr val="B0B8D4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09584" y="5629275"/>
            <a:ext cx="6200619" cy="1257300"/>
          </a:xfrm>
          <a:prstGeom prst="roundRect">
            <a:avLst>
              <a:gd name="adj" fmla="val 12121"/>
            </a:avLst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" y="5769832"/>
            <a:ext cx="589582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"Falsely accepting a sequence as good when the generator was actually bad."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425248"/>
            <a:ext cx="163390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NIST SP 800-22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Rectangle 20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7572185" y="5238749"/>
            <a:ext cx="4009924" cy="1409699"/>
          </a:xfrm>
          <a:prstGeom prst="roundRect">
            <a:avLst>
              <a:gd name="adj" fmla="val 1081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762680" y="5396361"/>
            <a:ext cx="166237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Test Framework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86822" y="5446834"/>
            <a:ext cx="304792" cy="2696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62680" y="5846032"/>
            <a:ext cx="362893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78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Rigorous, systematic testing methodology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62913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Null Hypothesis &amp; P-values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504950"/>
            <a:ext cx="5181470" cy="1362075"/>
          </a:xfrm>
          <a:prstGeom prst="roundRect">
            <a:avLst>
              <a:gd name="adj" fmla="val 111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5413" y="211994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1825869"/>
            <a:ext cx="304792" cy="234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367" y="1705052"/>
            <a:ext cx="2731773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Null Hypothesis (H₀)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367" y="2260940"/>
            <a:ext cx="3755002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The sequence being tested is </a:t>
            </a:r>
            <a:r>
              <a:rPr b="0">
                <a:solidFill>
                  <a:srgbClr val="00D4FF"/>
                </a:solidFill>
                <a:latin typeface="Inter"/>
              </a:rPr>
              <a:t>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319253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575" y="3076837"/>
            <a:ext cx="1965795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Very Low P-value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500885"/>
            <a:ext cx="342363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&lt; 10⁻⁶ → </a:t>
            </a:r>
            <a:r>
              <a:rPr b="0">
                <a:solidFill>
                  <a:srgbClr val="EF4444"/>
                </a:solidFill>
                <a:latin typeface="Inter"/>
              </a:rPr>
              <a:t>Reject H₀</a:t>
            </a:r>
            <a:r>
              <a:rPr b="0">
                <a:solidFill>
                  <a:srgbClr val="B0B8D4"/>
                </a:solidFill>
                <a:latin typeface="Inter"/>
              </a:rPr>
              <a:t> (Bad generator)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096992"/>
            <a:ext cx="266693" cy="2261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10287"/>
            <a:ext cx="147175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High 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466371"/>
            <a:ext cx="4800479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&gt; 0.01 → Insufficient evidence to reject, but </a:t>
            </a:r>
            <a:r>
              <a:rPr b="0">
                <a:solidFill>
                  <a:srgbClr val="22C55E"/>
                </a:solidFill>
                <a:latin typeface="Inter"/>
              </a:rPr>
              <a:t>cannot prove</a:t>
            </a:r>
            <a:r>
              <a:rPr b="0">
                <a:solidFill>
                  <a:srgbClr val="B0B8D4"/>
                </a:solidFill>
                <a:latin typeface="Inter"/>
              </a:rPr>
              <a:t> H₀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" y="5295899"/>
            <a:ext cx="5181470" cy="1333500"/>
          </a:xfrm>
          <a:prstGeom prst="roundRect">
            <a:avLst>
              <a:gd name="adj" fmla="val 11428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00079" y="5474558"/>
            <a:ext cx="4800479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"The null hypothesis can never be proven to be true, it can only fail to be observed to fail."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79" y="6129973"/>
            <a:ext cx="123335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DieHarder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0639" y="1296865"/>
            <a:ext cx="304792" cy="187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19729" y="1162127"/>
            <a:ext cx="267958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P-value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729" y="1743075"/>
            <a:ext cx="4762380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For good RNGs, P-values should be </a:t>
            </a:r>
            <a:r>
              <a:rPr b="0">
                <a:solidFill>
                  <a:srgbClr val="00D4FF"/>
                </a:solidFill>
                <a:latin typeface="Inter"/>
              </a:rPr>
              <a:t>uniformly distributed</a:t>
            </a:r>
            <a:r>
              <a:rPr b="0">
                <a:solidFill>
                  <a:srgbClr val="B0B8D4"/>
                </a:solidFill>
                <a:latin typeface="Inter"/>
              </a:rPr>
              <a:t> across [0, 1)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6400639" y="5162550"/>
            <a:ext cx="5181470" cy="1771650"/>
          </a:xfrm>
          <a:prstGeom prst="roundRect">
            <a:avLst>
              <a:gd name="adj" fmla="val 8602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1135" y="5425705"/>
            <a:ext cx="247643" cy="1785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53076" y="5321624"/>
            <a:ext cx="286982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Kolmogorov-Smirnov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076" y="5787540"/>
            <a:ext cx="4438539" cy="9407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Evaluates uniformity of P-value distributions to determine probability of observing them in random sampling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244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NIST SP 800-22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2342"/>
            <a:ext cx="266693" cy="22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090683"/>
            <a:ext cx="1021370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1588358"/>
            <a:ext cx="491477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Extend Diehard's methodology • Focus on </a:t>
            </a:r>
            <a:r>
              <a:rPr b="0">
                <a:solidFill>
                  <a:srgbClr val="00D4FF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for cryptographic applications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2467389"/>
            <a:ext cx="266693" cy="2087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2476" y="2367032"/>
            <a:ext cx="989886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15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2840786"/>
            <a:ext cx="20622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Frequency (Monobit)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6062" y="2840786"/>
            <a:ext cx="108100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Runs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3202737"/>
            <a:ext cx="18764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Binary Matrix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062" y="3202737"/>
            <a:ext cx="150477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DFT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76" y="3564687"/>
            <a:ext cx="19098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Universal Statistical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062" y="3564687"/>
            <a:ext cx="178773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Linear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76" y="3926636"/>
            <a:ext cx="11339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Serial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062" y="3926636"/>
            <a:ext cx="20664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Approximate Entropy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76" y="4288586"/>
            <a:ext cx="172758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Cumulative Sums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062" y="4288586"/>
            <a:ext cx="191090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Random Excursions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878042"/>
            <a:ext cx="266693" cy="22611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2476" y="4776858"/>
            <a:ext cx="1952714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Design Principles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3687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9169" y="5255136"/>
            <a:ext cx="3758786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Unpredictability</a:t>
            </a:r>
            <a:r>
              <a:rPr b="0">
                <a:solidFill>
                  <a:srgbClr val="B0B8D4"/>
                </a:solidFill>
                <a:latin typeface="Inter"/>
              </a:rPr>
              <a:t> — Essential for crypto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740213"/>
            <a:ext cx="190495" cy="1400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9169" y="5626611"/>
            <a:ext cx="4048288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Scalability</a:t>
            </a:r>
            <a:r>
              <a:rPr b="0">
                <a:solidFill>
                  <a:srgbClr val="B0B8D4"/>
                </a:solidFill>
                <a:latin typeface="Inter"/>
              </a:rPr>
              <a:t> — Tests apply to subsequences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6121213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19169" y="6007610"/>
            <a:ext cx="2766270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Consistency</a:t>
            </a:r>
            <a:r>
              <a:rPr b="0">
                <a:solidFill>
                  <a:srgbClr val="B0B8D4"/>
                </a:solidFill>
                <a:latin typeface="Inter"/>
              </a:rPr>
              <a:t> — Across seeds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1" y="1476375"/>
            <a:ext cx="5257668" cy="3028950"/>
          </a:xfrm>
          <a:prstGeom prst="roundRect">
            <a:avLst>
              <a:gd name="adj" fmla="val 5031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1810078"/>
            <a:ext cx="342891" cy="26604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29274" y="1702856"/>
            <a:ext cx="1980542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Current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085" y="2281307"/>
            <a:ext cx="402661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1040"/>
              </a:spcAft>
            </a:pPr>
            <a:r>
              <a:rPr sz="2000" b="1">
                <a:solidFill>
                  <a:srgbClr val="EF4444"/>
                </a:solidFill>
                <a:latin typeface="Inter"/>
              </a:rPr>
              <a:t>"Clearly Obsolete, Possibly Harmful"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2903837"/>
            <a:ext cx="209544" cy="1359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7828" y="2797686"/>
            <a:ext cx="4032835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 longer used by NIST's DRBG validation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3322937"/>
            <a:ext cx="209544" cy="1359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7828" y="3236181"/>
            <a:ext cx="4476638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PRNGs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4037312"/>
            <a:ext cx="209544" cy="1359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7828" y="3931160"/>
            <a:ext cx="4232762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Purely statistical, not cryptographic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4441" y="4695824"/>
            <a:ext cx="5257668" cy="1485900"/>
          </a:xfrm>
          <a:prstGeom prst="roundRect">
            <a:avLst>
              <a:gd name="adj" fmla="val 1025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4937" y="4951227"/>
            <a:ext cx="247643" cy="21309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38779" y="4854900"/>
            <a:ext cx="151291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Key Criticism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4937" y="5334656"/>
            <a:ext cx="4876678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FIPS 140-3 requires more robust SP 800-90A and SP 800-90B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5528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330" y="1216582"/>
            <a:ext cx="342891" cy="307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3519" y="1116125"/>
            <a:ext cx="156773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Strengths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1844641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10" y="1789396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Strong reputation for testing </a:t>
            </a:r>
            <a:r>
              <a:rPr sz="2000" b="0">
                <a:solidFill>
                  <a:srgbClr val="22C55E"/>
                </a:solidFill>
                <a:latin typeface="Inter"/>
              </a:rPr>
              <a:t>subtle non-randomness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2739991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6410" y="2684745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From </a:t>
            </a:r>
            <a:r>
              <a:rPr sz="2000" b="0">
                <a:solidFill>
                  <a:srgbClr val="22C55E"/>
                </a:solidFill>
                <a:latin typeface="Inter"/>
              </a:rPr>
              <a:t>bit-sequence</a:t>
            </a:r>
            <a:r>
              <a:rPr sz="2000" b="0">
                <a:solidFill>
                  <a:srgbClr val="B0B8D4"/>
                </a:solidFill>
                <a:latin typeface="Inter"/>
              </a:rPr>
              <a:t> to uniform deviate distributions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3635341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410" y="3556354"/>
            <a:ext cx="357431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Developed by </a:t>
            </a:r>
            <a:r>
              <a:rPr sz="2000" b="0">
                <a:solidFill>
                  <a:srgbClr val="22C55E"/>
                </a:solidFill>
                <a:latin typeface="Inter"/>
              </a:rPr>
              <a:t>George Marsaglia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37385" y="1355187"/>
            <a:ext cx="342891" cy="277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4574" y="1239949"/>
            <a:ext cx="586333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Weaknesses (Addressed by Dieharder)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216733"/>
            <a:ext cx="209544" cy="1359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8416" y="2116853"/>
            <a:ext cx="378129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Limited tests for </a:t>
            </a:r>
            <a:r>
              <a:rPr b="0">
                <a:solidFill>
                  <a:srgbClr val="EF4444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664408"/>
            <a:ext cx="209544" cy="1359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8416" y="2564529"/>
            <a:ext cx="295645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Lack of </a:t>
            </a:r>
            <a:r>
              <a:rPr b="0">
                <a:solidFill>
                  <a:srgbClr val="EF4444"/>
                </a:solidFill>
                <a:latin typeface="Inter"/>
              </a:rPr>
              <a:t>parametric variability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102558"/>
            <a:ext cx="209544" cy="1359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8416" y="3002678"/>
            <a:ext cx="368216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Many tests lacked </a:t>
            </a:r>
            <a:r>
              <a:rPr b="0">
                <a:solidFill>
                  <a:srgbClr val="EF4444"/>
                </a:solidFill>
                <a:latin typeface="Inter"/>
              </a:rPr>
              <a:t>concluding KS test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540708"/>
            <a:ext cx="209544" cy="1359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18416" y="3461690"/>
            <a:ext cx="4400439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Partially overlapping</a:t>
            </a:r>
            <a:r>
              <a:rPr b="0">
                <a:solidFill>
                  <a:srgbClr val="B0B8D4"/>
                </a:solidFill>
                <a:latin typeface="Inter"/>
              </a:rPr>
              <a:t> sequences (not truly independent)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4321758"/>
            <a:ext cx="209544" cy="1359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8416" y="4221878"/>
            <a:ext cx="217713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Ambiguous licensing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F5A96D-B4F3-7644-474E-31CB444C2B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1227" y="4727782"/>
            <a:ext cx="7772400" cy="20864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D15050F9-3A6C-A854-7391-47A14CE1BC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817" y="4432157"/>
            <a:ext cx="7772400" cy="219913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9243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558436"/>
            <a:ext cx="304792" cy="2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457402"/>
            <a:ext cx="156863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Motivation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104767"/>
            <a:ext cx="209544" cy="15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14417" y="2013382"/>
            <a:ext cx="310508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Address weaknesses of Diehard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552442"/>
            <a:ext cx="209544" cy="1529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4417" y="2461058"/>
            <a:ext cx="30644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Extend RNG testing capabilities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990592"/>
            <a:ext cx="209544" cy="152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14417" y="2920069"/>
            <a:ext cx="3381290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Provide comprehensive test framework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4380" y="330955"/>
            <a:ext cx="266693" cy="22611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494836"/>
            <a:ext cx="285742" cy="244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332" y="388778"/>
            <a:ext cx="3994042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Key Features &amp; Improvements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174384"/>
            <a:ext cx="209544" cy="181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91035" y="1089236"/>
            <a:ext cx="196829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KS Test for All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035" y="1438788"/>
            <a:ext cx="23521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Single P-value from KS test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174384"/>
            <a:ext cx="209544" cy="181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38979" y="1089236"/>
            <a:ext cx="230941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Adjustable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9" y="1438788"/>
            <a:ext cx="204434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Parametric exploration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926859"/>
            <a:ext cx="209544" cy="1812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91035" y="1841712"/>
            <a:ext cx="184826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Visual Histograms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1035" y="2191263"/>
            <a:ext cx="184492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P-value distributions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926859"/>
            <a:ext cx="209544" cy="181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38979" y="1841712"/>
            <a:ext cx="191328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Modular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8979" y="2191263"/>
            <a:ext cx="255788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Easy to create/maintain tests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2679334"/>
            <a:ext cx="209544" cy="1812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591035" y="2594186"/>
            <a:ext cx="162845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Rewritten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035" y="2943738"/>
            <a:ext cx="219252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Well-commented C code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2679334"/>
            <a:ext cx="209544" cy="181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8979" y="2594186"/>
            <a:ext cx="1610377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GSL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9" y="2943738"/>
            <a:ext cx="19043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Gnu Scientific Library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3431809"/>
            <a:ext cx="209544" cy="1812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591035" y="3346662"/>
            <a:ext cx="229569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Long Sequence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1035" y="3696213"/>
            <a:ext cx="177247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Up to 10¹⁸ numbers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3431809"/>
            <a:ext cx="209544" cy="181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8979" y="3346662"/>
            <a:ext cx="131029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8979" y="3696213"/>
            <a:ext cx="225177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Incorporate all test suites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1035" y="4099137"/>
            <a:ext cx="160967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Timing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35" y="4448687"/>
            <a:ext cx="185063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Measure RNG speed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6850572-6916-8910-9426-2EEB88DE70E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8189" y="4403041"/>
            <a:ext cx="2902294" cy="2199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7202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Perspectives &amp; Critiques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607"/>
            <a:ext cx="304792" cy="2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169457"/>
            <a:ext cx="6838347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Critiques of Traditional Black-Box Testing (SP 800-22)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9701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2102167"/>
            <a:ext cx="228594" cy="1771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1070" y="2013382"/>
            <a:ext cx="219996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Outdated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Predates modern cryptography and information theory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58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19701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662362"/>
            <a:ext cx="228594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1070" y="3556433"/>
            <a:ext cx="145174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Limited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07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Focuses on statistical properties, not cryptographic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924424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-19701" y="5553709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5164455"/>
            <a:ext cx="228594" cy="2057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070" y="5089958"/>
            <a:ext cx="249562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Missing Security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551265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Fails to consider computational hardness of breaking generators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5580859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210216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81630" y="2013382"/>
            <a:ext cx="1748043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False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63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generators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  <a:r>
              <a:rPr b="0">
                <a:solidFill>
                  <a:srgbClr val="B0B8D4"/>
                </a:solidFill>
                <a:latin typeface="Inter"/>
              </a:rPr>
              <a:t> in insecure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580859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3625215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81630" y="3556433"/>
            <a:ext cx="2048125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Incomplete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63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Inadequate addressing of physical/interface security and backdoors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4924424"/>
            <a:ext cx="5371965" cy="1181099"/>
          </a:xfrm>
          <a:prstGeom prst="roundRect">
            <a:avLst>
              <a:gd name="adj" fmla="val 12903"/>
            </a:avLst>
          </a:prstGeom>
          <a:solidFill>
            <a:srgbClr val="00D4FF">
              <a:alpha val="10000"/>
            </a:srgbClr>
          </a:solidFill>
          <a:ln w="1651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788" y="5401917"/>
            <a:ext cx="266693" cy="22611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38779" y="5164623"/>
            <a:ext cx="4495687" cy="7007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FF"/>
                </a:solidFill>
                <a:latin typeface="Inter"/>
              </a:rPr>
              <a:t>Modern Requirements Go Beyond Statistical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101914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Security Requirements for Cryptographic RNGs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9796"/>
            <a:ext cx="266693" cy="2493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1085927"/>
            <a:ext cx="300383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Evaluation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66687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880029"/>
            <a:ext cx="209544" cy="164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1786386"/>
            <a:ext cx="3673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Pseudorandom Generator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135937"/>
            <a:ext cx="400019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Mathematical proofs linking DRBG to AES/SHA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724150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937304"/>
            <a:ext cx="209544" cy="1642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7723" y="2843660"/>
            <a:ext cx="270881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Implementation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23" y="3193212"/>
            <a:ext cx="41921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Known Answer Tests (KATs) with formal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378142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4000242"/>
            <a:ext cx="209544" cy="152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23" y="3900935"/>
            <a:ext cx="26467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Entropy Source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250487"/>
            <a:ext cx="360932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Stochastic modeling for expected entropy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838699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034863"/>
            <a:ext cx="209544" cy="198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7723" y="4958211"/>
            <a:ext cx="26856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Physical/Interface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23" y="5307762"/>
            <a:ext cx="43215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Robust protection from monitoring &amp; interference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1189796"/>
            <a:ext cx="266693" cy="2493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085927"/>
            <a:ext cx="283699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Resistance to Attacks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4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1896940"/>
            <a:ext cx="304792" cy="1875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81590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Computational Indistinguishability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3276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1872028"/>
            <a:ext cx="304792" cy="237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4721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Forward/Backward Secrecy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4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3835644"/>
            <a:ext cx="304792" cy="2725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1590" y="41901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No Backdoors/Trapdoors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53276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3863486"/>
            <a:ext cx="304792" cy="21687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10737" y="4167636"/>
            <a:ext cx="211391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Quantum Resistance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0144" y="5667374"/>
            <a:ext cx="5371965" cy="590549"/>
          </a:xfrm>
          <a:prstGeom prst="roundRect">
            <a:avLst>
              <a:gd name="adj" fmla="val 25806"/>
            </a:avLst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2540" y="58540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67333" y="5784012"/>
            <a:ext cx="401366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Modern Standards: SP 800-90 Series &amp; AIS-31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1119" y="5879782"/>
            <a:ext cx="228594" cy="1657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0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0"/>
            <a:ext cx="61910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Testing Frameworks and Datasets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940316"/>
            <a:ext cx="247643" cy="195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426" y="809702"/>
            <a:ext cx="305814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Testing Tools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390650"/>
            <a:ext cx="5371965" cy="1009649"/>
          </a:xfrm>
          <a:prstGeom prst="roundRect">
            <a:avLst>
              <a:gd name="adj" fmla="val 15094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625917"/>
            <a:ext cx="228594" cy="177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1511625"/>
            <a:ext cx="1213794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Dieharder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1926386"/>
            <a:ext cx="407925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Extended methodology • KS test on all P-values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514600"/>
            <a:ext cx="5371965" cy="2343150"/>
          </a:xfrm>
          <a:prstGeom prst="roundRect">
            <a:avLst>
              <a:gd name="adj" fmla="val 6504"/>
            </a:avLst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755582"/>
            <a:ext cx="228594" cy="165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635575"/>
            <a:ext cx="235442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ent (Entropy Testing)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335286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6318" y="3103071"/>
            <a:ext cx="2133546" cy="61375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Entropy: 7.999994 bits/byte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335286"/>
            <a:ext cx="171445" cy="1493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5607" y="3231312"/>
            <a:ext cx="158453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Compression: 0%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982986"/>
            <a:ext cx="171445" cy="14932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18" y="3879012"/>
            <a:ext cx="2133546" cy="35727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Chi-square: p ≈ 92.73%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98298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95607" y="3879012"/>
            <a:ext cx="177157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Mean: 127.5 (ideal)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4487811"/>
            <a:ext cx="171445" cy="1493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76318" y="4383837"/>
            <a:ext cx="211609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π estimate: error 0.04%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4487811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95607" y="4383837"/>
            <a:ext cx="201702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Correlation: 0.0 (ideal)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972050"/>
            <a:ext cx="5371965" cy="933449"/>
          </a:xfrm>
          <a:prstGeom prst="roundRect">
            <a:avLst>
              <a:gd name="adj" fmla="val 1632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355907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5093024"/>
            <a:ext cx="1876476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NIST SP 800-90B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431586"/>
            <a:ext cx="286764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 source assessment tools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86676"/>
            <a:ext cx="247643" cy="2246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33986" y="-4488"/>
            <a:ext cx="4050468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Space Grotesk"/>
              </a:rPr>
              <a:t>Sample Test Results (</a:t>
            </a:r>
            <a:r>
              <a:rPr sz="2400" b="1" dirty="0" err="1">
                <a:solidFill>
                  <a:srgbClr val="FFFFFF"/>
                </a:solidFill>
                <a:latin typeface="Space Grotesk"/>
              </a:rPr>
              <a:t>mt19937</a:t>
            </a:r>
            <a:r>
              <a:rPr sz="2400" b="1" dirty="0">
                <a:solidFill>
                  <a:srgbClr val="FFFFFF"/>
                </a:solidFill>
                <a:latin typeface="Space Grotesk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1352549"/>
            <a:ext cx="5371965" cy="6638924"/>
          </a:xfrm>
          <a:prstGeom prst="roundRect">
            <a:avLst>
              <a:gd name="adj" fmla="val 2836"/>
            </a:avLst>
          </a:prstGeom>
          <a:solidFill>
            <a:srgbClr val="22C55E">
              <a:alpha val="6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Rounded Rectangle 31"/>
          <p:cNvSpPr/>
          <p:nvPr/>
        </p:nvSpPr>
        <p:spPr>
          <a:xfrm>
            <a:off x="6381590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193090" y="573580"/>
            <a:ext cx="85343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Birthdays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7132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34226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9727322" y="573580"/>
            <a:ext cx="89024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 Perm5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9768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590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116337" y="1287955"/>
            <a:ext cx="100694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32x32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132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4226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9760344" y="1287955"/>
            <a:ext cx="8242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6x8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9768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1590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7182445" y="2002330"/>
            <a:ext cx="87472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Bitstream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132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34226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9886180" y="2002330"/>
            <a:ext cx="57252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9768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590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7319918" y="2716705"/>
            <a:ext cx="5997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OQSO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27132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4226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9927859" y="2716705"/>
            <a:ext cx="48917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DNA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9768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590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7222168" y="3431080"/>
            <a:ext cx="79528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Count 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7132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34226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9682759" y="3431080"/>
            <a:ext cx="97937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Parking 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9768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81590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7022755" y="4145455"/>
            <a:ext cx="119410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2D/3D Sphere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7132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34226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9791731" y="4145455"/>
            <a:ext cx="76142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Squeeze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9768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590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7346368" y="4859830"/>
            <a:ext cx="5468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Sums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7132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34226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9915836" y="4859830"/>
            <a:ext cx="51321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Runs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9768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81590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84840" y="5574205"/>
            <a:ext cx="46993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GCD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7132" y="58317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34226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EAB30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9893426" y="5574205"/>
            <a:ext cx="55803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B308"/>
                </a:solidFill>
                <a:latin typeface="Inter"/>
              </a:rPr>
              <a:t>Craps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3851" y="5831776"/>
            <a:ext cx="497188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WEAK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81590" y="6287546"/>
            <a:ext cx="5029074" cy="542925"/>
          </a:xfrm>
          <a:prstGeom prst="roundRect">
            <a:avLst>
              <a:gd name="adj" fmla="val 28070"/>
            </a:avLst>
          </a:prstGeom>
          <a:solidFill>
            <a:srgbClr val="22C55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1" name="TextBox 80"/>
          <p:cNvSpPr txBox="1"/>
          <p:nvPr/>
        </p:nvSpPr>
        <p:spPr>
          <a:xfrm>
            <a:off x="7730455" y="6368956"/>
            <a:ext cx="23313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22C55E"/>
                </a:solidFill>
                <a:latin typeface="Inter"/>
              </a:rPr>
              <a:t>All Major Tests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6607"/>
            <a:ext cx="3126177" cy="566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dirty="0">
                <a:solidFill>
                  <a:srgbClr val="FFFFFF"/>
                </a:solidFill>
                <a:latin typeface="Space Grotesk"/>
              </a:rPr>
              <a:t>Strategy of </a:t>
            </a:r>
            <a:r>
              <a:rPr sz="2392" b="1" dirty="0">
                <a:solidFill>
                  <a:srgbClr val="FFFFFF"/>
                </a:solidFill>
                <a:latin typeface="Space Grotesk"/>
              </a:rPr>
              <a:t>RNG Testing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B01ED16-AAC6-1EAE-A9F5-78120C48B8A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689" y="1778696"/>
            <a:ext cx="10928455" cy="38830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885</Words>
  <Application>Microsoft Macintosh PowerPoint</Application>
  <PresentationFormat>Widescreen</PresentationFormat>
  <Paragraphs>192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Inter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20</cp:revision>
  <dcterms:created xsi:type="dcterms:W3CDTF">2013-01-27T09:14:16Z</dcterms:created>
  <dcterms:modified xsi:type="dcterms:W3CDTF">2026-03-05T13:24:13Z</dcterms:modified>
  <cp:category/>
</cp:coreProperties>
</file>