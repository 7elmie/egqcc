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7" r:id="rId11"/>
    <p:sldId id="268" r:id="rId12"/>
    <p:sldId id="269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E9F429-4BDD-2F4E-8483-D39FD763D148}" v="7" dt="2026-01-20T10:34:28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31"/>
    <p:restoredTop sz="94657"/>
  </p:normalViewPr>
  <p:slideViewPr>
    <p:cSldViewPr snapToGrid="0" snapToObjects="1">
      <p:cViewPr varScale="1">
        <p:scale>
          <a:sx n="96" d="100"/>
          <a:sy n="96" d="100"/>
        </p:scale>
        <p:origin x="168" y="2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h Saeed" userId="2c0a189a-0f7c-4206-8181-9a10555249db" providerId="ADAL" clId="{852638DA-3B48-5304-BB1F-24E51C1A5FD3}"/>
    <pc:docChg chg="custSel delSld modSld sldOrd">
      <pc:chgData name="Sameh Saeed" userId="2c0a189a-0f7c-4206-8181-9a10555249db" providerId="ADAL" clId="{852638DA-3B48-5304-BB1F-24E51C1A5FD3}" dt="2026-01-20T10:34:55.237" v="360" actId="20577"/>
      <pc:docMkLst>
        <pc:docMk/>
      </pc:docMkLst>
      <pc:sldChg chg="modSp mod">
        <pc:chgData name="Sameh Saeed" userId="2c0a189a-0f7c-4206-8181-9a10555249db" providerId="ADAL" clId="{852638DA-3B48-5304-BB1F-24E51C1A5FD3}" dt="2026-01-20T10:12:40.639" v="4" actId="403"/>
        <pc:sldMkLst>
          <pc:docMk/>
          <pc:sldMk cId="0" sldId="256"/>
        </pc:sldMkLst>
        <pc:spChg chg="mod">
          <ac:chgData name="Sameh Saeed" userId="2c0a189a-0f7c-4206-8181-9a10555249db" providerId="ADAL" clId="{852638DA-3B48-5304-BB1F-24E51C1A5FD3}" dt="2026-01-20T10:12:40.639" v="4" actId="403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2:40.639" v="4" actId="403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2:40.639" v="4" actId="403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Sameh Saeed" userId="2c0a189a-0f7c-4206-8181-9a10555249db" providerId="ADAL" clId="{852638DA-3B48-5304-BB1F-24E51C1A5FD3}" dt="2026-01-20T10:32:51.789" v="343" actId="1038"/>
        <pc:sldMkLst>
          <pc:docMk/>
          <pc:sldMk cId="0" sldId="257"/>
        </pc:sldMkLst>
        <pc:spChg chg="mod">
          <ac:chgData name="Sameh Saeed" userId="2c0a189a-0f7c-4206-8181-9a10555249db" providerId="ADAL" clId="{852638DA-3B48-5304-BB1F-24E51C1A5FD3}" dt="2026-01-20T10:12:50.110" v="7" actId="403"/>
          <ac:spMkLst>
            <pc:docMk/>
            <pc:sldMk cId="0" sldId="257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1:56.494" v="296" actId="1035"/>
          <ac:spMkLst>
            <pc:docMk/>
            <pc:sldMk cId="0" sldId="257"/>
            <ac:spMk id="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51.789" v="343" actId="1038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1:32.968" v="269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1:32.968" v="269" actId="478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1:29.080" v="268" actId="478"/>
          <ac:spMkLst>
            <pc:docMk/>
            <pc:sldMk cId="0" sldId="257"/>
            <ac:spMk id="9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1:29.080" v="268" actId="47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14.653" v="324" actId="103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14.653" v="324" actId="1038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14.653" v="324" actId="103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14.653" v="324" actId="1038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34.312" v="325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32:34.312" v="325" actId="1076"/>
          <ac:spMkLst>
            <pc:docMk/>
            <pc:sldMk cId="0" sldId="257"/>
            <ac:spMk id="19" creationId="{00000000-0000-0000-0000-000000000000}"/>
          </ac:spMkLst>
        </pc:spChg>
        <pc:picChg chg="del">
          <ac:chgData name="Sameh Saeed" userId="2c0a189a-0f7c-4206-8181-9a10555249db" providerId="ADAL" clId="{852638DA-3B48-5304-BB1F-24E51C1A5FD3}" dt="2026-01-20T10:31:35.798" v="270" actId="478"/>
          <ac:picMkLst>
            <pc:docMk/>
            <pc:sldMk cId="0" sldId="257"/>
            <ac:picMk id="4" creationId="{00000000-0000-0000-0000-000000000000}"/>
          </ac:picMkLst>
        </pc:picChg>
        <pc:picChg chg="mod">
          <ac:chgData name="Sameh Saeed" userId="2c0a189a-0f7c-4206-8181-9a10555249db" providerId="ADAL" clId="{852638DA-3B48-5304-BB1F-24E51C1A5FD3}" dt="2026-01-20T10:32:14.653" v="324" actId="1038"/>
          <ac:picMkLst>
            <pc:docMk/>
            <pc:sldMk cId="0" sldId="257"/>
            <ac:picMk id="11" creationId="{00000000-0000-0000-0000-000000000000}"/>
          </ac:picMkLst>
        </pc:picChg>
        <pc:picChg chg="mod">
          <ac:chgData name="Sameh Saeed" userId="2c0a189a-0f7c-4206-8181-9a10555249db" providerId="ADAL" clId="{852638DA-3B48-5304-BB1F-24E51C1A5FD3}" dt="2026-01-20T10:32:14.653" v="324" actId="1038"/>
          <ac:picMkLst>
            <pc:docMk/>
            <pc:sldMk cId="0" sldId="257"/>
            <ac:picMk id="14" creationId="{00000000-0000-0000-0000-000000000000}"/>
          </ac:picMkLst>
        </pc:picChg>
        <pc:picChg chg="mod">
          <ac:chgData name="Sameh Saeed" userId="2c0a189a-0f7c-4206-8181-9a10555249db" providerId="ADAL" clId="{852638DA-3B48-5304-BB1F-24E51C1A5FD3}" dt="2026-01-20T10:32:34.312" v="325" actId="1076"/>
          <ac:picMkLst>
            <pc:docMk/>
            <pc:sldMk cId="0" sldId="257"/>
            <ac:picMk id="17" creationId="{00000000-0000-0000-0000-000000000000}"/>
          </ac:picMkLst>
        </pc:picChg>
        <pc:picChg chg="add mod">
          <ac:chgData name="Sameh Saeed" userId="2c0a189a-0f7c-4206-8181-9a10555249db" providerId="ADAL" clId="{852638DA-3B48-5304-BB1F-24E51C1A5FD3}" dt="2026-01-20T10:32:44.197" v="329" actId="14100"/>
          <ac:picMkLst>
            <pc:docMk/>
            <pc:sldMk cId="0" sldId="257"/>
            <ac:picMk id="20" creationId="{199891DE-4828-0516-95E8-38051C082609}"/>
          </ac:picMkLst>
        </pc:picChg>
      </pc:sldChg>
      <pc:sldChg chg="addSp delSp modSp mod">
        <pc:chgData name="Sameh Saeed" userId="2c0a189a-0f7c-4206-8181-9a10555249db" providerId="ADAL" clId="{852638DA-3B48-5304-BB1F-24E51C1A5FD3}" dt="2026-01-20T10:23:38.417" v="171" actId="14100"/>
        <pc:sldMkLst>
          <pc:docMk/>
          <pc:sldMk cId="0" sldId="258"/>
        </pc:sldMkLst>
        <pc:spChg chg="mod">
          <ac:chgData name="Sameh Saeed" userId="2c0a189a-0f7c-4206-8181-9a10555249db" providerId="ADAL" clId="{852638DA-3B48-5304-BB1F-24E51C1A5FD3}" dt="2026-01-20T10:23:23.499" v="154" actId="1035"/>
          <ac:spMkLst>
            <pc:docMk/>
            <pc:sldMk cId="0" sldId="258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15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1:34.397" v="136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1:34.397" v="136" actId="478"/>
          <ac:spMkLst>
            <pc:docMk/>
            <pc:sldMk cId="0" sldId="258"/>
            <ac:spMk id="17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1:34.397" v="136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1:34.397" v="136" actId="478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2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2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2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2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3:28.547" v="168" actId="1035"/>
          <ac:spMkLst>
            <pc:docMk/>
            <pc:sldMk cId="0" sldId="258"/>
            <ac:spMk id="31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1:34.397" v="136" actId="478"/>
          <ac:spMkLst>
            <pc:docMk/>
            <pc:sldMk cId="0" sldId="258"/>
            <ac:spMk id="32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1:34.397" v="136" actId="478"/>
          <ac:spMkLst>
            <pc:docMk/>
            <pc:sldMk cId="0" sldId="258"/>
            <ac:spMk id="33" creationId="{00000000-0000-0000-0000-000000000000}"/>
          </ac:spMkLst>
        </pc:spChg>
        <pc:picChg chg="add mod">
          <ac:chgData name="Sameh Saeed" userId="2c0a189a-0f7c-4206-8181-9a10555249db" providerId="ADAL" clId="{852638DA-3B48-5304-BB1F-24E51C1A5FD3}" dt="2026-01-20T10:23:38.417" v="171" actId="14100"/>
          <ac:picMkLst>
            <pc:docMk/>
            <pc:sldMk cId="0" sldId="258"/>
            <ac:picMk id="34" creationId="{EE5853D5-1E54-A1FC-B117-025C17136E40}"/>
          </ac:picMkLst>
        </pc:picChg>
      </pc:sldChg>
      <pc:sldChg chg="modSp mod">
        <pc:chgData name="Sameh Saeed" userId="2c0a189a-0f7c-4206-8181-9a10555249db" providerId="ADAL" clId="{852638DA-3B48-5304-BB1F-24E51C1A5FD3}" dt="2026-01-20T10:24:41.953" v="173" actId="403"/>
        <pc:sldMkLst>
          <pc:docMk/>
          <pc:sldMk cId="0" sldId="259"/>
        </pc:sldMkLst>
        <pc:spChg chg="mod">
          <ac:chgData name="Sameh Saeed" userId="2c0a189a-0f7c-4206-8181-9a10555249db" providerId="ADAL" clId="{852638DA-3B48-5304-BB1F-24E51C1A5FD3}" dt="2026-01-20T10:13:19.707" v="13" actId="403"/>
          <ac:spMkLst>
            <pc:docMk/>
            <pc:sldMk cId="0" sldId="259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8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4:41.953" v="173" actId="403"/>
          <ac:spMkLst>
            <pc:docMk/>
            <pc:sldMk cId="0" sldId="259"/>
            <ac:spMk id="21" creationId="{00000000-0000-0000-0000-000000000000}"/>
          </ac:spMkLst>
        </pc:spChg>
      </pc:sldChg>
      <pc:sldChg chg="modSp mod">
        <pc:chgData name="Sameh Saeed" userId="2c0a189a-0f7c-4206-8181-9a10555249db" providerId="ADAL" clId="{852638DA-3B48-5304-BB1F-24E51C1A5FD3}" dt="2026-01-20T10:13:34.874" v="16" actId="403"/>
        <pc:sldMkLst>
          <pc:docMk/>
          <pc:sldMk cId="0" sldId="260"/>
        </pc:sldMkLst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2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2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34.874" v="16" actId="403"/>
          <ac:spMkLst>
            <pc:docMk/>
            <pc:sldMk cId="0" sldId="260"/>
            <ac:spMk id="25" creationId="{00000000-0000-0000-0000-000000000000}"/>
          </ac:spMkLst>
        </pc:spChg>
      </pc:sldChg>
      <pc:sldChg chg="modSp mod">
        <pc:chgData name="Sameh Saeed" userId="2c0a189a-0f7c-4206-8181-9a10555249db" providerId="ADAL" clId="{852638DA-3B48-5304-BB1F-24E51C1A5FD3}" dt="2026-01-20T10:13:53.425" v="19" actId="403"/>
        <pc:sldMkLst>
          <pc:docMk/>
          <pc:sldMk cId="0" sldId="261"/>
        </pc:sldMkLst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1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2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2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2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3:53.425" v="19" actId="403"/>
          <ac:spMkLst>
            <pc:docMk/>
            <pc:sldMk cId="0" sldId="261"/>
            <ac:spMk id="26" creationId="{00000000-0000-0000-0000-000000000000}"/>
          </ac:spMkLst>
        </pc:spChg>
      </pc:sldChg>
      <pc:sldChg chg="del">
        <pc:chgData name="Sameh Saeed" userId="2c0a189a-0f7c-4206-8181-9a10555249db" providerId="ADAL" clId="{852638DA-3B48-5304-BB1F-24E51C1A5FD3}" dt="2026-01-20T10:14:00.916" v="20" actId="2696"/>
        <pc:sldMkLst>
          <pc:docMk/>
          <pc:sldMk cId="0" sldId="262"/>
        </pc:sldMkLst>
      </pc:sldChg>
      <pc:sldChg chg="addSp delSp modSp mod">
        <pc:chgData name="Sameh Saeed" userId="2c0a189a-0f7c-4206-8181-9a10555249db" providerId="ADAL" clId="{852638DA-3B48-5304-BB1F-24E51C1A5FD3}" dt="2026-01-20T10:26:31.432" v="214" actId="1076"/>
        <pc:sldMkLst>
          <pc:docMk/>
          <pc:sldMk cId="0" sldId="263"/>
        </pc:sldMkLst>
        <pc:spChg chg="mod">
          <ac:chgData name="Sameh Saeed" userId="2c0a189a-0f7c-4206-8181-9a10555249db" providerId="ADAL" clId="{852638DA-3B48-5304-BB1F-24E51C1A5FD3}" dt="2026-01-20T10:14:09.537" v="23" actId="403"/>
          <ac:spMkLst>
            <pc:docMk/>
            <pc:sldMk cId="0" sldId="263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11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6:11.764" v="178" actId="478"/>
          <ac:spMkLst>
            <pc:docMk/>
            <pc:sldMk cId="0" sldId="263"/>
            <ac:spMk id="12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6:11.764" v="178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6:11.764" v="178" actId="478"/>
          <ac:spMkLst>
            <pc:docMk/>
            <pc:sldMk cId="0" sldId="263"/>
            <ac:spMk id="15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6:07.171" v="177" actId="478"/>
          <ac:spMkLst>
            <pc:docMk/>
            <pc:sldMk cId="0" sldId="263"/>
            <ac:spMk id="1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18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2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2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2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2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6:25.890" v="212" actId="1035"/>
          <ac:spMkLst>
            <pc:docMk/>
            <pc:sldMk cId="0" sldId="263"/>
            <ac:spMk id="28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5:58.916" v="176" actId="478"/>
          <ac:spMkLst>
            <pc:docMk/>
            <pc:sldMk cId="0" sldId="263"/>
            <ac:spMk id="29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6:07.171" v="177" actId="478"/>
          <ac:spMkLst>
            <pc:docMk/>
            <pc:sldMk cId="0" sldId="263"/>
            <ac:spMk id="31" creationId="{00000000-0000-0000-0000-000000000000}"/>
          </ac:spMkLst>
        </pc:spChg>
        <pc:picChg chg="del">
          <ac:chgData name="Sameh Saeed" userId="2c0a189a-0f7c-4206-8181-9a10555249db" providerId="ADAL" clId="{852638DA-3B48-5304-BB1F-24E51C1A5FD3}" dt="2026-01-20T10:26:11.764" v="178" actId="478"/>
          <ac:picMkLst>
            <pc:docMk/>
            <pc:sldMk cId="0" sldId="263"/>
            <ac:picMk id="14" creationId="{00000000-0000-0000-0000-000000000000}"/>
          </ac:picMkLst>
        </pc:picChg>
        <pc:picChg chg="del">
          <ac:chgData name="Sameh Saeed" userId="2c0a189a-0f7c-4206-8181-9a10555249db" providerId="ADAL" clId="{852638DA-3B48-5304-BB1F-24E51C1A5FD3}" dt="2026-01-20T10:26:07.171" v="177" actId="478"/>
          <ac:picMkLst>
            <pc:docMk/>
            <pc:sldMk cId="0" sldId="263"/>
            <ac:picMk id="30" creationId="{00000000-0000-0000-0000-000000000000}"/>
          </ac:picMkLst>
        </pc:picChg>
        <pc:picChg chg="add mod">
          <ac:chgData name="Sameh Saeed" userId="2c0a189a-0f7c-4206-8181-9a10555249db" providerId="ADAL" clId="{852638DA-3B48-5304-BB1F-24E51C1A5FD3}" dt="2026-01-20T10:26:31.432" v="214" actId="1076"/>
          <ac:picMkLst>
            <pc:docMk/>
            <pc:sldMk cId="0" sldId="263"/>
            <ac:picMk id="32" creationId="{DBF5A96D-B4F3-7644-474E-31CB444C2B02}"/>
          </ac:picMkLst>
        </pc:picChg>
      </pc:sldChg>
      <pc:sldChg chg="modSp mod ord">
        <pc:chgData name="Sameh Saeed" userId="2c0a189a-0f7c-4206-8181-9a10555249db" providerId="ADAL" clId="{852638DA-3B48-5304-BB1F-24E51C1A5FD3}" dt="2026-01-20T10:25:21.284" v="175" actId="20578"/>
        <pc:sldMkLst>
          <pc:docMk/>
          <pc:sldMk cId="0" sldId="264"/>
        </pc:sldMkLst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8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1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2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2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18.216" v="26" actId="403"/>
          <ac:spMkLst>
            <pc:docMk/>
            <pc:sldMk cId="0" sldId="264"/>
            <ac:spMk id="36" creationId="{00000000-0000-0000-0000-000000000000}"/>
          </ac:spMkLst>
        </pc:spChg>
      </pc:sldChg>
      <pc:sldChg chg="addSp delSp modSp mod ord">
        <pc:chgData name="Sameh Saeed" userId="2c0a189a-0f7c-4206-8181-9a10555249db" providerId="ADAL" clId="{852638DA-3B48-5304-BB1F-24E51C1A5FD3}" dt="2026-01-20T10:30:21.698" v="267" actId="14100"/>
        <pc:sldMkLst>
          <pc:docMk/>
          <pc:sldMk cId="0" sldId="265"/>
        </pc:sldMkLst>
        <pc:spChg chg="mod">
          <ac:chgData name="Sameh Saeed" userId="2c0a189a-0f7c-4206-8181-9a10555249db" providerId="ADAL" clId="{852638DA-3B48-5304-BB1F-24E51C1A5FD3}" dt="2026-01-20T10:14:35.707" v="29" actId="403"/>
          <ac:spMkLst>
            <pc:docMk/>
            <pc:sldMk cId="0" sldId="265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4:35.707" v="29" actId="403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8:06.281" v="260" actId="478"/>
          <ac:spMkLst>
            <pc:docMk/>
            <pc:sldMk cId="0" sldId="265"/>
            <ac:spMk id="12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8:03.988" v="259" actId="478"/>
          <ac:spMkLst>
            <pc:docMk/>
            <pc:sldMk cId="0" sldId="265"/>
            <ac:spMk id="13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8:13.529" v="262" actId="478"/>
          <ac:spMkLst>
            <pc:docMk/>
            <pc:sldMk cId="0" sldId="265"/>
            <ac:spMk id="15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28:10.606" v="261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7:12.869" v="215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Sameh Saeed" userId="2c0a189a-0f7c-4206-8181-9a10555249db" providerId="ADAL" clId="{852638DA-3B48-5304-BB1F-24E51C1A5FD3}" dt="2026-01-20T10:27:12.869" v="215" actId="478"/>
          <ac:spMkLst>
            <pc:docMk/>
            <pc:sldMk cId="0" sldId="265"/>
            <ac:spMk id="1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2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2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2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2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3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3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3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4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4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27:47.556" v="257" actId="1035"/>
          <ac:spMkLst>
            <pc:docMk/>
            <pc:sldMk cId="0" sldId="265"/>
            <ac:spMk id="48" creationId="{00000000-0000-0000-0000-000000000000}"/>
          </ac:spMkLst>
        </pc:spChg>
        <pc:picChg chg="mod">
          <ac:chgData name="Sameh Saeed" userId="2c0a189a-0f7c-4206-8181-9a10555249db" providerId="ADAL" clId="{852638DA-3B48-5304-BB1F-24E51C1A5FD3}" dt="2026-01-20T10:27:20.518" v="216" actId="1076"/>
          <ac:picMkLst>
            <pc:docMk/>
            <pc:sldMk cId="0" sldId="265"/>
            <ac:picMk id="14" creationId="{00000000-0000-0000-0000-000000000000}"/>
          </ac:picMkLst>
        </pc:picChg>
        <pc:picChg chg="del">
          <ac:chgData name="Sameh Saeed" userId="2c0a189a-0f7c-4206-8181-9a10555249db" providerId="ADAL" clId="{852638DA-3B48-5304-BB1F-24E51C1A5FD3}" dt="2026-01-20T10:27:12.869" v="215" actId="478"/>
          <ac:picMkLst>
            <pc:docMk/>
            <pc:sldMk cId="0" sldId="265"/>
            <ac:picMk id="18" creationId="{00000000-0000-0000-0000-000000000000}"/>
          </ac:picMkLst>
        </pc:picChg>
        <pc:picChg chg="del">
          <ac:chgData name="Sameh Saeed" userId="2c0a189a-0f7c-4206-8181-9a10555249db" providerId="ADAL" clId="{852638DA-3B48-5304-BB1F-24E51C1A5FD3}" dt="2026-01-20T10:27:12.869" v="215" actId="478"/>
          <ac:picMkLst>
            <pc:docMk/>
            <pc:sldMk cId="0" sldId="265"/>
            <ac:picMk id="46" creationId="{00000000-0000-0000-0000-000000000000}"/>
          </ac:picMkLst>
        </pc:picChg>
        <pc:picChg chg="add mod">
          <ac:chgData name="Sameh Saeed" userId="2c0a189a-0f7c-4206-8181-9a10555249db" providerId="ADAL" clId="{852638DA-3B48-5304-BB1F-24E51C1A5FD3}" dt="2026-01-20T10:27:55.143" v="258" actId="167"/>
          <ac:picMkLst>
            <pc:docMk/>
            <pc:sldMk cId="0" sldId="265"/>
            <ac:picMk id="49" creationId="{D15050F9-3A6C-A854-7391-47A14CE1BCCE}"/>
          </ac:picMkLst>
        </pc:picChg>
        <pc:picChg chg="add mod">
          <ac:chgData name="Sameh Saeed" userId="2c0a189a-0f7c-4206-8181-9a10555249db" providerId="ADAL" clId="{852638DA-3B48-5304-BB1F-24E51C1A5FD3}" dt="2026-01-20T10:30:21.698" v="267" actId="14100"/>
          <ac:picMkLst>
            <pc:docMk/>
            <pc:sldMk cId="0" sldId="265"/>
            <ac:picMk id="50" creationId="{76850572-6916-8910-9426-2EEB88DE70E1}"/>
          </ac:picMkLst>
        </pc:picChg>
      </pc:sldChg>
      <pc:sldChg chg="del">
        <pc:chgData name="Sameh Saeed" userId="2c0a189a-0f7c-4206-8181-9a10555249db" providerId="ADAL" clId="{852638DA-3B48-5304-BB1F-24E51C1A5FD3}" dt="2026-01-20T10:15:08.626" v="30" actId="2696"/>
        <pc:sldMkLst>
          <pc:docMk/>
          <pc:sldMk cId="0" sldId="266"/>
        </pc:sldMkLst>
      </pc:sldChg>
      <pc:sldChg chg="modSp mod">
        <pc:chgData name="Sameh Saeed" userId="2c0a189a-0f7c-4206-8181-9a10555249db" providerId="ADAL" clId="{852638DA-3B48-5304-BB1F-24E51C1A5FD3}" dt="2026-01-20T10:15:16.447" v="33" actId="403"/>
        <pc:sldMkLst>
          <pc:docMk/>
          <pc:sldMk cId="0" sldId="267"/>
        </pc:sldMkLst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1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2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2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2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3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31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4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5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16.447" v="33" actId="403"/>
          <ac:spMkLst>
            <pc:docMk/>
            <pc:sldMk cId="0" sldId="267"/>
            <ac:spMk id="53" creationId="{00000000-0000-0000-0000-000000000000}"/>
          </ac:spMkLst>
        </pc:spChg>
      </pc:sldChg>
      <pc:sldChg chg="modSp mod">
        <pc:chgData name="Sameh Saeed" userId="2c0a189a-0f7c-4206-8181-9a10555249db" providerId="ADAL" clId="{852638DA-3B48-5304-BB1F-24E51C1A5FD3}" dt="2026-01-20T10:15:27.628" v="36" actId="403"/>
        <pc:sldMkLst>
          <pc:docMk/>
          <pc:sldMk cId="0" sldId="268"/>
        </pc:sldMkLst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1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1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2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2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2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2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27.628" v="36" actId="403"/>
          <ac:spMkLst>
            <pc:docMk/>
            <pc:sldMk cId="0" sldId="268"/>
            <ac:spMk id="29" creationId="{00000000-0000-0000-0000-000000000000}"/>
          </ac:spMkLst>
        </pc:spChg>
      </pc:sldChg>
      <pc:sldChg chg="modSp mod">
        <pc:chgData name="Sameh Saeed" userId="2c0a189a-0f7c-4206-8181-9a10555249db" providerId="ADAL" clId="{852638DA-3B48-5304-BB1F-24E51C1A5FD3}" dt="2026-01-20T10:15:42.242" v="39" actId="403"/>
        <pc:sldMkLst>
          <pc:docMk/>
          <pc:sldMk cId="0" sldId="269"/>
        </pc:sldMkLst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1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1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1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1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2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2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2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3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5:42.242" v="39" actId="403"/>
          <ac:spMkLst>
            <pc:docMk/>
            <pc:sldMk cId="0" sldId="269"/>
            <ac:spMk id="33" creationId="{00000000-0000-0000-0000-000000000000}"/>
          </ac:spMkLst>
        </pc:spChg>
      </pc:sldChg>
      <pc:sldChg chg="del">
        <pc:chgData name="Sameh Saeed" userId="2c0a189a-0f7c-4206-8181-9a10555249db" providerId="ADAL" clId="{852638DA-3B48-5304-BB1F-24E51C1A5FD3}" dt="2026-01-20T10:15:48.971" v="40" actId="2696"/>
        <pc:sldMkLst>
          <pc:docMk/>
          <pc:sldMk cId="0" sldId="270"/>
        </pc:sldMkLst>
      </pc:sldChg>
      <pc:sldChg chg="del">
        <pc:chgData name="Sameh Saeed" userId="2c0a189a-0f7c-4206-8181-9a10555249db" providerId="ADAL" clId="{852638DA-3B48-5304-BB1F-24E51C1A5FD3}" dt="2026-01-20T10:16:01.730" v="41" actId="2696"/>
        <pc:sldMkLst>
          <pc:docMk/>
          <pc:sldMk cId="0" sldId="271"/>
        </pc:sldMkLst>
      </pc:sldChg>
      <pc:sldChg chg="modSp mod">
        <pc:chgData name="Sameh Saeed" userId="2c0a189a-0f7c-4206-8181-9a10555249db" providerId="ADAL" clId="{852638DA-3B48-5304-BB1F-24E51C1A5FD3}" dt="2026-01-20T10:17:04.141" v="131" actId="1036"/>
        <pc:sldMkLst>
          <pc:docMk/>
          <pc:sldMk cId="0" sldId="272"/>
        </pc:sldMkLst>
        <pc:spChg chg="mod">
          <ac:chgData name="Sameh Saeed" userId="2c0a189a-0f7c-4206-8181-9a10555249db" providerId="ADAL" clId="{852638DA-3B48-5304-BB1F-24E51C1A5FD3}" dt="2026-01-20T10:16:18.461" v="44" actId="403"/>
          <ac:spMkLst>
            <pc:docMk/>
            <pc:sldMk cId="0" sldId="272"/>
            <ac:spMk id="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18.461" v="44" actId="403"/>
          <ac:spMkLst>
            <pc:docMk/>
            <pc:sldMk cId="0" sldId="272"/>
            <ac:spMk id="9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18.461" v="44" actId="403"/>
          <ac:spMkLst>
            <pc:docMk/>
            <pc:sldMk cId="0" sldId="272"/>
            <ac:spMk id="1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18.461" v="44" actId="403"/>
          <ac:spMkLst>
            <pc:docMk/>
            <pc:sldMk cId="0" sldId="272"/>
            <ac:spMk id="2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18.461" v="44" actId="403"/>
          <ac:spMkLst>
            <pc:docMk/>
            <pc:sldMk cId="0" sldId="272"/>
            <ac:spMk id="25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59.762" v="119" actId="1036"/>
          <ac:spMkLst>
            <pc:docMk/>
            <pc:sldMk cId="0" sldId="272"/>
            <ac:spMk id="3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3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34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38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50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62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63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6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76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77" creationId="{00000000-0000-0000-0000-000000000000}"/>
          </ac:spMkLst>
        </pc:spChg>
        <pc:spChg chg="mod">
          <ac:chgData name="Sameh Saeed" userId="2c0a189a-0f7c-4206-8181-9a10555249db" providerId="ADAL" clId="{852638DA-3B48-5304-BB1F-24E51C1A5FD3}" dt="2026-01-20T10:16:48.603" v="105" actId="1035"/>
          <ac:spMkLst>
            <pc:docMk/>
            <pc:sldMk cId="0" sldId="272"/>
            <ac:spMk id="80" creationId="{00000000-0000-0000-0000-000000000000}"/>
          </ac:spMkLst>
        </pc:spChg>
        <pc:picChg chg="mod">
          <ac:chgData name="Sameh Saeed" userId="2c0a189a-0f7c-4206-8181-9a10555249db" providerId="ADAL" clId="{852638DA-3B48-5304-BB1F-24E51C1A5FD3}" dt="2026-01-20T10:17:04.141" v="131" actId="1036"/>
          <ac:picMkLst>
            <pc:docMk/>
            <pc:sldMk cId="0" sldId="272"/>
            <ac:picMk id="29" creationId="{00000000-0000-0000-0000-000000000000}"/>
          </ac:picMkLst>
        </pc:picChg>
      </pc:sldChg>
      <pc:sldChg chg="addSp delSp modSp mod">
        <pc:chgData name="Sameh Saeed" userId="2c0a189a-0f7c-4206-8181-9a10555249db" providerId="ADAL" clId="{852638DA-3B48-5304-BB1F-24E51C1A5FD3}" dt="2026-01-20T10:34:55.237" v="360" actId="20577"/>
        <pc:sldMkLst>
          <pc:docMk/>
          <pc:sldMk cId="0" sldId="273"/>
        </pc:sldMkLst>
        <pc:spChg chg="mod">
          <ac:chgData name="Sameh Saeed" userId="2c0a189a-0f7c-4206-8181-9a10555249db" providerId="ADAL" clId="{852638DA-3B48-5304-BB1F-24E51C1A5FD3}" dt="2026-01-20T10:34:55.237" v="360" actId="20577"/>
          <ac:spMkLst>
            <pc:docMk/>
            <pc:sldMk cId="0" sldId="273"/>
            <ac:spMk id="3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4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5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7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10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12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13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22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24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25" creationId="{00000000-0000-0000-0000-000000000000}"/>
          </ac:spMkLst>
        </pc:spChg>
        <pc:spChg chg="del mod">
          <ac:chgData name="Sameh Saeed" userId="2c0a189a-0f7c-4206-8181-9a10555249db" providerId="ADAL" clId="{852638DA-3B48-5304-BB1F-24E51C1A5FD3}" dt="2026-01-20T10:34:27.190" v="344" actId="478"/>
          <ac:spMkLst>
            <pc:docMk/>
            <pc:sldMk cId="0" sldId="273"/>
            <ac:spMk id="27" creationId="{00000000-0000-0000-0000-000000000000}"/>
          </ac:spMkLst>
        </pc:spChg>
        <pc:picChg chg="add mod">
          <ac:chgData name="Sameh Saeed" userId="2c0a189a-0f7c-4206-8181-9a10555249db" providerId="ADAL" clId="{852638DA-3B48-5304-BB1F-24E51C1A5FD3}" dt="2026-01-20T10:34:39.643" v="348" actId="14100"/>
          <ac:picMkLst>
            <pc:docMk/>
            <pc:sldMk cId="0" sldId="273"/>
            <ac:picMk id="29" creationId="{FB01ED16-AAC6-1EAE-A9F5-78120C48B8A9}"/>
          </ac:picMkLst>
        </pc:picChg>
      </pc:sldChg>
      <pc:sldChg chg="del">
        <pc:chgData name="Sameh Saeed" userId="2c0a189a-0f7c-4206-8181-9a10555249db" providerId="ADAL" clId="{852638DA-3B48-5304-BB1F-24E51C1A5FD3}" dt="2026-01-20T10:17:29.728" v="135" actId="2696"/>
        <pc:sldMkLst>
          <pc:docMk/>
          <pc:sldMk cId="0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1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9154" y="1718829"/>
            <a:ext cx="533386" cy="4485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2616" y="2571750"/>
            <a:ext cx="7486462" cy="1428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875"/>
              </a:lnSpc>
              <a:spcBef>
                <a:spcPts val="0"/>
              </a:spcBef>
              <a:spcAft>
                <a:spcPts val="2080"/>
              </a:spcAft>
            </a:pPr>
            <a:r>
              <a:rPr sz="3588" b="1">
                <a:solidFill>
                  <a:srgbClr val="FFFFFF"/>
                </a:solidFill>
                <a:latin typeface="Space Grotesk"/>
              </a:rPr>
              <a:t> True Randomness Testing &amp;</a:t>
            </a:r>
            <a:r>
              <a:rPr sz="1104"/>
              <a:t>
</a:t>
            </a:r>
            <a:r>
              <a:rPr sz="3588" b="1">
                <a:solidFill>
                  <a:srgbClr val="FFFFFF"/>
                </a:solidFill>
                <a:latin typeface="Space Grotesk"/>
              </a:rPr>
              <a:t>Random Number Generators </a:t>
            </a:r>
          </a:p>
        </p:txBody>
      </p:sp>
      <p:sp>
        <p:nvSpPr>
          <p:cNvPr id="6" name="Rectangle 5"/>
          <p:cNvSpPr/>
          <p:nvPr/>
        </p:nvSpPr>
        <p:spPr>
          <a:xfrm>
            <a:off x="5143371" y="4305300"/>
            <a:ext cx="1904952" cy="28575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D4FF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TextBox 6"/>
          <p:cNvSpPr txBox="1"/>
          <p:nvPr/>
        </p:nvSpPr>
        <p:spPr>
          <a:xfrm>
            <a:off x="2352616" y="4618904"/>
            <a:ext cx="7486462" cy="58246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8D4"/>
                </a:solidFill>
                <a:latin typeface="Inter"/>
              </a:rPr>
              <a:t> NIST SP 800-22, Dieharder, VQR &amp; QPP Projects</a:t>
            </a:r>
            <a:r>
              <a:rPr sz="2000"/>
              <a:t>
</a:t>
            </a:r>
            <a:r>
              <a:rPr sz="2000" b="0">
                <a:solidFill>
                  <a:srgbClr val="B0B8D4"/>
                </a:solidFill>
                <a:latin typeface="Inter"/>
              </a:rPr>
              <a:t> </a:t>
            </a:r>
            <a:r>
              <a:rPr b="0">
                <a:solidFill>
                  <a:srgbClr val="8A92A8"/>
                </a:solidFill>
                <a:latin typeface="Inter"/>
              </a:rPr>
              <a:t>A Comprehensive Overview of RNG Testing and Quantum Approaches</a:t>
            </a:r>
            <a:r>
              <a:rPr sz="2000"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214788-DF8F-1088-1B36-25798A803CC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5542" y="134048"/>
            <a:ext cx="1955800" cy="1623885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041D80-F0EA-03DC-4547-A02A70145A1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5542" y="1709736"/>
            <a:ext cx="1955800" cy="912037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12B8CF-232B-A99F-69BB-CD1B77496D7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5542" y="2547936"/>
            <a:ext cx="1955800" cy="954103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77190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The Fundamental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972780"/>
            <a:ext cx="4857292" cy="4132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2400" b="1">
                <a:solidFill>
                  <a:srgbClr val="00D4FF"/>
                </a:solidFill>
                <a:latin typeface="Space Grotesk"/>
              </a:rPr>
              <a:t>Can We Generate True Randomness?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162" y="1518776"/>
            <a:ext cx="3933726" cy="137396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B0B8D4"/>
                </a:solidFill>
                <a:latin typeface="Inter"/>
              </a:rPr>
              <a:t> The term </a:t>
            </a:r>
            <a:r>
              <a:rPr sz="2000" b="1" dirty="0">
                <a:solidFill>
                  <a:srgbClr val="FFFFFF"/>
                </a:solidFill>
                <a:latin typeface="Inter"/>
              </a:rPr>
              <a:t>"Random Number Generator"</a:t>
            </a:r>
            <a:r>
              <a:rPr sz="2000" b="0" dirty="0">
                <a:solidFill>
                  <a:srgbClr val="B0B8D4"/>
                </a:solidFill>
                <a:latin typeface="Inter"/>
              </a:rPr>
              <a:t> is fundamentally a mathematical and computational oxymoron.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58520" y="1031300"/>
            <a:ext cx="304792" cy="2168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3808" y="925497"/>
            <a:ext cx="2795317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Unpredictable ≠ Random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3808" y="1435014"/>
            <a:ext cx="5629134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An event can be </a:t>
            </a:r>
            <a:r>
              <a:rPr b="0">
                <a:solidFill>
                  <a:srgbClr val="00D4FF"/>
                </a:solidFill>
                <a:latin typeface="Inter"/>
              </a:rPr>
              <a:t>unpredictable</a:t>
            </a:r>
            <a:r>
              <a:rPr b="0">
                <a:solidFill>
                  <a:srgbClr val="B0B8D4"/>
                </a:solidFill>
                <a:latin typeface="Inter"/>
              </a:rPr>
              <a:t> due to insufficient data (entropy), but not necessarily </a:t>
            </a:r>
            <a:r>
              <a:rPr b="0">
                <a:solidFill>
                  <a:srgbClr val="00D4FF"/>
                </a:solidFill>
                <a:latin typeface="Inter"/>
              </a:rPr>
              <a:t>truly random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58520" y="2507675"/>
            <a:ext cx="304792" cy="2168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53808" y="2401871"/>
            <a:ext cx="2361159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Quantum Challenges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3808" y="2953532"/>
            <a:ext cx="5629134" cy="127778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Even physical processes, including quantum experiments, present challenges in definitively proving true randomness versus unpredictability due to entropy or incomplete system knowledge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96" y="3303363"/>
            <a:ext cx="304792" cy="2461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584" y="3212214"/>
            <a:ext cx="2376805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78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Proving Randomness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" y="3743300"/>
            <a:ext cx="5629134" cy="97603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Distinguishing true randomness from unpredictability remains a fundamental challenge in computational systems and cryptography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99891DE-4828-0516-95E8-38051C08260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103" y="4831461"/>
            <a:ext cx="9607929" cy="17333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052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682925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Types of Random Number Generators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1219970"/>
            <a:ext cx="342891" cy="289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110645"/>
            <a:ext cx="1701876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True RNGs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1869641"/>
            <a:ext cx="190495" cy="952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33466" y="1751027"/>
            <a:ext cx="340625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Non-deterministic physical sources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2288741"/>
            <a:ext cx="190495" cy="952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3466" y="2170127"/>
            <a:ext cx="319664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Thermal noise, user input timing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2726891"/>
            <a:ext cx="190495" cy="952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33466" y="2608277"/>
            <a:ext cx="309578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Quantum effects and processes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3145991"/>
            <a:ext cx="190495" cy="952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3466" y="3027377"/>
            <a:ext cx="292849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Distillation process for quality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3584140"/>
            <a:ext cx="190495" cy="952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33466" y="3465526"/>
            <a:ext cx="3446456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Must satisfy </a:t>
            </a:r>
            <a:r>
              <a:rPr b="0">
                <a:solidFill>
                  <a:srgbClr val="00D4FF"/>
                </a:solidFill>
                <a:latin typeface="Inter"/>
              </a:rPr>
              <a:t>strict statistical criteria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441" y="1072168"/>
            <a:ext cx="342891" cy="24239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81630" y="939195"/>
            <a:ext cx="3295518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Pseudorandom RNGs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630" y="1698191"/>
            <a:ext cx="190495" cy="9524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48323" y="1579576"/>
            <a:ext cx="3794950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Deterministic mathematical algorithms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630" y="2126816"/>
            <a:ext cx="190495" cy="9524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48323" y="2008202"/>
            <a:ext cx="295882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Require </a:t>
            </a:r>
            <a:r>
              <a:rPr b="0">
                <a:solidFill>
                  <a:srgbClr val="00D4FF"/>
                </a:solidFill>
                <a:latin typeface="Inter"/>
              </a:rPr>
              <a:t>random seed</a:t>
            </a:r>
            <a:r>
              <a:rPr b="0">
                <a:solidFill>
                  <a:srgbClr val="B0B8D4"/>
                </a:solidFill>
                <a:latin typeface="Inter"/>
              </a:rPr>
              <a:t> as input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630" y="2555441"/>
            <a:ext cx="190495" cy="9524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48323" y="2436827"/>
            <a:ext cx="3452292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Generate pseudorandom sequence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630" y="2984066"/>
            <a:ext cx="190495" cy="9524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48323" y="2865452"/>
            <a:ext cx="346255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Seed must come from RNG outputs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1630" y="3412690"/>
            <a:ext cx="190495" cy="9524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48323" y="3294076"/>
            <a:ext cx="273536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Efficient for large quantities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E5853D5-1E54-A1FC-B117-025C17136E4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4109200"/>
            <a:ext cx="10576158" cy="2133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09714"/>
            <a:ext cx="5033814" cy="58067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Importance of Random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619250"/>
            <a:ext cx="5181470" cy="1619250"/>
          </a:xfrm>
          <a:prstGeom prst="roundRect">
            <a:avLst>
              <a:gd name="adj" fmla="val 9411"/>
            </a:avLst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79" y="1930598"/>
            <a:ext cx="380990" cy="2917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565" y="1808451"/>
            <a:ext cx="4357475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Monte Carlo Simulations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565" y="2312897"/>
            <a:ext cx="4190895" cy="70820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0B8D4"/>
                </a:solidFill>
                <a:latin typeface="Inter"/>
              </a:rPr>
              <a:t>Sampling large phase spaces for complex system modeling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3543300"/>
            <a:ext cx="5181470" cy="1619250"/>
          </a:xfrm>
          <a:prstGeom prst="roundRect">
            <a:avLst>
              <a:gd name="adj" fmla="val 9411"/>
            </a:avLst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79" y="3884414"/>
            <a:ext cx="380990" cy="2321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565" y="3732502"/>
            <a:ext cx="1314719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Games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565" y="4236946"/>
            <a:ext cx="4190895" cy="70820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0B8D4"/>
                </a:solidFill>
                <a:latin typeface="Inter"/>
              </a:rPr>
              <a:t>Ensuring unique and unbiased user experiences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639" y="1790700"/>
            <a:ext cx="5181470" cy="1276350"/>
          </a:xfrm>
          <a:prstGeom prst="roundRect">
            <a:avLst>
              <a:gd name="adj" fmla="val 11940"/>
            </a:avLst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234" y="2078235"/>
            <a:ext cx="380990" cy="339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62620" y="1979901"/>
            <a:ext cx="2443746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Cryptography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2620" y="2460374"/>
            <a:ext cx="5420843" cy="4132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0B8D4"/>
                </a:solidFill>
                <a:latin typeface="Inter"/>
              </a:rPr>
              <a:t> </a:t>
            </a:r>
            <a:r>
              <a:rPr sz="2400" b="0">
                <a:solidFill>
                  <a:srgbClr val="00D4FF"/>
                </a:solidFill>
                <a:latin typeface="Inter"/>
              </a:rPr>
              <a:t>Fundamental basis</a:t>
            </a:r>
            <a:r>
              <a:rPr sz="2400" b="0">
                <a:solidFill>
                  <a:srgbClr val="B0B8D4"/>
                </a:solidFill>
                <a:latin typeface="Inter"/>
              </a:rPr>
              <a:t> of Internet commerce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639" y="3371850"/>
            <a:ext cx="5181470" cy="1619250"/>
          </a:xfrm>
          <a:prstGeom prst="roundRect">
            <a:avLst>
              <a:gd name="adj" fmla="val 9411"/>
            </a:avLst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9234" y="3683198"/>
            <a:ext cx="380990" cy="29170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62620" y="3561052"/>
            <a:ext cx="4370877" cy="4788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Mathematics &amp; Statistics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2620" y="4065495"/>
            <a:ext cx="4190895" cy="70820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B0B8D4"/>
                </a:solidFill>
                <a:latin typeface="Inter"/>
              </a:rPr>
              <a:t>Theoretical foundations and applied contexts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5962650"/>
            <a:ext cx="10972525" cy="590549"/>
          </a:xfrm>
          <a:prstGeom prst="roundRect">
            <a:avLst>
              <a:gd name="adj" fmla="val 25806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380350" y="6191884"/>
            <a:ext cx="5905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TextBox 21"/>
          <p:cNvSpPr txBox="1"/>
          <p:nvPr/>
        </p:nvSpPr>
        <p:spPr>
          <a:xfrm>
            <a:off x="800079" y="6065726"/>
            <a:ext cx="11290078" cy="38440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8A92A8"/>
                </a:solidFill>
                <a:latin typeface="Inter"/>
              </a:rPr>
              <a:t>"Random numbers are the </a:t>
            </a:r>
            <a:r>
              <a:rPr lang="en-US" sz="2000" b="1" dirty="0">
                <a:solidFill>
                  <a:srgbClr val="8A92A8"/>
                </a:solidFill>
                <a:latin typeface="Inter"/>
              </a:rPr>
              <a:t>"</a:t>
            </a:r>
            <a:r>
              <a:rPr lang="en-US" sz="2400" b="1" dirty="0">
                <a:solidFill>
                  <a:schemeClr val="bg1"/>
                </a:solidFill>
                <a:latin typeface="Inter"/>
              </a:rPr>
              <a:t>must-have</a:t>
            </a:r>
            <a:r>
              <a:rPr lang="en-US" sz="2000" b="1" dirty="0">
                <a:solidFill>
                  <a:srgbClr val="8A92A8"/>
                </a:solidFill>
                <a:latin typeface="Inter"/>
              </a:rPr>
              <a:t>”</a:t>
            </a:r>
            <a:r>
              <a:rPr sz="2000" b="0" dirty="0">
                <a:solidFill>
                  <a:srgbClr val="8A92A8"/>
                </a:solidFill>
                <a:latin typeface="Inter"/>
              </a:rPr>
              <a:t> of modern computational systems and secure communications."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614347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Statistical Testing Core Concepts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1286203"/>
            <a:ext cx="342891" cy="2660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773" y="1165054"/>
            <a:ext cx="2879443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Purpose of Testing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1928683"/>
            <a:ext cx="209544" cy="181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90615" y="1851364"/>
            <a:ext cx="4129079" cy="40254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Systematic test suite for </a:t>
            </a:r>
            <a:r>
              <a:rPr b="0">
                <a:solidFill>
                  <a:srgbClr val="00D4FF"/>
                </a:solidFill>
                <a:latin typeface="Inter"/>
              </a:rPr>
              <a:t>all types of RNGs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2433508"/>
            <a:ext cx="209544" cy="181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90615" y="2356190"/>
            <a:ext cx="4718471" cy="40254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Detect deviations from </a:t>
            </a:r>
            <a:r>
              <a:rPr b="0">
                <a:solidFill>
                  <a:srgbClr val="00D4FF"/>
                </a:solidFill>
                <a:latin typeface="Inter"/>
              </a:rPr>
              <a:t>truly random sequences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2947858"/>
            <a:ext cx="209544" cy="181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90615" y="2870540"/>
            <a:ext cx="4509824" cy="40254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Identify patterns or biases in binary sequences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629025"/>
            <a:ext cx="6200619" cy="1695449"/>
          </a:xfrm>
          <a:prstGeom prst="roundRect">
            <a:avLst>
              <a:gd name="adj" fmla="val 8988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-172100" y="4410709"/>
            <a:ext cx="1695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278" y="3943764"/>
            <a:ext cx="266693" cy="2087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57268" y="3833883"/>
            <a:ext cx="1431867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Critical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78" y="4381499"/>
            <a:ext cx="5705332" cy="7143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Minimize </a:t>
            </a:r>
            <a:r>
              <a:rPr b="0">
                <a:solidFill>
                  <a:srgbClr val="00D4FF"/>
                </a:solidFill>
                <a:latin typeface="Inter"/>
              </a:rPr>
              <a:t>Type II errors</a:t>
            </a:r>
            <a:r>
              <a:rPr b="0">
                <a:solidFill>
                  <a:srgbClr val="B0B8D4"/>
                </a:solidFill>
                <a:latin typeface="Inter"/>
              </a:rPr>
              <a:t> — rejecting the null hypothesis when it's actually false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5629275"/>
            <a:ext cx="6200619" cy="1257300"/>
          </a:xfrm>
          <a:prstGeom prst="roundRect">
            <a:avLst>
              <a:gd name="adj" fmla="val 12121"/>
            </a:avLst>
          </a:prstGeom>
          <a:solidFill>
            <a:srgbClr val="00D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761980" y="5769832"/>
            <a:ext cx="5895827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8A92A8"/>
                </a:solidFill>
                <a:latin typeface="Inter"/>
              </a:rPr>
              <a:t>"Falsely accepting a sequence as good when the generator was actually bad."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0" y="6425248"/>
            <a:ext cx="163390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600" b="0">
                <a:solidFill>
                  <a:srgbClr val="5A6278"/>
                </a:solidFill>
                <a:latin typeface="Inter"/>
              </a:rPr>
              <a:t>— NIST SP 800-22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72185" y="1428750"/>
            <a:ext cx="4009924" cy="3619499"/>
          </a:xfrm>
          <a:prstGeom prst="rect">
            <a:avLst/>
          </a:prstGeom>
          <a:solidFill>
            <a:srgbClr val="00D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Rectangle 20"/>
          <p:cNvSpPr/>
          <p:nvPr/>
        </p:nvSpPr>
        <p:spPr>
          <a:xfrm>
            <a:off x="7572185" y="1428750"/>
            <a:ext cx="4009924" cy="3619499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ounded Rectangle 21"/>
          <p:cNvSpPr/>
          <p:nvPr/>
        </p:nvSpPr>
        <p:spPr>
          <a:xfrm>
            <a:off x="7572185" y="5238749"/>
            <a:ext cx="4009924" cy="1409699"/>
          </a:xfrm>
          <a:prstGeom prst="roundRect">
            <a:avLst>
              <a:gd name="adj" fmla="val 10810"/>
            </a:avLst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7762680" y="5396361"/>
            <a:ext cx="1662378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Test Framework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6822" y="5446834"/>
            <a:ext cx="304792" cy="2696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62680" y="5846032"/>
            <a:ext cx="362893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78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Rigorous, systematic testing methodology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62913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The Null Hypothesis &amp; P-values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504950"/>
            <a:ext cx="5181470" cy="1362075"/>
          </a:xfrm>
          <a:prstGeom prst="roundRect">
            <a:avLst>
              <a:gd name="adj" fmla="val 11188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5413" y="2119947"/>
            <a:ext cx="13620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6278" y="1825869"/>
            <a:ext cx="304792" cy="234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5367" y="1705052"/>
            <a:ext cx="2731773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Null Hypothesis (H₀)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2260940"/>
            <a:ext cx="3755002" cy="40254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The sequence being tested is </a:t>
            </a:r>
            <a:r>
              <a:rPr b="0">
                <a:solidFill>
                  <a:srgbClr val="00D4FF"/>
                </a:solidFill>
                <a:latin typeface="Inter"/>
              </a:rPr>
              <a:t>random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3192531"/>
            <a:ext cx="266693" cy="168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0575" y="3076837"/>
            <a:ext cx="1965795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Very Low P-value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575" y="3500885"/>
            <a:ext cx="3423630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&lt; 10⁻⁶ → </a:t>
            </a:r>
            <a:r>
              <a:rPr b="0">
                <a:solidFill>
                  <a:srgbClr val="EF4444"/>
                </a:solidFill>
                <a:latin typeface="Inter"/>
              </a:rPr>
              <a:t>Reject H₀</a:t>
            </a:r>
            <a:r>
              <a:rPr b="0">
                <a:solidFill>
                  <a:srgbClr val="B0B8D4"/>
                </a:solidFill>
                <a:latin typeface="Inter"/>
              </a:rPr>
              <a:t> (Bad generator)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4096992"/>
            <a:ext cx="266693" cy="2261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4010287"/>
            <a:ext cx="1471750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405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High P-value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575" y="4466371"/>
            <a:ext cx="4800479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&gt; 0.01 → Insufficient evidence to reject, but </a:t>
            </a:r>
            <a:r>
              <a:rPr b="0">
                <a:solidFill>
                  <a:srgbClr val="22C55E"/>
                </a:solidFill>
                <a:latin typeface="Inter"/>
              </a:rPr>
              <a:t>cannot prove</a:t>
            </a:r>
            <a:r>
              <a:rPr b="0">
                <a:solidFill>
                  <a:srgbClr val="B0B8D4"/>
                </a:solidFill>
                <a:latin typeface="Inter"/>
              </a:rPr>
              <a:t> H₀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5295899"/>
            <a:ext cx="5181470" cy="1333500"/>
          </a:xfrm>
          <a:prstGeom prst="roundRect">
            <a:avLst>
              <a:gd name="adj" fmla="val 11428"/>
            </a:avLst>
          </a:prstGeom>
          <a:solidFill>
            <a:srgbClr val="00D4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800079" y="5474558"/>
            <a:ext cx="4800479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8A92A8"/>
                </a:solidFill>
                <a:latin typeface="Inter"/>
              </a:rPr>
              <a:t>"The null hypothesis can never be proven to be true, it can only fail to be observed to fail."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79" y="6129973"/>
            <a:ext cx="123335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600" b="0">
                <a:solidFill>
                  <a:srgbClr val="5A6278"/>
                </a:solidFill>
                <a:latin typeface="Inter"/>
              </a:rPr>
              <a:t>— DieHarder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0639" y="1296865"/>
            <a:ext cx="304792" cy="18756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19729" y="1162127"/>
            <a:ext cx="2679580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P-value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9729" y="1743075"/>
            <a:ext cx="4762380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For good RNGs, P-values should be </a:t>
            </a:r>
            <a:r>
              <a:rPr b="0">
                <a:solidFill>
                  <a:srgbClr val="00D4FF"/>
                </a:solidFill>
                <a:latin typeface="Inter"/>
              </a:rPr>
              <a:t>uniformly distributed</a:t>
            </a:r>
            <a:r>
              <a:rPr b="0">
                <a:solidFill>
                  <a:srgbClr val="B0B8D4"/>
                </a:solidFill>
                <a:latin typeface="Inter"/>
              </a:rPr>
              <a:t> across [0, 1)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639" y="2647949"/>
            <a:ext cx="5181470" cy="2286000"/>
          </a:xfrm>
          <a:prstGeom prst="rect">
            <a:avLst/>
          </a:prstGeom>
          <a:solidFill>
            <a:srgbClr val="00D4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ectangle 21"/>
          <p:cNvSpPr/>
          <p:nvPr/>
        </p:nvSpPr>
        <p:spPr>
          <a:xfrm>
            <a:off x="6400639" y="2647949"/>
            <a:ext cx="5181470" cy="2286000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Rounded Rectangle 22"/>
          <p:cNvSpPr/>
          <p:nvPr/>
        </p:nvSpPr>
        <p:spPr>
          <a:xfrm>
            <a:off x="6400639" y="5162550"/>
            <a:ext cx="5181470" cy="1771650"/>
          </a:xfrm>
          <a:prstGeom prst="roundRect">
            <a:avLst>
              <a:gd name="adj" fmla="val 8602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1135" y="5425705"/>
            <a:ext cx="247643" cy="17853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53076" y="5321624"/>
            <a:ext cx="2869825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Kolmogorov-Smirnov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53076" y="5787540"/>
            <a:ext cx="4438539" cy="94077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Evaluates uniformity of P-value distributions to determine probability of observing them in random sampling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92440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Key Test Suites - NIST SP 800-22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1182342"/>
            <a:ext cx="266693" cy="22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476" y="1090683"/>
            <a:ext cx="1021370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476" y="1588358"/>
            <a:ext cx="4914777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Extend Diehard's methodology • Focus on </a:t>
            </a:r>
            <a:r>
              <a:rPr b="0">
                <a:solidFill>
                  <a:srgbClr val="00D4FF"/>
                </a:solidFill>
                <a:latin typeface="Inter"/>
              </a:rPr>
              <a:t>bit-level randomness</a:t>
            </a:r>
            <a:r>
              <a:rPr b="0">
                <a:solidFill>
                  <a:srgbClr val="B0B8D4"/>
                </a:solidFill>
                <a:latin typeface="Inter"/>
              </a:rPr>
              <a:t> for cryptographic applications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2467389"/>
            <a:ext cx="266693" cy="2087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476" y="2367032"/>
            <a:ext cx="989886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15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840786"/>
            <a:ext cx="2062231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Frequency (Monobit)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6062" y="2840786"/>
            <a:ext cx="108100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Runs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3202737"/>
            <a:ext cx="1876476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Binary Matrix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6062" y="3202737"/>
            <a:ext cx="1504771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DFT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3564687"/>
            <a:ext cx="190988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Universal Statistical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062" y="3564687"/>
            <a:ext cx="1787733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Linear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926636"/>
            <a:ext cx="113390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Serial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062" y="3926636"/>
            <a:ext cx="206640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Approximate Entropy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476" y="4288586"/>
            <a:ext cx="1727589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Cumulative Sums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6062" y="4288586"/>
            <a:ext cx="191090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0B8D4"/>
                </a:solidFill>
                <a:latin typeface="Inter"/>
              </a:rPr>
              <a:t>• Random Excursions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4878042"/>
            <a:ext cx="266693" cy="2261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476" y="4776858"/>
            <a:ext cx="1952714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Design Principles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476" y="5368738"/>
            <a:ext cx="190495" cy="140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19169" y="5255136"/>
            <a:ext cx="3758786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00D4FF"/>
                </a:solidFill>
                <a:latin typeface="Inter"/>
              </a:rPr>
              <a:t>Unpredictability</a:t>
            </a:r>
            <a:r>
              <a:rPr b="0">
                <a:solidFill>
                  <a:srgbClr val="B0B8D4"/>
                </a:solidFill>
                <a:latin typeface="Inter"/>
              </a:rPr>
              <a:t> — Essential for crypto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476" y="574021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9169" y="5626611"/>
            <a:ext cx="4048288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00D4FF"/>
                </a:solidFill>
                <a:latin typeface="Inter"/>
              </a:rPr>
              <a:t>Scalability</a:t>
            </a:r>
            <a:r>
              <a:rPr b="0">
                <a:solidFill>
                  <a:srgbClr val="B0B8D4"/>
                </a:solidFill>
                <a:latin typeface="Inter"/>
              </a:rPr>
              <a:t> — Tests apply to subsequences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476" y="6121213"/>
            <a:ext cx="190495" cy="1400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19169" y="6007610"/>
            <a:ext cx="2766270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00D4FF"/>
                </a:solidFill>
                <a:latin typeface="Inter"/>
              </a:rPr>
              <a:t>Consistency</a:t>
            </a:r>
            <a:r>
              <a:rPr b="0">
                <a:solidFill>
                  <a:srgbClr val="B0B8D4"/>
                </a:solidFill>
                <a:latin typeface="Inter"/>
              </a:rPr>
              <a:t> — Across seeds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4441" y="1476375"/>
            <a:ext cx="5257668" cy="3028950"/>
          </a:xfrm>
          <a:prstGeom prst="roundRect">
            <a:avLst>
              <a:gd name="adj" fmla="val 5031"/>
            </a:avLst>
          </a:prstGeom>
          <a:solidFill>
            <a:srgbClr val="EF4444">
              <a:alpha val="10000"/>
            </a:srgbClr>
          </a:solidFill>
          <a:ln w="1651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2085" y="1810078"/>
            <a:ext cx="342891" cy="26604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29274" y="1702856"/>
            <a:ext cx="1980542" cy="4709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Current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085" y="2281307"/>
            <a:ext cx="4026615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040"/>
              </a:spcAft>
            </a:pPr>
            <a:r>
              <a:rPr sz="2000" b="1">
                <a:solidFill>
                  <a:srgbClr val="EF4444"/>
                </a:solidFill>
                <a:latin typeface="Inter"/>
              </a:rPr>
              <a:t>"Clearly Obsolete, Possibly Harmful"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2085" y="2903837"/>
            <a:ext cx="209544" cy="13592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7828" y="2797686"/>
            <a:ext cx="4032835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No longer used by NIST's DRBG validation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2085" y="3322937"/>
            <a:ext cx="209544" cy="1359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57828" y="3236181"/>
            <a:ext cx="4476638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Weak PRNGs can pass, creating </a:t>
            </a:r>
            <a:r>
              <a:rPr b="0">
                <a:solidFill>
                  <a:srgbClr val="EF4444"/>
                </a:solidFill>
                <a:latin typeface="Inter"/>
              </a:rPr>
              <a:t>false confidence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2085" y="4037312"/>
            <a:ext cx="209544" cy="1359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7828" y="3931160"/>
            <a:ext cx="4232762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Purely statistical, not cryptographic security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4441" y="4695824"/>
            <a:ext cx="5257668" cy="1485900"/>
          </a:xfrm>
          <a:prstGeom prst="roundRect">
            <a:avLst>
              <a:gd name="adj" fmla="val 10256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4937" y="4951227"/>
            <a:ext cx="247643" cy="21309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38779" y="4854900"/>
            <a:ext cx="1512915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pace Grotesk"/>
              </a:rPr>
              <a:t>Key Criticism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4937" y="5334656"/>
            <a:ext cx="4876678" cy="66543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FIPS 140-3 requires more robust SP 800-90A and SP 800-90B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55283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Key Test Suites - Diehard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330" y="1216582"/>
            <a:ext cx="342891" cy="3074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3519" y="1116125"/>
            <a:ext cx="1567737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Strengths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519" y="1844641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6410" y="1789396"/>
            <a:ext cx="4381390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8D4"/>
                </a:solidFill>
                <a:latin typeface="Inter"/>
              </a:rPr>
              <a:t> Strong reputation for testing </a:t>
            </a:r>
            <a:r>
              <a:rPr sz="2000" b="0">
                <a:solidFill>
                  <a:srgbClr val="22C55E"/>
                </a:solidFill>
                <a:latin typeface="Inter"/>
              </a:rPr>
              <a:t>subtle non-randomness</a:t>
            </a:r>
            <a:r>
              <a:rPr sz="2000"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519" y="2739991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6410" y="2684745"/>
            <a:ext cx="4381390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8D4"/>
                </a:solidFill>
                <a:latin typeface="Inter"/>
              </a:rPr>
              <a:t> From </a:t>
            </a:r>
            <a:r>
              <a:rPr sz="2000" b="0">
                <a:solidFill>
                  <a:srgbClr val="22C55E"/>
                </a:solidFill>
                <a:latin typeface="Inter"/>
              </a:rPr>
              <a:t>bit-sequence</a:t>
            </a:r>
            <a:r>
              <a:rPr sz="2000" b="0">
                <a:solidFill>
                  <a:srgbClr val="B0B8D4"/>
                </a:solidFill>
                <a:latin typeface="Inter"/>
              </a:rPr>
              <a:t> to uniform deviate distributions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519" y="3635341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6410" y="3556354"/>
            <a:ext cx="3574312" cy="41896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0B8D4"/>
                </a:solidFill>
                <a:latin typeface="Inter"/>
              </a:rPr>
              <a:t> Developed by </a:t>
            </a:r>
            <a:r>
              <a:rPr sz="2000" b="0">
                <a:solidFill>
                  <a:srgbClr val="22C55E"/>
                </a:solidFill>
                <a:latin typeface="Inter"/>
              </a:rPr>
              <a:t>George Marsaglia</a:t>
            </a:r>
            <a:r>
              <a:rPr sz="2000"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7385" y="1355187"/>
            <a:ext cx="342891" cy="27786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4574" y="1239949"/>
            <a:ext cx="5863336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pace Grotesk"/>
              </a:rPr>
              <a:t>Weaknesses (Addressed by Dieharder)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4574" y="2216733"/>
            <a:ext cx="209544" cy="1359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18416" y="2116853"/>
            <a:ext cx="3781292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Limited tests for </a:t>
            </a:r>
            <a:r>
              <a:rPr b="0">
                <a:solidFill>
                  <a:srgbClr val="EF4444"/>
                </a:solidFill>
                <a:latin typeface="Inter"/>
              </a:rPr>
              <a:t>bit-level randomness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4574" y="2664408"/>
            <a:ext cx="209544" cy="1359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18416" y="2564529"/>
            <a:ext cx="2956450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Lack of </a:t>
            </a:r>
            <a:r>
              <a:rPr b="0">
                <a:solidFill>
                  <a:srgbClr val="EF4444"/>
                </a:solidFill>
                <a:latin typeface="Inter"/>
              </a:rPr>
              <a:t>parametric variability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4574" y="3102558"/>
            <a:ext cx="209544" cy="1359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18416" y="3002678"/>
            <a:ext cx="3682162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Many tests lacked </a:t>
            </a:r>
            <a:r>
              <a:rPr b="0">
                <a:solidFill>
                  <a:srgbClr val="EF4444"/>
                </a:solidFill>
                <a:latin typeface="Inter"/>
              </a:rPr>
              <a:t>concluding KS test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4574" y="3540708"/>
            <a:ext cx="209544" cy="1359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18416" y="3461690"/>
            <a:ext cx="4400439" cy="66543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</a:t>
            </a:r>
            <a:r>
              <a:rPr b="0">
                <a:solidFill>
                  <a:srgbClr val="EF4444"/>
                </a:solidFill>
                <a:latin typeface="Inter"/>
              </a:rPr>
              <a:t>Partially overlapping</a:t>
            </a:r>
            <a:r>
              <a:rPr b="0">
                <a:solidFill>
                  <a:srgbClr val="B0B8D4"/>
                </a:solidFill>
                <a:latin typeface="Inter"/>
              </a:rPr>
              <a:t> sequences (not truly independent)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4574" y="4321758"/>
            <a:ext cx="209544" cy="1359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18416" y="4221878"/>
            <a:ext cx="2177134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 </a:t>
            </a:r>
            <a:r>
              <a:rPr b="0">
                <a:solidFill>
                  <a:srgbClr val="EF4444"/>
                </a:solidFill>
                <a:latin typeface="Inter"/>
              </a:rPr>
              <a:t>Ambiguous licensing</a:t>
            </a:r>
            <a:r>
              <a:rPr b="0">
                <a:solidFill>
                  <a:srgbClr val="B0B8D4"/>
                </a:solidFill>
                <a:latin typeface="Inter"/>
              </a:rPr>
              <a:t> 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BF5A96D-B4F3-7644-474E-31CB444C2B0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1227" y="4727782"/>
            <a:ext cx="7772400" cy="20864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D15050F9-3A6C-A854-7391-47A14CE1BCC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817" y="4432157"/>
            <a:ext cx="7772400" cy="219913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492430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Key Test Suites - Dieharder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1558436"/>
            <a:ext cx="304792" cy="254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1457402"/>
            <a:ext cx="1568635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Motivation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2104767"/>
            <a:ext cx="209544" cy="1529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4417" y="2013382"/>
            <a:ext cx="3105081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Address weaknesses of Diehard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2552442"/>
            <a:ext cx="209544" cy="1529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14417" y="2461058"/>
            <a:ext cx="3064429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Extend RNG testing capabilities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2990592"/>
            <a:ext cx="209544" cy="1529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920069"/>
            <a:ext cx="3381290" cy="66543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Provide comprehensive test framework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4380" y="330955"/>
            <a:ext cx="266693" cy="22611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5292" y="494836"/>
            <a:ext cx="285742" cy="244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05332" y="388778"/>
            <a:ext cx="3994042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Key Features &amp; Improvements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5292" y="1174384"/>
            <a:ext cx="209544" cy="1812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591035" y="1089236"/>
            <a:ext cx="1968296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KS Test for All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1035" y="1438788"/>
            <a:ext cx="235218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Single P-value from KS test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3236" y="1174384"/>
            <a:ext cx="209544" cy="1812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38979" y="1089236"/>
            <a:ext cx="2309415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Adjustable 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8979" y="1438788"/>
            <a:ext cx="204434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Parametric exploration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5292" y="1926859"/>
            <a:ext cx="209544" cy="1812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91035" y="1841712"/>
            <a:ext cx="184826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Visual Histograms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1035" y="2191263"/>
            <a:ext cx="1844929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P-value distributions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3236" y="1926859"/>
            <a:ext cx="209544" cy="1812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838979" y="1841712"/>
            <a:ext cx="191328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Modular Structure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8979" y="2191263"/>
            <a:ext cx="255788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Easy to create/maintain tests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5292" y="2679334"/>
            <a:ext cx="209544" cy="1812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91035" y="2594186"/>
            <a:ext cx="1628459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Rewritten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1035" y="2943738"/>
            <a:ext cx="2192523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Well-commented C code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3236" y="2679334"/>
            <a:ext cx="209544" cy="1812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838979" y="2594186"/>
            <a:ext cx="1610377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GSL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8979" y="2943738"/>
            <a:ext cx="1904304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Gnu Scientific Library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5292" y="3431809"/>
            <a:ext cx="209544" cy="18123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591035" y="3346662"/>
            <a:ext cx="229569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Long Sequence 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91035" y="3696213"/>
            <a:ext cx="1772473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Up to 10¹⁸ numbers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3236" y="3431809"/>
            <a:ext cx="209544" cy="1812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838979" y="3346662"/>
            <a:ext cx="1310295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Extensibility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8979" y="3696213"/>
            <a:ext cx="225177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Incorporate all test suites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91035" y="4099137"/>
            <a:ext cx="160967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Timing Harness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91035" y="4448687"/>
            <a:ext cx="1850635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Measure RNG speed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6850572-6916-8910-9426-2EEB88DE70E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08189" y="4403041"/>
            <a:ext cx="2902294" cy="2199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53388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Examples of RNG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3505112" cy="5143500"/>
          </a:xfrm>
          <a:prstGeom prst="roundRect">
            <a:avLst>
              <a:gd name="adj" fmla="val 4347"/>
            </a:avLst>
          </a:prstGeom>
          <a:solidFill>
            <a:srgbClr val="22C55E">
              <a:alpha val="10000"/>
            </a:srgbClr>
          </a:solidFill>
          <a:ln w="1651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857228" y="1336504"/>
            <a:ext cx="1474891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2C55E"/>
                </a:solidFill>
                <a:latin typeface="Space Grotesk"/>
              </a:rPr>
              <a:t>mt19937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6062" y="1428452"/>
            <a:ext cx="380990" cy="3244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7228" y="1971675"/>
            <a:ext cx="1771605" cy="361950"/>
          </a:xfrm>
          <a:prstGeom prst="roundRect">
            <a:avLst>
              <a:gd name="adj" fmla="val 52626315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1009624" y="1974011"/>
            <a:ext cx="1525931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C55E"/>
                </a:solidFill>
                <a:latin typeface="Inter"/>
              </a:rPr>
              <a:t>Good Generator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28" y="2588838"/>
            <a:ext cx="190495" cy="137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3921" y="2488362"/>
            <a:ext cx="487634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3921" y="2810908"/>
            <a:ext cx="1407052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28×10⁷ rands/sec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28" y="32715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23921" y="3183686"/>
            <a:ext cx="1390637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Bit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21" y="3506234"/>
            <a:ext cx="1901803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PASSED • No bits repeat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28" y="3986492"/>
            <a:ext cx="190495" cy="123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3921" y="3879012"/>
            <a:ext cx="144546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Bit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21" y="4201558"/>
            <a:ext cx="1820819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5-bit random, not 6-bit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228" y="466781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574336"/>
            <a:ext cx="128734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Diehard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896884"/>
            <a:ext cx="2233625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Most passed, some marginal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291" y="1114425"/>
            <a:ext cx="3505112" cy="5143500"/>
          </a:xfrm>
          <a:prstGeom prst="roundRect">
            <a:avLst>
              <a:gd name="adj" fmla="val 4347"/>
            </a:avLst>
          </a:prstGeom>
          <a:solidFill>
            <a:srgbClr val="EF4444">
              <a:alpha val="10000"/>
            </a:srgbClr>
          </a:solidFill>
          <a:ln w="1651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TextBox 21"/>
          <p:cNvSpPr txBox="1"/>
          <p:nvPr/>
        </p:nvSpPr>
        <p:spPr>
          <a:xfrm>
            <a:off x="4590935" y="1336504"/>
            <a:ext cx="1023101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EF4444"/>
                </a:solidFill>
                <a:latin typeface="Space Grotesk"/>
              </a:rPr>
              <a:t>randu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9769" y="1428452"/>
            <a:ext cx="380990" cy="32444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590935" y="1971675"/>
            <a:ext cx="1628734" cy="361950"/>
          </a:xfrm>
          <a:prstGeom prst="roundRect">
            <a:avLst>
              <a:gd name="adj" fmla="val 52626315"/>
            </a:avLst>
          </a:prstGeom>
          <a:solidFill>
            <a:srgbClr val="EF444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4743331" y="1974011"/>
            <a:ext cx="1389676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F4444"/>
                </a:solidFill>
                <a:latin typeface="Inter"/>
              </a:rPr>
              <a:t>Bad Generator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935" y="2588838"/>
            <a:ext cx="190495" cy="1372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57628" y="2488362"/>
            <a:ext cx="487634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Fast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7628" y="2810908"/>
            <a:ext cx="1407052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39×10⁷ rands/sec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935" y="327155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57628" y="3183686"/>
            <a:ext cx="1390637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Bit 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7628" y="3506234"/>
            <a:ext cx="2289601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FAILED • 2 LSBs never change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935" y="3986492"/>
            <a:ext cx="190495" cy="1232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57628" y="3879012"/>
            <a:ext cx="144546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Bit Distribution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57628" y="4201558"/>
            <a:ext cx="1806970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Not even 1-bit random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935" y="4665008"/>
            <a:ext cx="190495" cy="15688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57628" y="4574336"/>
            <a:ext cx="757067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57628" y="4896884"/>
            <a:ext cx="1771511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Cascading test failures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76998" y="1114425"/>
            <a:ext cx="3505112" cy="5143500"/>
          </a:xfrm>
          <a:prstGeom prst="roundRect">
            <a:avLst>
              <a:gd name="adj" fmla="val 4347"/>
            </a:avLst>
          </a:prstGeom>
          <a:solidFill>
            <a:srgbClr val="A855F7">
              <a:alpha val="10000"/>
            </a:srgbClr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8324641" y="1336504"/>
            <a:ext cx="1005660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A855F7"/>
                </a:solidFill>
                <a:latin typeface="Space Grotesk"/>
              </a:rPr>
              <a:t>slatec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3476" y="1429940"/>
            <a:ext cx="380990" cy="32146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324641" y="1971675"/>
            <a:ext cx="1704932" cy="361950"/>
          </a:xfrm>
          <a:prstGeom prst="roundRect">
            <a:avLst>
              <a:gd name="adj" fmla="val 52626315"/>
            </a:avLst>
          </a:prstGeom>
          <a:solidFill>
            <a:srgbClr val="A855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TextBox 41"/>
          <p:cNvSpPr txBox="1"/>
          <p:nvPr/>
        </p:nvSpPr>
        <p:spPr>
          <a:xfrm>
            <a:off x="8477038" y="1974011"/>
            <a:ext cx="1442574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855F7"/>
                </a:solidFill>
                <a:latin typeface="Inter"/>
              </a:rPr>
              <a:t>Ugly Generator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4641" y="2588838"/>
            <a:ext cx="190495" cy="13727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591335" y="2488362"/>
            <a:ext cx="671915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Speed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1335" y="2810908"/>
            <a:ext cx="1538947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Similar to mt19937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4641" y="3277160"/>
            <a:ext cx="190495" cy="15127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591335" y="3183686"/>
            <a:ext cx="95321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Bit Depth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1335" y="3506234"/>
            <a:ext cx="1700915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Only 22 bits returned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4641" y="3986492"/>
            <a:ext cx="190495" cy="12326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591335" y="3879012"/>
            <a:ext cx="123937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Randomness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1335" y="4201558"/>
            <a:ext cx="1853456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Fails even 1-bit random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4641" y="4667810"/>
            <a:ext cx="190495" cy="15127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591335" y="4574336"/>
            <a:ext cx="100335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</a:rPr>
              <a:t>Suitability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1335" y="4896884"/>
            <a:ext cx="2124556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260"/>
              </a:spcBef>
              <a:spcAft>
                <a:spcPts val="0"/>
              </a:spcAft>
            </a:pPr>
            <a:r>
              <a:rPr sz="1400" b="0">
                <a:solidFill>
                  <a:srgbClr val="8A92A8"/>
                </a:solidFill>
                <a:latin typeface="Inter"/>
              </a:rPr>
              <a:t>Unsuitable for any purpose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597202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Modern Perspectives &amp; Critiques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1286607"/>
            <a:ext cx="304792" cy="246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674" y="1169457"/>
            <a:ext cx="6838347" cy="47096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Critiques of Traditional Black-Box Testing (SP 800-22)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847849"/>
            <a:ext cx="5371965" cy="1390650"/>
          </a:xfrm>
          <a:prstGeom prst="roundRect">
            <a:avLst>
              <a:gd name="adj" fmla="val 10958"/>
            </a:avLst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9701" y="2477134"/>
            <a:ext cx="1390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79" y="2102167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070" y="2013382"/>
            <a:ext cx="2199961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52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Outdated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070" y="2426558"/>
            <a:ext cx="460998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Predates modern cryptography and information theory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3390899"/>
            <a:ext cx="5371965" cy="1390650"/>
          </a:xfrm>
          <a:prstGeom prst="roundRect">
            <a:avLst>
              <a:gd name="adj" fmla="val 10958"/>
            </a:avLst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19701" y="4020184"/>
            <a:ext cx="1390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79" y="3662362"/>
            <a:ext cx="228594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1070" y="3556433"/>
            <a:ext cx="1451744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52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Limited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070" y="3969607"/>
            <a:ext cx="460998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Focuses on statistical properties, not cryptographic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924424"/>
            <a:ext cx="5371965" cy="1390650"/>
          </a:xfrm>
          <a:prstGeom prst="roundRect">
            <a:avLst>
              <a:gd name="adj" fmla="val 10958"/>
            </a:avLst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19701" y="5553709"/>
            <a:ext cx="1390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79" y="5164455"/>
            <a:ext cx="228594" cy="2057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1070" y="5089958"/>
            <a:ext cx="2495620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52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Missing Security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070" y="5512657"/>
            <a:ext cx="460998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Fails to consider computational hardness of breaking generators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0144" y="1847849"/>
            <a:ext cx="5371965" cy="1390650"/>
          </a:xfrm>
          <a:prstGeom prst="roundRect">
            <a:avLst>
              <a:gd name="adj" fmla="val 10958"/>
            </a:avLst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580859" y="2477134"/>
            <a:ext cx="1390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8739" y="2102167"/>
            <a:ext cx="228594" cy="1771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81630" y="2013382"/>
            <a:ext cx="1748043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52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False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630" y="2426558"/>
            <a:ext cx="460998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Weak generators can pass, creating </a:t>
            </a:r>
            <a:r>
              <a:rPr b="0">
                <a:solidFill>
                  <a:srgbClr val="EF4444"/>
                </a:solidFill>
                <a:latin typeface="Inter"/>
              </a:rPr>
              <a:t>false confidence</a:t>
            </a:r>
            <a:r>
              <a:rPr b="0">
                <a:solidFill>
                  <a:srgbClr val="B0B8D4"/>
                </a:solidFill>
                <a:latin typeface="Inter"/>
              </a:rPr>
              <a:t> in insecure systems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0144" y="3390899"/>
            <a:ext cx="5371965" cy="1390650"/>
          </a:xfrm>
          <a:prstGeom prst="roundRect">
            <a:avLst>
              <a:gd name="adj" fmla="val 10958"/>
            </a:avLst>
          </a:prstGeom>
          <a:solidFill>
            <a:srgbClr val="EF444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80859" y="4020184"/>
            <a:ext cx="13906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8739" y="3625215"/>
            <a:ext cx="228594" cy="2171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81630" y="3556433"/>
            <a:ext cx="2048125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52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Incomplete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1630" y="3969607"/>
            <a:ext cx="4609984" cy="62376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B0B8D4"/>
                </a:solidFill>
                <a:latin typeface="Inter"/>
              </a:rPr>
              <a:t>Inadequate addressing of physical/interface security and backdoors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0144" y="4924424"/>
            <a:ext cx="5371965" cy="1181099"/>
          </a:xfrm>
          <a:prstGeom prst="roundRect">
            <a:avLst>
              <a:gd name="adj" fmla="val 12903"/>
            </a:avLst>
          </a:prstGeom>
          <a:solidFill>
            <a:srgbClr val="00D4FF">
              <a:alpha val="10000"/>
            </a:srgbClr>
          </a:solidFill>
          <a:ln w="1651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7788" y="5401917"/>
            <a:ext cx="266693" cy="22611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38779" y="5164623"/>
            <a:ext cx="4495687" cy="70070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D4FF"/>
                </a:solidFill>
                <a:latin typeface="Inter"/>
              </a:rPr>
              <a:t>Modern Requirements Go Beyond Statistical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4300"/>
            <a:ext cx="1019149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Modern Security Requirements for Cryptographic RNGs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1189796"/>
            <a:ext cx="266693" cy="249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575" y="1085927"/>
            <a:ext cx="3003836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Evaluation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666874"/>
            <a:ext cx="5371965" cy="942975"/>
          </a:xfrm>
          <a:prstGeom prst="roundRect">
            <a:avLst>
              <a:gd name="adj" fmla="val 16161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1880029"/>
            <a:ext cx="209544" cy="1642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7723" y="1786386"/>
            <a:ext cx="367312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Pseudorandom Generator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23" y="2135937"/>
            <a:ext cx="400019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Mathematical proofs linking DRBG to AES/SHA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2724150"/>
            <a:ext cx="5371965" cy="942975"/>
          </a:xfrm>
          <a:prstGeom prst="roundRect">
            <a:avLst>
              <a:gd name="adj" fmla="val 16161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2937304"/>
            <a:ext cx="209544" cy="1642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7723" y="2843660"/>
            <a:ext cx="2708818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Implementation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23" y="3193212"/>
            <a:ext cx="4192110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Known Answer Tests (KATs) with formal methods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781424"/>
            <a:ext cx="5371965" cy="942975"/>
          </a:xfrm>
          <a:prstGeom prst="roundRect">
            <a:avLst>
              <a:gd name="adj" fmla="val 16161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4000242"/>
            <a:ext cx="209544" cy="1529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47723" y="3900935"/>
            <a:ext cx="2646750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Entropy Source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23" y="4250487"/>
            <a:ext cx="3609321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Stochastic modeling for expected entropy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4838699"/>
            <a:ext cx="5371965" cy="942975"/>
          </a:xfrm>
          <a:prstGeom prst="roundRect">
            <a:avLst>
              <a:gd name="adj" fmla="val 16161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5034863"/>
            <a:ext cx="209544" cy="19822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7723" y="4958211"/>
            <a:ext cx="2685672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Physical/Interface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723" y="5307762"/>
            <a:ext cx="4321504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26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Robust protection from monitoring &amp; interference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0144" y="1189796"/>
            <a:ext cx="266693" cy="24930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91135" y="1085927"/>
            <a:ext cx="2836995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Resistance to Attacks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4" y="1666874"/>
            <a:ext cx="2628834" cy="1866899"/>
          </a:xfrm>
          <a:prstGeom prst="roundRect">
            <a:avLst>
              <a:gd name="adj" fmla="val 8163"/>
            </a:avLst>
          </a:prstGeom>
          <a:solidFill>
            <a:srgbClr val="A855F7">
              <a:alpha val="10000"/>
            </a:srgbClr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2165" y="1896940"/>
            <a:ext cx="304792" cy="18756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81590" y="2208945"/>
            <a:ext cx="2285942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Computational Indistinguishability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6" y="1666874"/>
            <a:ext cx="2628834" cy="1866899"/>
          </a:xfrm>
          <a:prstGeom prst="roundRect">
            <a:avLst>
              <a:gd name="adj" fmla="val 8163"/>
            </a:avLst>
          </a:prstGeom>
          <a:solidFill>
            <a:srgbClr val="A855F7">
              <a:alpha val="10000"/>
            </a:srgbClr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5297" y="1872028"/>
            <a:ext cx="304792" cy="2373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24721" y="2208945"/>
            <a:ext cx="2285942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Forward/Backward Secrecy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0144" y="3648074"/>
            <a:ext cx="2628834" cy="1866899"/>
          </a:xfrm>
          <a:prstGeom prst="roundRect">
            <a:avLst>
              <a:gd name="adj" fmla="val 8163"/>
            </a:avLst>
          </a:prstGeom>
          <a:solidFill>
            <a:srgbClr val="A855F7">
              <a:alpha val="10000"/>
            </a:srgbClr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2165" y="3835644"/>
            <a:ext cx="304792" cy="27256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81590" y="4190145"/>
            <a:ext cx="2285942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No Backdoors/Trapdoors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53276" y="3648074"/>
            <a:ext cx="2628834" cy="1866899"/>
          </a:xfrm>
          <a:prstGeom prst="roundRect">
            <a:avLst>
              <a:gd name="adj" fmla="val 8163"/>
            </a:avLst>
          </a:prstGeom>
          <a:solidFill>
            <a:srgbClr val="A855F7">
              <a:alpha val="10000"/>
            </a:srgbClr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5297" y="3863486"/>
            <a:ext cx="304792" cy="21687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210737" y="4167636"/>
            <a:ext cx="2113912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Inter"/>
              </a:rPr>
              <a:t>Quantum Resistance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0144" y="5667374"/>
            <a:ext cx="5371965" cy="590549"/>
          </a:xfrm>
          <a:prstGeom prst="roundRect">
            <a:avLst>
              <a:gd name="adj" fmla="val 25806"/>
            </a:avLst>
          </a:prstGeom>
          <a:solidFill>
            <a:srgbClr val="00D4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2540" y="5854065"/>
            <a:ext cx="228594" cy="21717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67333" y="5784012"/>
            <a:ext cx="4013663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D4FF"/>
                </a:solidFill>
                <a:latin typeface="Inter"/>
              </a:rPr>
              <a:t>Modern Standards: SP 800-90 Series &amp; AIS-31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1119" y="5879782"/>
            <a:ext cx="228594" cy="1657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0"/>
            <a:ext cx="619109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pace Grotesk"/>
              </a:rPr>
              <a:t>Testing Frameworks and Datasets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584" y="940316"/>
            <a:ext cx="247643" cy="195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26" y="809702"/>
            <a:ext cx="3058145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Space Grotesk"/>
              </a:rPr>
              <a:t>Testing Tools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584" y="1390650"/>
            <a:ext cx="5371965" cy="1009649"/>
          </a:xfrm>
          <a:prstGeom prst="roundRect">
            <a:avLst>
              <a:gd name="adj" fmla="val 15094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1625917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773" y="1511625"/>
            <a:ext cx="1213794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Dieharder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773" y="1926386"/>
            <a:ext cx="4079258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Extended methodology • KS test on all P-values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2514600"/>
            <a:ext cx="5371965" cy="2343150"/>
          </a:xfrm>
          <a:prstGeom prst="roundRect">
            <a:avLst>
              <a:gd name="adj" fmla="val 6504"/>
            </a:avLst>
          </a:prstGeom>
          <a:solidFill>
            <a:srgbClr val="A855F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2755582"/>
            <a:ext cx="228594" cy="165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6773" y="2635575"/>
            <a:ext cx="2354427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ent (Entropy Testing)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3335286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76318" y="3103071"/>
            <a:ext cx="2133546" cy="61375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Entropy: 7.999994 bits/byte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6062" y="3335286"/>
            <a:ext cx="171445" cy="1493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95607" y="3231312"/>
            <a:ext cx="1584536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Compression: 0%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3982986"/>
            <a:ext cx="171445" cy="1493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76318" y="3879012"/>
            <a:ext cx="2133546" cy="35727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Chi-square: p ≈ 92.73%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6062" y="3982986"/>
            <a:ext cx="171445" cy="14932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95607" y="3879012"/>
            <a:ext cx="1771575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Mean: 127.5 (ideal)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773" y="4487811"/>
            <a:ext cx="171445" cy="1493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76318" y="4383837"/>
            <a:ext cx="2116092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π estimate: error 0.04%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6062" y="4487811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95607" y="4383837"/>
            <a:ext cx="2017027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Correlation: 0.0 (ideal)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584" y="4972050"/>
            <a:ext cx="5371965" cy="933449"/>
          </a:xfrm>
          <a:prstGeom prst="roundRect">
            <a:avLst>
              <a:gd name="adj" fmla="val 16326"/>
            </a:avLst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980" y="5355907"/>
            <a:ext cx="228594" cy="1657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66773" y="5093024"/>
            <a:ext cx="1876476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"/>
              </a:rPr>
              <a:t>NIST SP 800-90B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773" y="5431586"/>
            <a:ext cx="2867645" cy="35727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A8"/>
                </a:solidFill>
                <a:latin typeface="Inter"/>
              </a:rPr>
              <a:t>Entropy source assessment tools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0144" y="86676"/>
            <a:ext cx="247643" cy="2246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33986" y="-4488"/>
            <a:ext cx="4050468" cy="45704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Space Grotesk"/>
              </a:rPr>
              <a:t>Sample Test Results (</a:t>
            </a:r>
            <a:r>
              <a:rPr sz="2400" b="1" dirty="0" err="1">
                <a:solidFill>
                  <a:srgbClr val="FFFFFF"/>
                </a:solidFill>
                <a:latin typeface="Space Grotesk"/>
              </a:rPr>
              <a:t>mt19937</a:t>
            </a:r>
            <a:r>
              <a:rPr sz="2400" b="1" dirty="0">
                <a:solidFill>
                  <a:srgbClr val="FFFFFF"/>
                </a:solidFill>
                <a:latin typeface="Space Grotesk"/>
              </a:rPr>
              <a:t>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0144" y="1352549"/>
            <a:ext cx="5371965" cy="6638924"/>
          </a:xfrm>
          <a:prstGeom prst="roundRect">
            <a:avLst>
              <a:gd name="adj" fmla="val 2836"/>
            </a:avLst>
          </a:prstGeom>
          <a:solidFill>
            <a:srgbClr val="22C55E">
              <a:alpha val="6000"/>
            </a:srgbClr>
          </a:solidFill>
          <a:ln w="1651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Rounded Rectangle 31"/>
          <p:cNvSpPr/>
          <p:nvPr/>
        </p:nvSpPr>
        <p:spPr>
          <a:xfrm>
            <a:off x="6381590" y="534445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7193090" y="573580"/>
            <a:ext cx="853439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Birthdays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7132" y="83115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34226" y="534445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" name="TextBox 35"/>
          <p:cNvSpPr txBox="1"/>
          <p:nvPr/>
        </p:nvSpPr>
        <p:spPr>
          <a:xfrm>
            <a:off x="9727322" y="573580"/>
            <a:ext cx="890245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Op Perm5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9768" y="83115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1590" y="1248821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9" name="TextBox 38"/>
          <p:cNvSpPr txBox="1"/>
          <p:nvPr/>
        </p:nvSpPr>
        <p:spPr>
          <a:xfrm>
            <a:off x="7116337" y="1287955"/>
            <a:ext cx="1006943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Rank 32x32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7132" y="154552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34226" y="1248821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2" name="TextBox 41"/>
          <p:cNvSpPr txBox="1"/>
          <p:nvPr/>
        </p:nvSpPr>
        <p:spPr>
          <a:xfrm>
            <a:off x="9760344" y="1287955"/>
            <a:ext cx="824201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Rank 6x8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9768" y="154552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590" y="1963196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5" name="TextBox 44"/>
          <p:cNvSpPr txBox="1"/>
          <p:nvPr/>
        </p:nvSpPr>
        <p:spPr>
          <a:xfrm>
            <a:off x="7182445" y="2002330"/>
            <a:ext cx="874728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Bitstream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27132" y="225990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34226" y="1963196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48" name="TextBox 47"/>
          <p:cNvSpPr txBox="1"/>
          <p:nvPr/>
        </p:nvSpPr>
        <p:spPr>
          <a:xfrm>
            <a:off x="9886180" y="2002330"/>
            <a:ext cx="572529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OPSO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9768" y="225990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81590" y="2677570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1" name="TextBox 50"/>
          <p:cNvSpPr txBox="1"/>
          <p:nvPr/>
        </p:nvSpPr>
        <p:spPr>
          <a:xfrm>
            <a:off x="7319918" y="2716705"/>
            <a:ext cx="599781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OQSO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27132" y="297427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34226" y="2677570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4" name="TextBox 53"/>
          <p:cNvSpPr txBox="1"/>
          <p:nvPr/>
        </p:nvSpPr>
        <p:spPr>
          <a:xfrm>
            <a:off x="9927859" y="2716705"/>
            <a:ext cx="489173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DNA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9768" y="297427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81590" y="3391945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7" name="TextBox 56"/>
          <p:cNvSpPr txBox="1"/>
          <p:nvPr/>
        </p:nvSpPr>
        <p:spPr>
          <a:xfrm>
            <a:off x="7222168" y="3431080"/>
            <a:ext cx="795282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Count 1s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27132" y="368865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34226" y="3391945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0" name="TextBox 59"/>
          <p:cNvSpPr txBox="1"/>
          <p:nvPr/>
        </p:nvSpPr>
        <p:spPr>
          <a:xfrm>
            <a:off x="9682759" y="3431080"/>
            <a:ext cx="979372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Parking Lot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9768" y="368865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81590" y="4106320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3" name="TextBox 62"/>
          <p:cNvSpPr txBox="1"/>
          <p:nvPr/>
        </p:nvSpPr>
        <p:spPr>
          <a:xfrm>
            <a:off x="7022755" y="4145455"/>
            <a:ext cx="1194109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2D/3D Sphere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27132" y="440302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34226" y="4106320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6" name="TextBox 65"/>
          <p:cNvSpPr txBox="1"/>
          <p:nvPr/>
        </p:nvSpPr>
        <p:spPr>
          <a:xfrm>
            <a:off x="9791731" y="4145455"/>
            <a:ext cx="761427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Squeeze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9768" y="440302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81590" y="4820695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9" name="TextBox 68"/>
          <p:cNvSpPr txBox="1"/>
          <p:nvPr/>
        </p:nvSpPr>
        <p:spPr>
          <a:xfrm>
            <a:off x="7346368" y="4859830"/>
            <a:ext cx="546881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Sums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27132" y="511740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934226" y="4820695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2" name="TextBox 71"/>
          <p:cNvSpPr txBox="1"/>
          <p:nvPr/>
        </p:nvSpPr>
        <p:spPr>
          <a:xfrm>
            <a:off x="9915836" y="4859830"/>
            <a:ext cx="513218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Runs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79768" y="5117401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81590" y="5535070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22C55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5" name="TextBox 74"/>
          <p:cNvSpPr txBox="1"/>
          <p:nvPr/>
        </p:nvSpPr>
        <p:spPr>
          <a:xfrm>
            <a:off x="7384840" y="5574205"/>
            <a:ext cx="469937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C55E"/>
                </a:solidFill>
                <a:latin typeface="Inter"/>
              </a:rPr>
              <a:t>GCD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27132" y="5831776"/>
            <a:ext cx="585353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PASSED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934226" y="5535070"/>
            <a:ext cx="2476438" cy="638175"/>
          </a:xfrm>
          <a:prstGeom prst="roundRect">
            <a:avLst>
              <a:gd name="adj" fmla="val 11940"/>
            </a:avLst>
          </a:prstGeom>
          <a:solidFill>
            <a:srgbClr val="EAB30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8" name="TextBox 77"/>
          <p:cNvSpPr txBox="1"/>
          <p:nvPr/>
        </p:nvSpPr>
        <p:spPr>
          <a:xfrm>
            <a:off x="9893426" y="5574205"/>
            <a:ext cx="558038" cy="33130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B308"/>
                </a:solidFill>
                <a:latin typeface="Inter"/>
              </a:rPr>
              <a:t>Craps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23851" y="5831776"/>
            <a:ext cx="497188" cy="3019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Inter"/>
              </a:rPr>
              <a:t>WEAK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381590" y="6287546"/>
            <a:ext cx="5029074" cy="542925"/>
          </a:xfrm>
          <a:prstGeom prst="roundRect">
            <a:avLst>
              <a:gd name="adj" fmla="val 28070"/>
            </a:avLst>
          </a:prstGeom>
          <a:solidFill>
            <a:srgbClr val="22C55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1" name="TextBox 80"/>
          <p:cNvSpPr txBox="1"/>
          <p:nvPr/>
        </p:nvSpPr>
        <p:spPr>
          <a:xfrm>
            <a:off x="7730455" y="6368956"/>
            <a:ext cx="2331344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22C55E"/>
                </a:solidFill>
                <a:latin typeface="Inter"/>
              </a:rPr>
              <a:t>All Major Tests PASSED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" name="TextBox 2"/>
          <p:cNvSpPr txBox="1"/>
          <p:nvPr/>
        </p:nvSpPr>
        <p:spPr>
          <a:xfrm>
            <a:off x="609584" y="116607"/>
            <a:ext cx="3126177" cy="5668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92" b="1" dirty="0">
                <a:solidFill>
                  <a:srgbClr val="FFFFFF"/>
                </a:solidFill>
                <a:latin typeface="Space Grotesk"/>
              </a:rPr>
              <a:t>Strategy of </a:t>
            </a:r>
            <a:r>
              <a:rPr sz="2392" b="1" dirty="0">
                <a:solidFill>
                  <a:srgbClr val="FFFFFF"/>
                </a:solidFill>
                <a:latin typeface="Space Grotesk"/>
              </a:rPr>
              <a:t>RNG Testing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B01ED16-AAC6-1EAE-A9F5-78120C48B8A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89" y="1778696"/>
            <a:ext cx="10928455" cy="3883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995</Words>
  <Application>Microsoft Macintosh PowerPoint</Application>
  <PresentationFormat>Widescreen</PresentationFormat>
  <Paragraphs>226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Sameh Saeed</cp:lastModifiedBy>
  <cp:revision>6</cp:revision>
  <dcterms:created xsi:type="dcterms:W3CDTF">2013-01-27T09:14:16Z</dcterms:created>
  <dcterms:modified xsi:type="dcterms:W3CDTF">2026-03-04T22:59:18Z</dcterms:modified>
  <cp:category/>
</cp:coreProperties>
</file>