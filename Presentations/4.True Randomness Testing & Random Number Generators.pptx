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3" r:id="rId9"/>
    <p:sldId id="265" r:id="rId10"/>
    <p:sldId id="267" r:id="rId11"/>
    <p:sldId id="268" r:id="rId12"/>
    <p:sldId id="269" r:id="rId13"/>
    <p:sldId id="272" r:id="rId14"/>
    <p:sldId id="273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E9F429-4BDD-2F4E-8483-D39FD763D148}" v="7" dt="2026-01-20T10:34:28.1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549"/>
    <p:restoredTop sz="94657"/>
  </p:normalViewPr>
  <p:slideViewPr>
    <p:cSldViewPr snapToGrid="0" snapToObjects="1">
      <p:cViewPr varScale="1">
        <p:scale>
          <a:sx n="88" d="100"/>
          <a:sy n="88" d="100"/>
        </p:scale>
        <p:origin x="176" y="4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eh Saeed" userId="2c0a189a-0f7c-4206-8181-9a10555249db" providerId="ADAL" clId="{852638DA-3B48-5304-BB1F-24E51C1A5FD3}"/>
    <pc:docChg chg="custSel delSld modSld sldOrd">
      <pc:chgData name="Sameh Saeed" userId="2c0a189a-0f7c-4206-8181-9a10555249db" providerId="ADAL" clId="{852638DA-3B48-5304-BB1F-24E51C1A5FD3}" dt="2026-01-20T10:34:55.237" v="360" actId="20577"/>
      <pc:docMkLst>
        <pc:docMk/>
      </pc:docMkLst>
      <pc:sldChg chg="modSp mod">
        <pc:chgData name="Sameh Saeed" userId="2c0a189a-0f7c-4206-8181-9a10555249db" providerId="ADAL" clId="{852638DA-3B48-5304-BB1F-24E51C1A5FD3}" dt="2026-01-20T10:12:40.639" v="4" actId="403"/>
        <pc:sldMkLst>
          <pc:docMk/>
          <pc:sldMk cId="0" sldId="256"/>
        </pc:sldMkLst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7" creationId="{00000000-0000-0000-0000-000000000000}"/>
          </ac:spMkLst>
        </pc:spChg>
      </pc:sldChg>
      <pc:sldChg chg="addSp delSp modSp mod">
        <pc:chgData name="Sameh Saeed" userId="2c0a189a-0f7c-4206-8181-9a10555249db" providerId="ADAL" clId="{852638DA-3B48-5304-BB1F-24E51C1A5FD3}" dt="2026-01-20T10:32:51.789" v="343" actId="1038"/>
        <pc:sldMkLst>
          <pc:docMk/>
          <pc:sldMk cId="0" sldId="257"/>
        </pc:sldMkLst>
        <pc:spChg chg="mod">
          <ac:chgData name="Sameh Saeed" userId="2c0a189a-0f7c-4206-8181-9a10555249db" providerId="ADAL" clId="{852638DA-3B48-5304-BB1F-24E51C1A5FD3}" dt="2026-01-20T10:12:50.110" v="7" actId="403"/>
          <ac:spMkLst>
            <pc:docMk/>
            <pc:sldMk cId="0" sldId="257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1:56.494" v="296" actId="1035"/>
          <ac:spMkLst>
            <pc:docMk/>
            <pc:sldMk cId="0" sldId="257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51.789" v="343" actId="103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32.968" v="269" actId="478"/>
          <ac:spMkLst>
            <pc:docMk/>
            <pc:sldMk cId="0" sldId="257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32.968" v="269" actId="478"/>
          <ac:spMkLst>
            <pc:docMk/>
            <pc:sldMk cId="0" sldId="257"/>
            <ac:spMk id="8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29.080" v="268" actId="478"/>
          <ac:spMkLst>
            <pc:docMk/>
            <pc:sldMk cId="0" sldId="257"/>
            <ac:spMk id="9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29.080" v="268" actId="478"/>
          <ac:spMkLst>
            <pc:docMk/>
            <pc:sldMk cId="0" sldId="257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34.312" v="325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34.312" v="325" actId="1076"/>
          <ac:spMkLst>
            <pc:docMk/>
            <pc:sldMk cId="0" sldId="257"/>
            <ac:spMk id="19" creationId="{00000000-0000-0000-0000-000000000000}"/>
          </ac:spMkLst>
        </pc:spChg>
        <pc:picChg chg="del">
          <ac:chgData name="Sameh Saeed" userId="2c0a189a-0f7c-4206-8181-9a10555249db" providerId="ADAL" clId="{852638DA-3B48-5304-BB1F-24E51C1A5FD3}" dt="2026-01-20T10:31:35.798" v="270" actId="478"/>
          <ac:picMkLst>
            <pc:docMk/>
            <pc:sldMk cId="0" sldId="257"/>
            <ac:picMk id="4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14.653" v="324" actId="1038"/>
          <ac:picMkLst>
            <pc:docMk/>
            <pc:sldMk cId="0" sldId="257"/>
            <ac:picMk id="11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14.653" v="324" actId="1038"/>
          <ac:picMkLst>
            <pc:docMk/>
            <pc:sldMk cId="0" sldId="257"/>
            <ac:picMk id="14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34.312" v="325" actId="1076"/>
          <ac:picMkLst>
            <pc:docMk/>
            <pc:sldMk cId="0" sldId="257"/>
            <ac:picMk id="17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32:44.197" v="329" actId="14100"/>
          <ac:picMkLst>
            <pc:docMk/>
            <pc:sldMk cId="0" sldId="257"/>
            <ac:picMk id="20" creationId="{199891DE-4828-0516-95E8-38051C082609}"/>
          </ac:picMkLst>
        </pc:picChg>
      </pc:sldChg>
      <pc:sldChg chg="addSp delSp modSp mod">
        <pc:chgData name="Sameh Saeed" userId="2c0a189a-0f7c-4206-8181-9a10555249db" providerId="ADAL" clId="{852638DA-3B48-5304-BB1F-24E51C1A5FD3}" dt="2026-01-20T10:23:38.417" v="171" actId="14100"/>
        <pc:sldMkLst>
          <pc:docMk/>
          <pc:sldMk cId="0" sldId="258"/>
        </pc:sldMkLst>
        <pc:spChg chg="mod">
          <ac:chgData name="Sameh Saeed" userId="2c0a189a-0f7c-4206-8181-9a10555249db" providerId="ADAL" clId="{852638DA-3B48-5304-BB1F-24E51C1A5FD3}" dt="2026-01-20T10:23:23.499" v="154" actId="1035"/>
          <ac:spMkLst>
            <pc:docMk/>
            <pc:sldMk cId="0" sldId="258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6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31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32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33" creationId="{00000000-0000-0000-0000-000000000000}"/>
          </ac:spMkLst>
        </pc:spChg>
        <pc:picChg chg="add mod">
          <ac:chgData name="Sameh Saeed" userId="2c0a189a-0f7c-4206-8181-9a10555249db" providerId="ADAL" clId="{852638DA-3B48-5304-BB1F-24E51C1A5FD3}" dt="2026-01-20T10:23:38.417" v="171" actId="14100"/>
          <ac:picMkLst>
            <pc:docMk/>
            <pc:sldMk cId="0" sldId="258"/>
            <ac:picMk id="34" creationId="{EE5853D5-1E54-A1FC-B117-025C17136E40}"/>
          </ac:picMkLst>
        </pc:picChg>
      </pc:sldChg>
      <pc:sldChg chg="modSp mod">
        <pc:chgData name="Sameh Saeed" userId="2c0a189a-0f7c-4206-8181-9a10555249db" providerId="ADAL" clId="{852638DA-3B48-5304-BB1F-24E51C1A5FD3}" dt="2026-01-20T10:24:41.953" v="173" actId="403"/>
        <pc:sldMkLst>
          <pc:docMk/>
          <pc:sldMk cId="0" sldId="259"/>
        </pc:sldMkLst>
        <pc:spChg chg="mod">
          <ac:chgData name="Sameh Saeed" userId="2c0a189a-0f7c-4206-8181-9a10555249db" providerId="ADAL" clId="{852638DA-3B48-5304-BB1F-24E51C1A5FD3}" dt="2026-01-20T10:13:19.707" v="13" actId="403"/>
          <ac:spMkLst>
            <pc:docMk/>
            <pc:sldMk cId="0" sldId="259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21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3:34.874" v="16" actId="403"/>
        <pc:sldMkLst>
          <pc:docMk/>
          <pc:sldMk cId="0" sldId="260"/>
        </pc:sldMkLst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5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3:53.425" v="19" actId="403"/>
        <pc:sldMkLst>
          <pc:docMk/>
          <pc:sldMk cId="0" sldId="261"/>
        </pc:sldMkLst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6" creationId="{00000000-0000-0000-0000-000000000000}"/>
          </ac:spMkLst>
        </pc:spChg>
      </pc:sldChg>
      <pc:sldChg chg="del">
        <pc:chgData name="Sameh Saeed" userId="2c0a189a-0f7c-4206-8181-9a10555249db" providerId="ADAL" clId="{852638DA-3B48-5304-BB1F-24E51C1A5FD3}" dt="2026-01-20T10:14:00.916" v="20" actId="2696"/>
        <pc:sldMkLst>
          <pc:docMk/>
          <pc:sldMk cId="0" sldId="262"/>
        </pc:sldMkLst>
      </pc:sldChg>
      <pc:sldChg chg="addSp delSp modSp mod">
        <pc:chgData name="Sameh Saeed" userId="2c0a189a-0f7c-4206-8181-9a10555249db" providerId="ADAL" clId="{852638DA-3B48-5304-BB1F-24E51C1A5FD3}" dt="2026-01-20T10:26:31.432" v="214" actId="1076"/>
        <pc:sldMkLst>
          <pc:docMk/>
          <pc:sldMk cId="0" sldId="263"/>
        </pc:sldMkLst>
        <pc:spChg chg="mod">
          <ac:chgData name="Sameh Saeed" userId="2c0a189a-0f7c-4206-8181-9a10555249db" providerId="ADAL" clId="{852638DA-3B48-5304-BB1F-24E51C1A5FD3}" dt="2026-01-20T10:14:09.537" v="23" actId="403"/>
          <ac:spMkLst>
            <pc:docMk/>
            <pc:sldMk cId="0" sldId="263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11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3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07.171" v="177" actId="478"/>
          <ac:spMkLst>
            <pc:docMk/>
            <pc:sldMk cId="0" sldId="263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8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5:58.916" v="176" actId="478"/>
          <ac:spMkLst>
            <pc:docMk/>
            <pc:sldMk cId="0" sldId="263"/>
            <ac:spMk id="29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6:07.171" v="177" actId="478"/>
          <ac:spMkLst>
            <pc:docMk/>
            <pc:sldMk cId="0" sldId="263"/>
            <ac:spMk id="31" creationId="{00000000-0000-0000-0000-000000000000}"/>
          </ac:spMkLst>
        </pc:spChg>
        <pc:picChg chg="del">
          <ac:chgData name="Sameh Saeed" userId="2c0a189a-0f7c-4206-8181-9a10555249db" providerId="ADAL" clId="{852638DA-3B48-5304-BB1F-24E51C1A5FD3}" dt="2026-01-20T10:26:11.764" v="178" actId="478"/>
          <ac:picMkLst>
            <pc:docMk/>
            <pc:sldMk cId="0" sldId="263"/>
            <ac:picMk id="14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6:07.171" v="177" actId="478"/>
          <ac:picMkLst>
            <pc:docMk/>
            <pc:sldMk cId="0" sldId="263"/>
            <ac:picMk id="30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26:31.432" v="214" actId="1076"/>
          <ac:picMkLst>
            <pc:docMk/>
            <pc:sldMk cId="0" sldId="263"/>
            <ac:picMk id="32" creationId="{DBF5A96D-B4F3-7644-474E-31CB444C2B02}"/>
          </ac:picMkLst>
        </pc:picChg>
      </pc:sldChg>
      <pc:sldChg chg="modSp mod ord">
        <pc:chgData name="Sameh Saeed" userId="2c0a189a-0f7c-4206-8181-9a10555249db" providerId="ADAL" clId="{852638DA-3B48-5304-BB1F-24E51C1A5FD3}" dt="2026-01-20T10:25:21.284" v="175" actId="20578"/>
        <pc:sldMkLst>
          <pc:docMk/>
          <pc:sldMk cId="0" sldId="264"/>
        </pc:sldMkLst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36" creationId="{00000000-0000-0000-0000-000000000000}"/>
          </ac:spMkLst>
        </pc:spChg>
      </pc:sldChg>
      <pc:sldChg chg="addSp delSp modSp mod ord">
        <pc:chgData name="Sameh Saeed" userId="2c0a189a-0f7c-4206-8181-9a10555249db" providerId="ADAL" clId="{852638DA-3B48-5304-BB1F-24E51C1A5FD3}" dt="2026-01-20T10:30:21.698" v="267" actId="14100"/>
        <pc:sldMkLst>
          <pc:docMk/>
          <pc:sldMk cId="0" sldId="265"/>
        </pc:sldMkLst>
        <pc:spChg chg="mod">
          <ac:chgData name="Sameh Saeed" userId="2c0a189a-0f7c-4206-8181-9a10555249db" providerId="ADAL" clId="{852638DA-3B48-5304-BB1F-24E51C1A5FD3}" dt="2026-01-20T10:14:35.707" v="29" actId="403"/>
          <ac:spMkLst>
            <pc:docMk/>
            <pc:sldMk cId="0" sldId="265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35.707" v="29" actId="403"/>
          <ac:spMkLst>
            <pc:docMk/>
            <pc:sldMk cId="0" sldId="265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06.281" v="260" actId="478"/>
          <ac:spMkLst>
            <pc:docMk/>
            <pc:sldMk cId="0" sldId="265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03.988" v="259" actId="478"/>
          <ac:spMkLst>
            <pc:docMk/>
            <pc:sldMk cId="0" sldId="265"/>
            <ac:spMk id="1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13.529" v="262" actId="478"/>
          <ac:spMkLst>
            <pc:docMk/>
            <pc:sldMk cId="0" sldId="265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10.606" v="261" actId="478"/>
          <ac:spMkLst>
            <pc:docMk/>
            <pc:sldMk cId="0" sldId="265"/>
            <ac:spMk id="16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7:12.869" v="215" actId="478"/>
          <ac:spMkLst>
            <pc:docMk/>
            <pc:sldMk cId="0" sldId="265"/>
            <ac:spMk id="17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7:12.869" v="215" actId="478"/>
          <ac:spMkLst>
            <pc:docMk/>
            <pc:sldMk cId="0" sldId="265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8" creationId="{00000000-0000-0000-0000-000000000000}"/>
          </ac:spMkLst>
        </pc:spChg>
        <pc:picChg chg="mod">
          <ac:chgData name="Sameh Saeed" userId="2c0a189a-0f7c-4206-8181-9a10555249db" providerId="ADAL" clId="{852638DA-3B48-5304-BB1F-24E51C1A5FD3}" dt="2026-01-20T10:27:20.518" v="216" actId="1076"/>
          <ac:picMkLst>
            <pc:docMk/>
            <pc:sldMk cId="0" sldId="265"/>
            <ac:picMk id="14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7:12.869" v="215" actId="478"/>
          <ac:picMkLst>
            <pc:docMk/>
            <pc:sldMk cId="0" sldId="265"/>
            <ac:picMk id="18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7:12.869" v="215" actId="478"/>
          <ac:picMkLst>
            <pc:docMk/>
            <pc:sldMk cId="0" sldId="265"/>
            <ac:picMk id="46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27:55.143" v="258" actId="167"/>
          <ac:picMkLst>
            <pc:docMk/>
            <pc:sldMk cId="0" sldId="265"/>
            <ac:picMk id="49" creationId="{D15050F9-3A6C-A854-7391-47A14CE1BCCE}"/>
          </ac:picMkLst>
        </pc:picChg>
        <pc:picChg chg="add mod">
          <ac:chgData name="Sameh Saeed" userId="2c0a189a-0f7c-4206-8181-9a10555249db" providerId="ADAL" clId="{852638DA-3B48-5304-BB1F-24E51C1A5FD3}" dt="2026-01-20T10:30:21.698" v="267" actId="14100"/>
          <ac:picMkLst>
            <pc:docMk/>
            <pc:sldMk cId="0" sldId="265"/>
            <ac:picMk id="50" creationId="{76850572-6916-8910-9426-2EEB88DE70E1}"/>
          </ac:picMkLst>
        </pc:picChg>
      </pc:sldChg>
      <pc:sldChg chg="del">
        <pc:chgData name="Sameh Saeed" userId="2c0a189a-0f7c-4206-8181-9a10555249db" providerId="ADAL" clId="{852638DA-3B48-5304-BB1F-24E51C1A5FD3}" dt="2026-01-20T10:15:08.626" v="30" actId="2696"/>
        <pc:sldMkLst>
          <pc:docMk/>
          <pc:sldMk cId="0" sldId="266"/>
        </pc:sldMkLst>
      </pc:sldChg>
      <pc:sldChg chg="modSp mod">
        <pc:chgData name="Sameh Saeed" userId="2c0a189a-0f7c-4206-8181-9a10555249db" providerId="ADAL" clId="{852638DA-3B48-5304-BB1F-24E51C1A5FD3}" dt="2026-01-20T10:15:16.447" v="33" actId="403"/>
        <pc:sldMkLst>
          <pc:docMk/>
          <pc:sldMk cId="0" sldId="267"/>
        </pc:sldMkLst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3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4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5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53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5:27.628" v="36" actId="403"/>
        <pc:sldMkLst>
          <pc:docMk/>
          <pc:sldMk cId="0" sldId="268"/>
        </pc:sldMkLst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9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5:42.242" v="39" actId="403"/>
        <pc:sldMkLst>
          <pc:docMk/>
          <pc:sldMk cId="0" sldId="269"/>
        </pc:sldMkLst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33" creationId="{00000000-0000-0000-0000-000000000000}"/>
          </ac:spMkLst>
        </pc:spChg>
      </pc:sldChg>
      <pc:sldChg chg="del">
        <pc:chgData name="Sameh Saeed" userId="2c0a189a-0f7c-4206-8181-9a10555249db" providerId="ADAL" clId="{852638DA-3B48-5304-BB1F-24E51C1A5FD3}" dt="2026-01-20T10:15:48.971" v="40" actId="2696"/>
        <pc:sldMkLst>
          <pc:docMk/>
          <pc:sldMk cId="0" sldId="270"/>
        </pc:sldMkLst>
      </pc:sldChg>
      <pc:sldChg chg="del">
        <pc:chgData name="Sameh Saeed" userId="2c0a189a-0f7c-4206-8181-9a10555249db" providerId="ADAL" clId="{852638DA-3B48-5304-BB1F-24E51C1A5FD3}" dt="2026-01-20T10:16:01.730" v="41" actId="2696"/>
        <pc:sldMkLst>
          <pc:docMk/>
          <pc:sldMk cId="0" sldId="271"/>
        </pc:sldMkLst>
      </pc:sldChg>
      <pc:sldChg chg="modSp mod">
        <pc:chgData name="Sameh Saeed" userId="2c0a189a-0f7c-4206-8181-9a10555249db" providerId="ADAL" clId="{852638DA-3B48-5304-BB1F-24E51C1A5FD3}" dt="2026-01-20T10:17:04.141" v="131" actId="1036"/>
        <pc:sldMkLst>
          <pc:docMk/>
          <pc:sldMk cId="0" sldId="272"/>
        </pc:sldMkLst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59.762" v="119" actId="1036"/>
          <ac:spMkLst>
            <pc:docMk/>
            <pc:sldMk cId="0" sldId="272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5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7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7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80" creationId="{00000000-0000-0000-0000-000000000000}"/>
          </ac:spMkLst>
        </pc:spChg>
        <pc:picChg chg="mod">
          <ac:chgData name="Sameh Saeed" userId="2c0a189a-0f7c-4206-8181-9a10555249db" providerId="ADAL" clId="{852638DA-3B48-5304-BB1F-24E51C1A5FD3}" dt="2026-01-20T10:17:04.141" v="131" actId="1036"/>
          <ac:picMkLst>
            <pc:docMk/>
            <pc:sldMk cId="0" sldId="272"/>
            <ac:picMk id="29" creationId="{00000000-0000-0000-0000-000000000000}"/>
          </ac:picMkLst>
        </pc:picChg>
      </pc:sldChg>
      <pc:sldChg chg="addSp delSp modSp mod">
        <pc:chgData name="Sameh Saeed" userId="2c0a189a-0f7c-4206-8181-9a10555249db" providerId="ADAL" clId="{852638DA-3B48-5304-BB1F-24E51C1A5FD3}" dt="2026-01-20T10:34:55.237" v="360" actId="20577"/>
        <pc:sldMkLst>
          <pc:docMk/>
          <pc:sldMk cId="0" sldId="273"/>
        </pc:sldMkLst>
        <pc:spChg chg="mod">
          <ac:chgData name="Sameh Saeed" userId="2c0a189a-0f7c-4206-8181-9a10555249db" providerId="ADAL" clId="{852638DA-3B48-5304-BB1F-24E51C1A5FD3}" dt="2026-01-20T10:34:55.237" v="360" actId="20577"/>
          <ac:spMkLst>
            <pc:docMk/>
            <pc:sldMk cId="0" sldId="273"/>
            <ac:spMk id="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4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0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4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7" creationId="{00000000-0000-0000-0000-000000000000}"/>
          </ac:spMkLst>
        </pc:spChg>
        <pc:picChg chg="add mod">
          <ac:chgData name="Sameh Saeed" userId="2c0a189a-0f7c-4206-8181-9a10555249db" providerId="ADAL" clId="{852638DA-3B48-5304-BB1F-24E51C1A5FD3}" dt="2026-01-20T10:34:39.643" v="348" actId="14100"/>
          <ac:picMkLst>
            <pc:docMk/>
            <pc:sldMk cId="0" sldId="273"/>
            <ac:picMk id="29" creationId="{FB01ED16-AAC6-1EAE-A9F5-78120C48B8A9}"/>
          </ac:picMkLst>
        </pc:picChg>
      </pc:sldChg>
      <pc:sldChg chg="del">
        <pc:chgData name="Sameh Saeed" userId="2c0a189a-0f7c-4206-8181-9a10555249db" providerId="ADAL" clId="{852638DA-3B48-5304-BB1F-24E51C1A5FD3}" dt="2026-01-20T10:17:29.728" v="135" actId="2696"/>
        <pc:sldMkLst>
          <pc:docMk/>
          <pc:sldMk cId="0" sldId="27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4.png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1.png"/><Relationship Id="rId7" Type="http://schemas.openxmlformats.org/officeDocument/2006/relationships/image" Target="../media/image1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2" Type="http://schemas.openxmlformats.org/officeDocument/2006/relationships/image" Target="../media/image46.png"/><Relationship Id="rId16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5" Type="http://schemas.openxmlformats.org/officeDocument/2006/relationships/image" Target="../media/image5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Relationship Id="rId14" Type="http://schemas.openxmlformats.org/officeDocument/2006/relationships/image" Target="../media/image5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13" Type="http://schemas.openxmlformats.org/officeDocument/2006/relationships/image" Target="../media/image79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12" Type="http://schemas.openxmlformats.org/officeDocument/2006/relationships/image" Target="../media/image78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29154" y="1718829"/>
            <a:ext cx="533386" cy="448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52616" y="2571750"/>
            <a:ext cx="7486462" cy="1428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875"/>
              </a:lnSpc>
              <a:spcBef>
                <a:spcPts val="0"/>
              </a:spcBef>
              <a:spcAft>
                <a:spcPts val="2080"/>
              </a:spcAft>
            </a:pPr>
            <a:r>
              <a:rPr sz="3588" b="1">
                <a:solidFill>
                  <a:srgbClr val="FFFFFF"/>
                </a:solidFill>
                <a:latin typeface="Space Grotesk"/>
              </a:rPr>
              <a:t> True Randomness Testing &amp;</a:t>
            </a:r>
            <a:r>
              <a:rPr sz="1104"/>
              <a:t>
</a:t>
            </a:r>
            <a:r>
              <a:rPr sz="3588" b="1">
                <a:solidFill>
                  <a:srgbClr val="FFFFFF"/>
                </a:solidFill>
                <a:latin typeface="Space Grotesk"/>
              </a:rPr>
              <a:t>Random Number Generators </a:t>
            </a:r>
          </a:p>
        </p:txBody>
      </p:sp>
      <p:sp>
        <p:nvSpPr>
          <p:cNvPr id="6" name="Rectangle 5"/>
          <p:cNvSpPr/>
          <p:nvPr/>
        </p:nvSpPr>
        <p:spPr>
          <a:xfrm>
            <a:off x="5143371" y="4305300"/>
            <a:ext cx="1904952" cy="28575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D4FF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7" name="TextBox 6"/>
          <p:cNvSpPr txBox="1"/>
          <p:nvPr/>
        </p:nvSpPr>
        <p:spPr>
          <a:xfrm>
            <a:off x="2352616" y="4618904"/>
            <a:ext cx="7486462" cy="58246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NIST SP 800-22, Dieharder, VQR &amp; QPP Projects</a:t>
            </a:r>
            <a:r>
              <a:rPr sz="2000"/>
              <a:t>
</a:t>
            </a:r>
            <a:r>
              <a:rPr sz="2000"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8A92A8"/>
                </a:solidFill>
                <a:latin typeface="Inter"/>
              </a:rPr>
              <a:t>A Comprehensive Overview of RNG Testing and Quantum Approaches</a:t>
            </a:r>
            <a:r>
              <a:rPr sz="2000"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214788-DF8F-1088-1B36-25798A803CC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134048"/>
            <a:ext cx="1955800" cy="1623885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041D80-F0EA-03DC-4547-A02A70145A1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1709736"/>
            <a:ext cx="1955800" cy="912037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12B8CF-232B-A99F-69BB-CD1B77496D7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2547936"/>
            <a:ext cx="1955800" cy="954103"/>
          </a:xfrm>
          <a:prstGeom prst="rect">
            <a:avLst/>
          </a:prstGeom>
          <a:solidFill>
            <a:schemeClr val="bg2"/>
          </a:solidFill>
          <a:ln w="25400"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77190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The Fundamental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8669" y="826348"/>
            <a:ext cx="4857292" cy="41325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1560"/>
              </a:spcAft>
            </a:pPr>
            <a:r>
              <a:rPr sz="2400" b="1" dirty="0">
                <a:solidFill>
                  <a:srgbClr val="00D4FF"/>
                </a:solidFill>
                <a:latin typeface="Space Grotesk"/>
              </a:rPr>
              <a:t>Can We Generate True Randomness?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58520" y="1524785"/>
            <a:ext cx="304792" cy="2168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3808" y="1418982"/>
            <a:ext cx="2795317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Unpredictable ≠ Random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3808" y="1928499"/>
            <a:ext cx="5629134" cy="6858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An event can be </a:t>
            </a:r>
            <a:r>
              <a:rPr b="0">
                <a:solidFill>
                  <a:srgbClr val="00D4FF"/>
                </a:solidFill>
                <a:latin typeface="Inter"/>
              </a:rPr>
              <a:t>unpredictable</a:t>
            </a:r>
            <a:r>
              <a:rPr b="0">
                <a:solidFill>
                  <a:srgbClr val="B0B8D4"/>
                </a:solidFill>
                <a:latin typeface="Inter"/>
              </a:rPr>
              <a:t> due to insufficient data (entropy), but not necessarily </a:t>
            </a:r>
            <a:r>
              <a:rPr b="0">
                <a:solidFill>
                  <a:srgbClr val="00D4FF"/>
                </a:solidFill>
                <a:latin typeface="Inter"/>
              </a:rPr>
              <a:t>truly random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296" y="1460052"/>
            <a:ext cx="304792" cy="246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584" y="1368903"/>
            <a:ext cx="2376805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Proving Randomness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181" y="1870961"/>
            <a:ext cx="5629134" cy="97603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B0B8D4"/>
                </a:solidFill>
                <a:latin typeface="Inter"/>
              </a:rPr>
              <a:t>Distinguishing true randomness from unpredictability remains a fundamental challenge in computational systems and cryptography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2D42D6-6904-8DDE-56D9-0F00E850BC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25" y="2860535"/>
            <a:ext cx="10854703" cy="38831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052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682925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Types of Random Number Generators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219970"/>
            <a:ext cx="342891" cy="289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773" y="1110645"/>
            <a:ext cx="1701876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True RNGs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1869641"/>
            <a:ext cx="190495" cy="952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33466" y="1751027"/>
            <a:ext cx="340625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Non-deterministic physical sources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288741"/>
            <a:ext cx="190495" cy="95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33466" y="2170127"/>
            <a:ext cx="319664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Thermal noise, user input timing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726891"/>
            <a:ext cx="190495" cy="952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33466" y="2608277"/>
            <a:ext cx="309578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Quantum effects and processes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145991"/>
            <a:ext cx="190495" cy="952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3466" y="3027377"/>
            <a:ext cx="292849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Distillation process for quality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584140"/>
            <a:ext cx="190495" cy="95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33466" y="3465526"/>
            <a:ext cx="344645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Must satisfy </a:t>
            </a:r>
            <a:r>
              <a:rPr b="0">
                <a:solidFill>
                  <a:srgbClr val="00D4FF"/>
                </a:solidFill>
                <a:latin typeface="Inter"/>
              </a:rPr>
              <a:t>strict statistical criteria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4441" y="1072168"/>
            <a:ext cx="342891" cy="2423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81630" y="939195"/>
            <a:ext cx="3295518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Pseudorandom RNGs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1698191"/>
            <a:ext cx="190495" cy="9524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48323" y="1579576"/>
            <a:ext cx="379495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Deterministic mathematical algorithms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126816"/>
            <a:ext cx="190495" cy="952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48323" y="2008202"/>
            <a:ext cx="295882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Require </a:t>
            </a:r>
            <a:r>
              <a:rPr b="0">
                <a:solidFill>
                  <a:srgbClr val="00D4FF"/>
                </a:solidFill>
                <a:latin typeface="Inter"/>
              </a:rPr>
              <a:t>random seed</a:t>
            </a:r>
            <a:r>
              <a:rPr b="0">
                <a:solidFill>
                  <a:srgbClr val="B0B8D4"/>
                </a:solidFill>
                <a:latin typeface="Inter"/>
              </a:rPr>
              <a:t> as input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555441"/>
            <a:ext cx="190495" cy="9524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48323" y="2436827"/>
            <a:ext cx="345229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Generate pseudorandom sequence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984066"/>
            <a:ext cx="190495" cy="9524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48323" y="2865452"/>
            <a:ext cx="346255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Seed must come from RNG outputs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3412690"/>
            <a:ext cx="190495" cy="9524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48323" y="3294076"/>
            <a:ext cx="273536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Efficient for large quantities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A4FCB3F-3844-BA00-4384-0E239E06B5B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5" y="4469695"/>
            <a:ext cx="10150954" cy="2095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09714"/>
            <a:ext cx="5033814" cy="58067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Importance of Random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584" y="74839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1059747"/>
            <a:ext cx="380990" cy="2917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565" y="937600"/>
            <a:ext cx="4357475" cy="4788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3200" b="1">
                <a:solidFill>
                  <a:srgbClr val="FFFFFF"/>
                </a:solidFill>
                <a:latin typeface="Space Grotesk"/>
              </a:rPr>
              <a:t>Monte Carlo Simulations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565" y="1442046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0B8D4"/>
                </a:solidFill>
                <a:latin typeface="Inter"/>
              </a:rPr>
              <a:t>Sampling large phase spaces for complex system modeling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584" y="267244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3013563"/>
            <a:ext cx="380990" cy="2321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565" y="2861651"/>
            <a:ext cx="1314719" cy="4788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3200" b="1">
                <a:solidFill>
                  <a:srgbClr val="FFFFFF"/>
                </a:solidFill>
                <a:latin typeface="Space Grotesk"/>
              </a:rPr>
              <a:t>Games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565" y="3366095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0B8D4"/>
                </a:solidFill>
                <a:latin typeface="Inter"/>
              </a:rPr>
              <a:t>Ensuring unique and unbiased user experiences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639" y="919849"/>
            <a:ext cx="5181470" cy="1276350"/>
          </a:xfrm>
          <a:prstGeom prst="roundRect">
            <a:avLst>
              <a:gd name="adj" fmla="val 11940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234" y="1207384"/>
            <a:ext cx="380990" cy="339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62620" y="1109050"/>
            <a:ext cx="2443746" cy="4788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3200" b="1">
                <a:solidFill>
                  <a:srgbClr val="FFFFFF"/>
                </a:solidFill>
                <a:latin typeface="Space Grotesk"/>
              </a:rPr>
              <a:t>Cryptography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620" y="1676608"/>
            <a:ext cx="5420843" cy="41325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0B8D4"/>
                </a:solidFill>
                <a:latin typeface="Inter"/>
              </a:rPr>
              <a:t> </a:t>
            </a:r>
            <a:r>
              <a:rPr sz="2400" b="0">
                <a:solidFill>
                  <a:srgbClr val="00D4FF"/>
                </a:solidFill>
                <a:latin typeface="Inter"/>
              </a:rPr>
              <a:t>Fundamental basis</a:t>
            </a:r>
            <a:r>
              <a:rPr sz="2400" b="0">
                <a:solidFill>
                  <a:srgbClr val="B0B8D4"/>
                </a:solidFill>
                <a:latin typeface="Inter"/>
              </a:rPr>
              <a:t> of Internet commerce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639" y="250099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234" y="2812347"/>
            <a:ext cx="380990" cy="29170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62620" y="2690201"/>
            <a:ext cx="4370877" cy="4788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3200" b="1">
                <a:solidFill>
                  <a:srgbClr val="FFFFFF"/>
                </a:solidFill>
                <a:latin typeface="Space Grotesk"/>
              </a:rPr>
              <a:t>Mathematics &amp; Statistics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620" y="3194644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0B8D4"/>
                </a:solidFill>
                <a:latin typeface="Inter"/>
              </a:rPr>
              <a:t>Theoretical foundations and applied contexts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FCBA89F-91C8-E32C-BEF6-5C617B3806F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4478577"/>
            <a:ext cx="10576158" cy="21333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614347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Statistical Testing Core Concepts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286203"/>
            <a:ext cx="342891" cy="2660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773" y="1165054"/>
            <a:ext cx="2879443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Purpose of Testing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1928683"/>
            <a:ext cx="209544" cy="181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0615" y="1851364"/>
            <a:ext cx="4129079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Systematic test suite for </a:t>
            </a:r>
            <a:r>
              <a:rPr b="0">
                <a:solidFill>
                  <a:srgbClr val="00D4FF"/>
                </a:solidFill>
                <a:latin typeface="Inter"/>
              </a:rPr>
              <a:t>all types of RNGs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433508"/>
            <a:ext cx="209544" cy="181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90615" y="2356190"/>
            <a:ext cx="4718471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Detect deviations from </a:t>
            </a:r>
            <a:r>
              <a:rPr b="0">
                <a:solidFill>
                  <a:srgbClr val="00D4FF"/>
                </a:solidFill>
                <a:latin typeface="Inter"/>
              </a:rPr>
              <a:t>truly random sequences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947858"/>
            <a:ext cx="209544" cy="181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90615" y="2870540"/>
            <a:ext cx="4509824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Identify patterns or biases in binary sequences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584" y="3629025"/>
            <a:ext cx="6200619" cy="1695449"/>
          </a:xfrm>
          <a:prstGeom prst="roundRect">
            <a:avLst>
              <a:gd name="adj" fmla="val 8988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Round Same Side Corner Rectangle 12"/>
          <p:cNvSpPr/>
          <p:nvPr/>
        </p:nvSpPr>
        <p:spPr>
          <a:xfrm rot="16200000">
            <a:off x="-172100" y="4410709"/>
            <a:ext cx="169544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278" y="3943764"/>
            <a:ext cx="266693" cy="2087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57268" y="3833883"/>
            <a:ext cx="1431867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Critical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278" y="4381499"/>
            <a:ext cx="5705332" cy="7143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Minimize </a:t>
            </a:r>
            <a:r>
              <a:rPr b="0">
                <a:solidFill>
                  <a:srgbClr val="00D4FF"/>
                </a:solidFill>
                <a:latin typeface="Inter"/>
              </a:rPr>
              <a:t>Type II errors</a:t>
            </a:r>
            <a:r>
              <a:rPr b="0">
                <a:solidFill>
                  <a:srgbClr val="B0B8D4"/>
                </a:solidFill>
                <a:latin typeface="Inter"/>
              </a:rPr>
              <a:t> — rejecting the null hypothesis when it's actually false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584" y="5629275"/>
            <a:ext cx="6200619" cy="1257300"/>
          </a:xfrm>
          <a:prstGeom prst="roundRect">
            <a:avLst>
              <a:gd name="adj" fmla="val 12121"/>
            </a:avLst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761980" y="5769832"/>
            <a:ext cx="5895827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8A92A8"/>
                </a:solidFill>
                <a:latin typeface="Inter"/>
              </a:rPr>
              <a:t>"Falsely accepting a sequence as good when the generator was actually bad."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80" y="6425248"/>
            <a:ext cx="1633909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600" b="0">
                <a:solidFill>
                  <a:srgbClr val="5A6278"/>
                </a:solidFill>
                <a:latin typeface="Inter"/>
              </a:rPr>
              <a:t>— NIST SP 800-22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72185" y="1428750"/>
            <a:ext cx="4009924" cy="3619499"/>
          </a:xfrm>
          <a:prstGeom prst="rect">
            <a:avLst/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Rectangle 20"/>
          <p:cNvSpPr/>
          <p:nvPr/>
        </p:nvSpPr>
        <p:spPr>
          <a:xfrm>
            <a:off x="7572185" y="1428750"/>
            <a:ext cx="4009924" cy="3619499"/>
          </a:xfrm>
          <a:prstGeom prst="rect">
            <a:avLst/>
          </a:prstGeo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ounded Rectangle 21"/>
          <p:cNvSpPr/>
          <p:nvPr/>
        </p:nvSpPr>
        <p:spPr>
          <a:xfrm>
            <a:off x="7572185" y="5238749"/>
            <a:ext cx="4009924" cy="1409699"/>
          </a:xfrm>
          <a:prstGeom prst="roundRect">
            <a:avLst>
              <a:gd name="adj" fmla="val 10810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7762680" y="5396361"/>
            <a:ext cx="166237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Test Framework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86822" y="5446834"/>
            <a:ext cx="304792" cy="26963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62680" y="5846032"/>
            <a:ext cx="362893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78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Rigorous, systematic testing methodology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62913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The Null Hypothesis &amp; P-values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584" y="1504950"/>
            <a:ext cx="5181470" cy="1362075"/>
          </a:xfrm>
          <a:prstGeom prst="roundRect">
            <a:avLst>
              <a:gd name="adj" fmla="val 11188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Round Same Side Corner Rectangle 4"/>
          <p:cNvSpPr/>
          <p:nvPr/>
        </p:nvSpPr>
        <p:spPr>
          <a:xfrm rot="16200000">
            <a:off x="-5413" y="2119947"/>
            <a:ext cx="13620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278" y="1825869"/>
            <a:ext cx="304792" cy="234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95367" y="1705052"/>
            <a:ext cx="2731773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Null Hypothesis (H₀)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367" y="2260940"/>
            <a:ext cx="3755002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The sequence being tested is </a:t>
            </a:r>
            <a:r>
              <a:rPr b="0">
                <a:solidFill>
                  <a:srgbClr val="00D4FF"/>
                </a:solidFill>
                <a:latin typeface="Inter"/>
              </a:rPr>
              <a:t>random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3192531"/>
            <a:ext cx="266693" cy="168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575" y="3076837"/>
            <a:ext cx="1965795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Very Low P-value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575" y="3500885"/>
            <a:ext cx="342363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&lt; 10⁻⁶ → </a:t>
            </a:r>
            <a:r>
              <a:rPr b="0">
                <a:solidFill>
                  <a:srgbClr val="EF4444"/>
                </a:solidFill>
                <a:latin typeface="Inter"/>
              </a:rPr>
              <a:t>Reject H₀</a:t>
            </a:r>
            <a:r>
              <a:rPr b="0">
                <a:solidFill>
                  <a:srgbClr val="B0B8D4"/>
                </a:solidFill>
                <a:latin typeface="Inter"/>
              </a:rPr>
              <a:t> (Bad generator)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4096992"/>
            <a:ext cx="266693" cy="2261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010287"/>
            <a:ext cx="1471750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High P-value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75" y="4466371"/>
            <a:ext cx="4800479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&gt; 0.01 → Insufficient evidence to reject, but </a:t>
            </a:r>
            <a:r>
              <a:rPr b="0">
                <a:solidFill>
                  <a:srgbClr val="22C55E"/>
                </a:solidFill>
                <a:latin typeface="Inter"/>
              </a:rPr>
              <a:t>cannot prove</a:t>
            </a:r>
            <a:r>
              <a:rPr b="0">
                <a:solidFill>
                  <a:srgbClr val="B0B8D4"/>
                </a:solidFill>
                <a:latin typeface="Inter"/>
              </a:rPr>
              <a:t> H₀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584" y="5295899"/>
            <a:ext cx="5181470" cy="1333500"/>
          </a:xfrm>
          <a:prstGeom prst="roundRect">
            <a:avLst>
              <a:gd name="adj" fmla="val 11428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800079" y="5474558"/>
            <a:ext cx="4800479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8A92A8"/>
                </a:solidFill>
                <a:latin typeface="Inter"/>
              </a:rPr>
              <a:t>"The null hypothesis can never be proven to be true, it can only fail to be observed to fail."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79" y="6129973"/>
            <a:ext cx="1233351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600" b="0">
                <a:solidFill>
                  <a:srgbClr val="5A6278"/>
                </a:solidFill>
                <a:latin typeface="Inter"/>
              </a:rPr>
              <a:t>— DieHarder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0639" y="1296865"/>
            <a:ext cx="304792" cy="18756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19729" y="1162127"/>
            <a:ext cx="267958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P-value Distribution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9729" y="1743075"/>
            <a:ext cx="4762380" cy="6858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For good RNGs, P-values should be </a:t>
            </a:r>
            <a:r>
              <a:rPr b="0">
                <a:solidFill>
                  <a:srgbClr val="00D4FF"/>
                </a:solidFill>
                <a:latin typeface="Inter"/>
              </a:rPr>
              <a:t>uniformly distributed</a:t>
            </a:r>
            <a:r>
              <a:rPr b="0">
                <a:solidFill>
                  <a:srgbClr val="B0B8D4"/>
                </a:solidFill>
                <a:latin typeface="Inter"/>
              </a:rPr>
              <a:t> across [0, 1)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639" y="2647949"/>
            <a:ext cx="5181470" cy="2286000"/>
          </a:xfrm>
          <a:prstGeom prst="rect">
            <a:avLst/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ectangle 21"/>
          <p:cNvSpPr/>
          <p:nvPr/>
        </p:nvSpPr>
        <p:spPr>
          <a:xfrm>
            <a:off x="6400639" y="2647949"/>
            <a:ext cx="5181470" cy="2286000"/>
          </a:xfrm>
          <a:prstGeom prst="rect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Rounded Rectangle 22"/>
          <p:cNvSpPr/>
          <p:nvPr/>
        </p:nvSpPr>
        <p:spPr>
          <a:xfrm>
            <a:off x="6400639" y="5162550"/>
            <a:ext cx="5181470" cy="1771650"/>
          </a:xfrm>
          <a:prstGeom prst="roundRect">
            <a:avLst>
              <a:gd name="adj" fmla="val 8602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1135" y="5425705"/>
            <a:ext cx="247643" cy="17853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53076" y="5321624"/>
            <a:ext cx="2869825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Kolmogorov-Smirnov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3076" y="5787540"/>
            <a:ext cx="4438539" cy="94077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Evaluates uniformity of P-value distributions to determine probability of observing them in random sampling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92440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NIST SP 800-22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182342"/>
            <a:ext cx="266693" cy="226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476" y="1090683"/>
            <a:ext cx="1021370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476" y="1588358"/>
            <a:ext cx="4914777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Extend Diehard's methodology • Focus on </a:t>
            </a:r>
            <a:r>
              <a:rPr b="0">
                <a:solidFill>
                  <a:srgbClr val="00D4FF"/>
                </a:solidFill>
                <a:latin typeface="Inter"/>
              </a:rPr>
              <a:t>bit-level randomness</a:t>
            </a:r>
            <a:r>
              <a:rPr b="0">
                <a:solidFill>
                  <a:srgbClr val="B0B8D4"/>
                </a:solidFill>
                <a:latin typeface="Inter"/>
              </a:rPr>
              <a:t> for cryptographic applications 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2467389"/>
            <a:ext cx="266693" cy="2087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2476" y="2367032"/>
            <a:ext cx="989886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15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76" y="2840786"/>
            <a:ext cx="206223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Frequency (Monobit)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6062" y="2840786"/>
            <a:ext cx="108100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Runs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76" y="3202737"/>
            <a:ext cx="1876476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Binary Matrix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6062" y="3202737"/>
            <a:ext cx="150477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DFT 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476" y="3564687"/>
            <a:ext cx="190988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Universal Statistical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6062" y="3564687"/>
            <a:ext cx="178773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Linear Complexity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476" y="3926636"/>
            <a:ext cx="113390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Serial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6062" y="3926636"/>
            <a:ext cx="206640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Approximate Entropy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476" y="4288586"/>
            <a:ext cx="1727589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Cumulative Sums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6062" y="4288586"/>
            <a:ext cx="191090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Random Excursions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4878042"/>
            <a:ext cx="266693" cy="22611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52476" y="4776858"/>
            <a:ext cx="1952714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Design Principles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5368738"/>
            <a:ext cx="190495" cy="14007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9169" y="5255136"/>
            <a:ext cx="3758786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Unpredictability</a:t>
            </a:r>
            <a:r>
              <a:rPr b="0">
                <a:solidFill>
                  <a:srgbClr val="B0B8D4"/>
                </a:solidFill>
                <a:latin typeface="Inter"/>
              </a:rPr>
              <a:t> — Essential for crypto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5740213"/>
            <a:ext cx="190495" cy="14007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19169" y="5626611"/>
            <a:ext cx="4048288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Scalability</a:t>
            </a:r>
            <a:r>
              <a:rPr b="0">
                <a:solidFill>
                  <a:srgbClr val="B0B8D4"/>
                </a:solidFill>
                <a:latin typeface="Inter"/>
              </a:rPr>
              <a:t> — Tests apply to subsequences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6121213"/>
            <a:ext cx="190495" cy="14007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19169" y="6007610"/>
            <a:ext cx="2766270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Consistency</a:t>
            </a:r>
            <a:r>
              <a:rPr b="0">
                <a:solidFill>
                  <a:srgbClr val="B0B8D4"/>
                </a:solidFill>
                <a:latin typeface="Inter"/>
              </a:rPr>
              <a:t> — Across seeds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4441" y="1476375"/>
            <a:ext cx="5257668" cy="3028950"/>
          </a:xfrm>
          <a:prstGeom prst="roundRect">
            <a:avLst>
              <a:gd name="adj" fmla="val 5031"/>
            </a:avLst>
          </a:prstGeom>
          <a:solidFill>
            <a:srgbClr val="EF4444">
              <a:alpha val="10000"/>
            </a:srgbClr>
          </a:solidFill>
          <a:ln w="1651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1810078"/>
            <a:ext cx="342891" cy="26604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29274" y="1702856"/>
            <a:ext cx="1980542" cy="47096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Current 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085" y="2281307"/>
            <a:ext cx="4026615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1040"/>
              </a:spcAft>
            </a:pPr>
            <a:r>
              <a:rPr sz="2000" b="1">
                <a:solidFill>
                  <a:srgbClr val="EF4444"/>
                </a:solidFill>
                <a:latin typeface="Inter"/>
              </a:rPr>
              <a:t>"Clearly Obsolete, Possibly Harmful"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2903837"/>
            <a:ext cx="209544" cy="1359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57828" y="2797686"/>
            <a:ext cx="4032835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No longer used by NIST's DRBG validation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3322937"/>
            <a:ext cx="209544" cy="1359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7828" y="3236181"/>
            <a:ext cx="4476638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Weak PRNGs can pass, creating </a:t>
            </a:r>
            <a:r>
              <a:rPr b="0">
                <a:solidFill>
                  <a:srgbClr val="EF4444"/>
                </a:solidFill>
                <a:latin typeface="Inter"/>
              </a:rPr>
              <a:t>false confidence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4037312"/>
            <a:ext cx="209544" cy="1359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857828" y="3931160"/>
            <a:ext cx="4232762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Purely statistical, not cryptographic security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24441" y="4695824"/>
            <a:ext cx="5257668" cy="1485900"/>
          </a:xfrm>
          <a:prstGeom prst="roundRect">
            <a:avLst>
              <a:gd name="adj" fmla="val 10256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4937" y="4951227"/>
            <a:ext cx="247643" cy="21309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838779" y="4854900"/>
            <a:ext cx="1512915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Key Criticism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4937" y="5334656"/>
            <a:ext cx="4876678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FIPS 140-3 requires more robust SP 800-90A and SP 800-90B standards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552836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Diehard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6330" y="1216582"/>
            <a:ext cx="342891" cy="3074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3519" y="1116125"/>
            <a:ext cx="1567737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Strengths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1844641"/>
            <a:ext cx="228594" cy="1943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6410" y="1789396"/>
            <a:ext cx="4381390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Strong reputation for testing </a:t>
            </a:r>
            <a:r>
              <a:rPr sz="2000" b="0">
                <a:solidFill>
                  <a:srgbClr val="22C55E"/>
                </a:solidFill>
                <a:latin typeface="Inter"/>
              </a:rPr>
              <a:t>subtle non-randomness</a:t>
            </a:r>
            <a:r>
              <a:rPr sz="2000"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2739991"/>
            <a:ext cx="228594" cy="1943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6410" y="2684745"/>
            <a:ext cx="4381390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From </a:t>
            </a:r>
            <a:r>
              <a:rPr sz="2000" b="0">
                <a:solidFill>
                  <a:srgbClr val="22C55E"/>
                </a:solidFill>
                <a:latin typeface="Inter"/>
              </a:rPr>
              <a:t>bit-sequence</a:t>
            </a:r>
            <a:r>
              <a:rPr sz="2000" b="0">
                <a:solidFill>
                  <a:srgbClr val="B0B8D4"/>
                </a:solidFill>
                <a:latin typeface="Inter"/>
              </a:rPr>
              <a:t> to uniform deviate distributions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3635341"/>
            <a:ext cx="228594" cy="194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6410" y="3556354"/>
            <a:ext cx="3574312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Developed by </a:t>
            </a:r>
            <a:r>
              <a:rPr sz="2000" b="0">
                <a:solidFill>
                  <a:srgbClr val="22C55E"/>
                </a:solidFill>
                <a:latin typeface="Inter"/>
              </a:rPr>
              <a:t>George Marsaglia</a:t>
            </a:r>
            <a:r>
              <a:rPr sz="2000"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37385" y="1355187"/>
            <a:ext cx="342891" cy="27786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94574" y="1239949"/>
            <a:ext cx="5863336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Weaknesses (Addressed by Dieharder)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2216733"/>
            <a:ext cx="209544" cy="1359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18416" y="2116853"/>
            <a:ext cx="3781292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Limited tests for </a:t>
            </a:r>
            <a:r>
              <a:rPr b="0">
                <a:solidFill>
                  <a:srgbClr val="EF4444"/>
                </a:solidFill>
                <a:latin typeface="Inter"/>
              </a:rPr>
              <a:t>bit-level randomness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2664408"/>
            <a:ext cx="209544" cy="1359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18416" y="2564529"/>
            <a:ext cx="2956450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Lack of </a:t>
            </a:r>
            <a:r>
              <a:rPr b="0">
                <a:solidFill>
                  <a:srgbClr val="EF4444"/>
                </a:solidFill>
                <a:latin typeface="Inter"/>
              </a:rPr>
              <a:t>parametric variability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3102558"/>
            <a:ext cx="209544" cy="1359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18416" y="3002678"/>
            <a:ext cx="3682162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Many tests lacked </a:t>
            </a:r>
            <a:r>
              <a:rPr b="0">
                <a:solidFill>
                  <a:srgbClr val="EF4444"/>
                </a:solidFill>
                <a:latin typeface="Inter"/>
              </a:rPr>
              <a:t>concluding KS test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3540708"/>
            <a:ext cx="209544" cy="1359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18416" y="3461690"/>
            <a:ext cx="4400439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EF4444"/>
                </a:solidFill>
                <a:latin typeface="Inter"/>
              </a:rPr>
              <a:t>Partially overlapping</a:t>
            </a:r>
            <a:r>
              <a:rPr b="0">
                <a:solidFill>
                  <a:srgbClr val="B0B8D4"/>
                </a:solidFill>
                <a:latin typeface="Inter"/>
              </a:rPr>
              <a:t> sequences (not truly independent) 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4321758"/>
            <a:ext cx="209544" cy="1359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18416" y="4221878"/>
            <a:ext cx="2177134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EF4444"/>
                </a:solidFill>
                <a:latin typeface="Inter"/>
              </a:rPr>
              <a:t>Ambiguous licensing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BF5A96D-B4F3-7644-474E-31CB444C2B0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11227" y="4727782"/>
            <a:ext cx="7772400" cy="20864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D15050F9-3A6C-A854-7391-47A14CE1BC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0817" y="4432157"/>
            <a:ext cx="7772400" cy="2199136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92430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Dieharder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558436"/>
            <a:ext cx="304792" cy="2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674" y="1457402"/>
            <a:ext cx="156863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Motivation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104767"/>
            <a:ext cx="209544" cy="1529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14417" y="2013382"/>
            <a:ext cx="3105081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Address weaknesses of Diehard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552442"/>
            <a:ext cx="209544" cy="1529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14417" y="2461058"/>
            <a:ext cx="3064429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Extend RNG testing capabilities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990592"/>
            <a:ext cx="209544" cy="1529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14417" y="2920069"/>
            <a:ext cx="3381290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Provide comprehensive test framework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64380" y="330955"/>
            <a:ext cx="266693" cy="22611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494836"/>
            <a:ext cx="285742" cy="2449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05332" y="388778"/>
            <a:ext cx="3994042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Key Features &amp; Improvements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1174384"/>
            <a:ext cx="209544" cy="1812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91035" y="1089236"/>
            <a:ext cx="196829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KS Test for All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035" y="1438788"/>
            <a:ext cx="235218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Single P-value from KS test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1174384"/>
            <a:ext cx="209544" cy="1812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838979" y="1089236"/>
            <a:ext cx="2309415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Adjustable 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979" y="1438788"/>
            <a:ext cx="204434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Parametric exploration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1926859"/>
            <a:ext cx="209544" cy="1812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91035" y="1841712"/>
            <a:ext cx="184826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Visual Histograms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1035" y="2191263"/>
            <a:ext cx="1844929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P-value distributions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1926859"/>
            <a:ext cx="209544" cy="181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838979" y="1841712"/>
            <a:ext cx="191328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Modular Structure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8979" y="2191263"/>
            <a:ext cx="255788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Easy to create/maintain tests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2679334"/>
            <a:ext cx="209544" cy="18123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591035" y="2594186"/>
            <a:ext cx="1628459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Rewritten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1035" y="2943738"/>
            <a:ext cx="219252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Well-commented C code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2679334"/>
            <a:ext cx="209544" cy="1812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838979" y="2594186"/>
            <a:ext cx="1610377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GSL Integration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8979" y="2943738"/>
            <a:ext cx="190430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Gnu Scientific Library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3431809"/>
            <a:ext cx="209544" cy="1812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591035" y="3346662"/>
            <a:ext cx="229569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Long Sequence 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1035" y="3696213"/>
            <a:ext cx="177247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Up to 10¹⁸ numbers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3431809"/>
            <a:ext cx="209544" cy="1812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38979" y="3346662"/>
            <a:ext cx="1310295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Extensibility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8979" y="3696213"/>
            <a:ext cx="225177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Incorporate all test suites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1035" y="4099137"/>
            <a:ext cx="160967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Timing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1035" y="4448687"/>
            <a:ext cx="185063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Measure RNG speed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76850572-6916-8910-9426-2EEB88DE70E1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08189" y="4403041"/>
            <a:ext cx="2902294" cy="21991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533886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Examples of RNG Performance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584" y="1114425"/>
            <a:ext cx="3505112" cy="5143500"/>
          </a:xfrm>
          <a:prstGeom prst="roundRect">
            <a:avLst>
              <a:gd name="adj" fmla="val 4347"/>
            </a:avLst>
          </a:prstGeom>
          <a:solidFill>
            <a:srgbClr val="22C55E">
              <a:alpha val="10000"/>
            </a:srgbClr>
          </a:solidFill>
          <a:ln w="1651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857228" y="1336504"/>
            <a:ext cx="1474891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C55E"/>
                </a:solidFill>
                <a:latin typeface="Space Grotesk"/>
              </a:rPr>
              <a:t>mt19937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1428452"/>
            <a:ext cx="380990" cy="3244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7228" y="1971675"/>
            <a:ext cx="1771605" cy="361950"/>
          </a:xfrm>
          <a:prstGeom prst="roundRect">
            <a:avLst>
              <a:gd name="adj" fmla="val 52626315"/>
            </a:avLst>
          </a:prstGeom>
          <a:solidFill>
            <a:srgbClr val="22C55E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TextBox 7"/>
          <p:cNvSpPr txBox="1"/>
          <p:nvPr/>
        </p:nvSpPr>
        <p:spPr>
          <a:xfrm>
            <a:off x="1009624" y="1974011"/>
            <a:ext cx="152593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2C55E"/>
                </a:solidFill>
                <a:latin typeface="Inter"/>
              </a:rPr>
              <a:t>Good Generator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7228" y="2588838"/>
            <a:ext cx="190495" cy="137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23921" y="2488362"/>
            <a:ext cx="48763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3921" y="2810908"/>
            <a:ext cx="1407052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400" b="0">
                <a:solidFill>
                  <a:srgbClr val="8A92A8"/>
                </a:solidFill>
                <a:latin typeface="Inter"/>
              </a:rPr>
              <a:t>28×10⁷ rands/sec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7228" y="3271557"/>
            <a:ext cx="190495" cy="1624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23921" y="3183686"/>
            <a:ext cx="1390637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Bit Persistence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3921" y="3506234"/>
            <a:ext cx="190180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400" b="0">
                <a:solidFill>
                  <a:srgbClr val="8A92A8"/>
                </a:solidFill>
                <a:latin typeface="Inter"/>
              </a:rPr>
              <a:t>PASSED • No bits repeat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7228" y="3986492"/>
            <a:ext cx="190495" cy="1232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23921" y="3879012"/>
            <a:ext cx="144546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Bit Distribution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3921" y="4201558"/>
            <a:ext cx="182081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400" b="0">
                <a:solidFill>
                  <a:srgbClr val="8A92A8"/>
                </a:solidFill>
                <a:latin typeface="Inter"/>
              </a:rPr>
              <a:t>5-bit random, not 6-bit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7228" y="4667810"/>
            <a:ext cx="190495" cy="15127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23921" y="4574336"/>
            <a:ext cx="128734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Diehard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3921" y="4896884"/>
            <a:ext cx="2233625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400" b="0">
                <a:solidFill>
                  <a:srgbClr val="8A92A8"/>
                </a:solidFill>
                <a:latin typeface="Inter"/>
              </a:rPr>
              <a:t>Most passed, some marginal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291" y="1114425"/>
            <a:ext cx="3505112" cy="5143500"/>
          </a:xfrm>
          <a:prstGeom prst="roundRect">
            <a:avLst>
              <a:gd name="adj" fmla="val 4347"/>
            </a:avLst>
          </a:prstGeom>
          <a:solidFill>
            <a:srgbClr val="EF4444">
              <a:alpha val="10000"/>
            </a:srgbClr>
          </a:solidFill>
          <a:ln w="1651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TextBox 21"/>
          <p:cNvSpPr txBox="1"/>
          <p:nvPr/>
        </p:nvSpPr>
        <p:spPr>
          <a:xfrm>
            <a:off x="4590935" y="1336504"/>
            <a:ext cx="1023101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F4444"/>
                </a:solidFill>
                <a:latin typeface="Space Grotesk"/>
              </a:rPr>
              <a:t>randu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19769" y="1428452"/>
            <a:ext cx="380990" cy="324445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590935" y="1971675"/>
            <a:ext cx="1628734" cy="361950"/>
          </a:xfrm>
          <a:prstGeom prst="roundRect">
            <a:avLst>
              <a:gd name="adj" fmla="val 52626315"/>
            </a:avLst>
          </a:prstGeom>
          <a:solidFill>
            <a:srgbClr val="EF4444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TextBox 24"/>
          <p:cNvSpPr txBox="1"/>
          <p:nvPr/>
        </p:nvSpPr>
        <p:spPr>
          <a:xfrm>
            <a:off x="4743331" y="1974011"/>
            <a:ext cx="1389676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F4444"/>
                </a:solidFill>
                <a:latin typeface="Inter"/>
              </a:rPr>
              <a:t>Bad Generator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0935" y="2588838"/>
            <a:ext cx="190495" cy="137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57628" y="2488362"/>
            <a:ext cx="48763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Fast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7628" y="2810908"/>
            <a:ext cx="1407052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400" b="0">
                <a:solidFill>
                  <a:srgbClr val="8A92A8"/>
                </a:solidFill>
                <a:latin typeface="Inter"/>
              </a:rPr>
              <a:t>39×10⁷ rands/sec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0935" y="3271557"/>
            <a:ext cx="190495" cy="16248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857628" y="3183686"/>
            <a:ext cx="1390637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Bit Persistence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7628" y="3506234"/>
            <a:ext cx="228960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400" b="0">
                <a:solidFill>
                  <a:srgbClr val="8A92A8"/>
                </a:solidFill>
                <a:latin typeface="Inter"/>
              </a:rPr>
              <a:t>FAILED • 2 LSBs never change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0935" y="3986492"/>
            <a:ext cx="190495" cy="12326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57628" y="3879012"/>
            <a:ext cx="144546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Bit Distribution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628" y="4201558"/>
            <a:ext cx="1806970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400" b="0">
                <a:solidFill>
                  <a:srgbClr val="8A92A8"/>
                </a:solidFill>
                <a:latin typeface="Inter"/>
              </a:rPr>
              <a:t>Not even 1-bit random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0935" y="4665008"/>
            <a:ext cx="190495" cy="15688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857628" y="4574336"/>
            <a:ext cx="757067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Results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7628" y="4896884"/>
            <a:ext cx="177151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400" b="0">
                <a:solidFill>
                  <a:srgbClr val="8A92A8"/>
                </a:solidFill>
                <a:latin typeface="Inter"/>
              </a:rPr>
              <a:t>Cascading test failures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76998" y="1114425"/>
            <a:ext cx="3505112" cy="5143500"/>
          </a:xfrm>
          <a:prstGeom prst="roundRect">
            <a:avLst>
              <a:gd name="adj" fmla="val 4347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8324641" y="1336504"/>
            <a:ext cx="1005660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A855F7"/>
                </a:solidFill>
                <a:latin typeface="Space Grotesk"/>
              </a:rPr>
              <a:t>slatec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53476" y="1429940"/>
            <a:ext cx="380990" cy="321468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8324641" y="1971675"/>
            <a:ext cx="1704932" cy="361950"/>
          </a:xfrm>
          <a:prstGeom prst="roundRect">
            <a:avLst>
              <a:gd name="adj" fmla="val 52626315"/>
            </a:avLst>
          </a:prstGeom>
          <a:solidFill>
            <a:srgbClr val="A855F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TextBox 41"/>
          <p:cNvSpPr txBox="1"/>
          <p:nvPr/>
        </p:nvSpPr>
        <p:spPr>
          <a:xfrm>
            <a:off x="8477038" y="1974011"/>
            <a:ext cx="144257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855F7"/>
                </a:solidFill>
                <a:latin typeface="Inter"/>
              </a:rPr>
              <a:t>Ugly Generator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4641" y="2588838"/>
            <a:ext cx="190495" cy="13727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591335" y="2488362"/>
            <a:ext cx="67191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Speed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1335" y="2810908"/>
            <a:ext cx="1538947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400" b="0">
                <a:solidFill>
                  <a:srgbClr val="8A92A8"/>
                </a:solidFill>
                <a:latin typeface="Inter"/>
              </a:rPr>
              <a:t>Similar to mt19937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4641" y="3277160"/>
            <a:ext cx="190495" cy="15127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591335" y="3183686"/>
            <a:ext cx="95321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Bit Depth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1335" y="3506234"/>
            <a:ext cx="1700915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400" b="0">
                <a:solidFill>
                  <a:srgbClr val="8A92A8"/>
                </a:solidFill>
                <a:latin typeface="Inter"/>
              </a:rPr>
              <a:t>Only 22 bits returned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4641" y="3986492"/>
            <a:ext cx="190495" cy="12326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591335" y="3879012"/>
            <a:ext cx="123937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Randomness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91335" y="4201558"/>
            <a:ext cx="1853456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400" b="0">
                <a:solidFill>
                  <a:srgbClr val="8A92A8"/>
                </a:solidFill>
                <a:latin typeface="Inter"/>
              </a:rPr>
              <a:t>Fails even 1-bit random</a:t>
            </a:r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1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4641" y="4667810"/>
            <a:ext cx="190495" cy="151279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1335" y="4574336"/>
            <a:ext cx="100335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Suitability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1335" y="4896884"/>
            <a:ext cx="2124556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400" b="0">
                <a:solidFill>
                  <a:srgbClr val="8A92A8"/>
                </a:solidFill>
                <a:latin typeface="Inter"/>
              </a:rPr>
              <a:t>Unsuitable for any purpose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97202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Modern Perspectives &amp; Critiques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286607"/>
            <a:ext cx="304792" cy="246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674" y="1169457"/>
            <a:ext cx="6838347" cy="47096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Critiques of Traditional Black-Box Testing (SP 800-22)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4784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19701" y="247713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2102167"/>
            <a:ext cx="228594" cy="1771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1070" y="2013382"/>
            <a:ext cx="2199961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Outdated Foundation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1070" y="2426558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Predates modern cryptography and information theory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584" y="339089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-19701" y="402018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3662362"/>
            <a:ext cx="228594" cy="142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1070" y="3556433"/>
            <a:ext cx="1451744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Limited 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070" y="396960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Focuses on statistical properties, not cryptographic security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584" y="4924424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-19701" y="5553709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5164455"/>
            <a:ext cx="228594" cy="20573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81070" y="5089958"/>
            <a:ext cx="2495620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Missing Security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070" y="551265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Fails to consider computational hardness of breaking generators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0144" y="184784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5580859" y="247713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8739" y="2102167"/>
            <a:ext cx="228594" cy="1771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81630" y="2013382"/>
            <a:ext cx="1748043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False Confidence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1630" y="2426558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Weak generators can pass, creating </a:t>
            </a:r>
            <a:r>
              <a:rPr b="0">
                <a:solidFill>
                  <a:srgbClr val="EF4444"/>
                </a:solidFill>
                <a:latin typeface="Inter"/>
              </a:rPr>
              <a:t>false confidence</a:t>
            </a:r>
            <a:r>
              <a:rPr b="0">
                <a:solidFill>
                  <a:srgbClr val="B0B8D4"/>
                </a:solidFill>
                <a:latin typeface="Inter"/>
              </a:rPr>
              <a:t> in insecure systems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0144" y="339089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5580859" y="402018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8739" y="3625215"/>
            <a:ext cx="228594" cy="21717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81630" y="3556433"/>
            <a:ext cx="2048125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Incomplete Security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1630" y="396960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Inadequate addressing of physical/interface security and backdoors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0144" y="4924424"/>
            <a:ext cx="5371965" cy="1181099"/>
          </a:xfrm>
          <a:prstGeom prst="roundRect">
            <a:avLst>
              <a:gd name="adj" fmla="val 12903"/>
            </a:avLst>
          </a:prstGeom>
          <a:solidFill>
            <a:srgbClr val="00D4FF">
              <a:alpha val="10000"/>
            </a:srgbClr>
          </a:solidFill>
          <a:ln w="1651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7788" y="5401917"/>
            <a:ext cx="266693" cy="22611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38779" y="5164623"/>
            <a:ext cx="4495687" cy="70070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D4FF"/>
                </a:solidFill>
                <a:latin typeface="Inter"/>
              </a:rPr>
              <a:t>Modern Requirements Go Beyond Statistical Testing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1019149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Modern Security Requirements for Cryptographic RNGs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189796"/>
            <a:ext cx="266693" cy="2493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90575" y="1085927"/>
            <a:ext cx="3003836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Evaluation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666874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1880029"/>
            <a:ext cx="209544" cy="1642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7723" y="1786386"/>
            <a:ext cx="367312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Pseudorandom Generator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2135937"/>
            <a:ext cx="400019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Mathematical proofs linking DRBG to AES/SHA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584" y="2724150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2937304"/>
            <a:ext cx="209544" cy="1642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7723" y="2843660"/>
            <a:ext cx="270881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Implementation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23" y="3193212"/>
            <a:ext cx="419211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Known Answer Tests (KATs) with formal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584" y="3781424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4000242"/>
            <a:ext cx="209544" cy="1529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7723" y="3900935"/>
            <a:ext cx="264675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Entropy Source 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23" y="4250487"/>
            <a:ext cx="360932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Stochastic modeling for expected entropy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584" y="4838699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5034863"/>
            <a:ext cx="209544" cy="19822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47723" y="4958211"/>
            <a:ext cx="268567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Physical/Interface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23" y="5307762"/>
            <a:ext cx="432150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Robust protection from monitoring &amp; interference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0144" y="1189796"/>
            <a:ext cx="266693" cy="24930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91135" y="1085927"/>
            <a:ext cx="283699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Resistance to Attacks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4" y="16668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2165" y="1896940"/>
            <a:ext cx="304792" cy="18756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81590" y="22089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Computational Indistinguishability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3276" y="16668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297" y="1872028"/>
            <a:ext cx="304792" cy="2373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24721" y="22089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Forward/Backward Secrecy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0144" y="36480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2165" y="3835644"/>
            <a:ext cx="304792" cy="27256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81590" y="41901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No Backdoors/Trapdoors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53276" y="36480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297" y="3863486"/>
            <a:ext cx="304792" cy="21687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210737" y="4167636"/>
            <a:ext cx="211391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Quantum Resistance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0144" y="5667374"/>
            <a:ext cx="5371965" cy="590549"/>
          </a:xfrm>
          <a:prstGeom prst="roundRect">
            <a:avLst>
              <a:gd name="adj" fmla="val 25806"/>
            </a:avLst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2540" y="5854065"/>
            <a:ext cx="228594" cy="21717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667333" y="5784012"/>
            <a:ext cx="401366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D4FF"/>
                </a:solidFill>
                <a:latin typeface="Inter"/>
              </a:rPr>
              <a:t>Modern Standards: SP 800-90 Series &amp; AIS-31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01119" y="5879782"/>
            <a:ext cx="228594" cy="16573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0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0"/>
            <a:ext cx="619109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Testing Frameworks and Datasets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940316"/>
            <a:ext cx="247643" cy="195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3426" y="809702"/>
            <a:ext cx="305814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Testing Tools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390650"/>
            <a:ext cx="5371965" cy="1009649"/>
          </a:xfrm>
          <a:prstGeom prst="roundRect">
            <a:avLst>
              <a:gd name="adj" fmla="val 15094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1625917"/>
            <a:ext cx="228594" cy="1771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66773" y="1511625"/>
            <a:ext cx="1213794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Dieharder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73" y="1926386"/>
            <a:ext cx="407925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Extended methodology • KS test on all P-values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584" y="2514600"/>
            <a:ext cx="5371965" cy="2343150"/>
          </a:xfrm>
          <a:prstGeom prst="roundRect">
            <a:avLst>
              <a:gd name="adj" fmla="val 6504"/>
            </a:avLst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2755582"/>
            <a:ext cx="228594" cy="1657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6773" y="2635575"/>
            <a:ext cx="2354427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ent (Entropy Testing)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335286"/>
            <a:ext cx="171445" cy="14932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76318" y="3103071"/>
            <a:ext cx="2133546" cy="61375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Entropy: 7.999994 bits/byte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3335286"/>
            <a:ext cx="171445" cy="14932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95607" y="3231312"/>
            <a:ext cx="1584536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Compression: 0%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982986"/>
            <a:ext cx="171445" cy="14932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76318" y="3879012"/>
            <a:ext cx="2133546" cy="35727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Chi-square: p ≈ 92.73%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3982986"/>
            <a:ext cx="171445" cy="1493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95607" y="3879012"/>
            <a:ext cx="177157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Mean: 127.5 (ideal)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4487811"/>
            <a:ext cx="171445" cy="14932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76318" y="4383837"/>
            <a:ext cx="211609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π estimate: error 0.04%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4487811"/>
            <a:ext cx="171445" cy="14932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95607" y="4383837"/>
            <a:ext cx="2017027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Correlation: 0.0 (ideal)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584" y="4972050"/>
            <a:ext cx="5371965" cy="933449"/>
          </a:xfrm>
          <a:prstGeom prst="roundRect">
            <a:avLst>
              <a:gd name="adj" fmla="val 16326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5355907"/>
            <a:ext cx="228594" cy="16573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66773" y="5093024"/>
            <a:ext cx="1876476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NIST SP 800-90B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773" y="5431586"/>
            <a:ext cx="286764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Entropy source assessment tools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0144" y="86676"/>
            <a:ext cx="247643" cy="2246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33986" y="-4488"/>
            <a:ext cx="4050468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dirty="0">
                <a:solidFill>
                  <a:srgbClr val="FFFFFF"/>
                </a:solidFill>
                <a:latin typeface="Space Grotesk"/>
              </a:rPr>
              <a:t>Sample Test Results (</a:t>
            </a:r>
            <a:r>
              <a:rPr sz="2400" b="1" dirty="0" err="1">
                <a:solidFill>
                  <a:srgbClr val="FFFFFF"/>
                </a:solidFill>
                <a:latin typeface="Space Grotesk"/>
              </a:rPr>
              <a:t>mt19937</a:t>
            </a:r>
            <a:r>
              <a:rPr sz="2400" b="1" dirty="0">
                <a:solidFill>
                  <a:srgbClr val="FFFFFF"/>
                </a:solidFill>
                <a:latin typeface="Space Grotesk"/>
              </a:rPr>
              <a:t>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0144" y="1352549"/>
            <a:ext cx="5371965" cy="6638924"/>
          </a:xfrm>
          <a:prstGeom prst="roundRect">
            <a:avLst>
              <a:gd name="adj" fmla="val 2836"/>
            </a:avLst>
          </a:prstGeom>
          <a:solidFill>
            <a:srgbClr val="22C55E">
              <a:alpha val="6000"/>
            </a:srgbClr>
          </a:solidFill>
          <a:ln w="1651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Rounded Rectangle 31"/>
          <p:cNvSpPr/>
          <p:nvPr/>
        </p:nvSpPr>
        <p:spPr>
          <a:xfrm>
            <a:off x="6381590" y="5344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3" name="TextBox 32"/>
          <p:cNvSpPr txBox="1"/>
          <p:nvPr/>
        </p:nvSpPr>
        <p:spPr>
          <a:xfrm>
            <a:off x="7193090" y="573580"/>
            <a:ext cx="85343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Birthdays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7132" y="8311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34226" y="5344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9727322" y="573580"/>
            <a:ext cx="890245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Op Perm5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9768" y="8311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81590" y="1248821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7116337" y="1287955"/>
            <a:ext cx="100694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Rank 32x32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7132" y="15455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34226" y="1248821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TextBox 41"/>
          <p:cNvSpPr txBox="1"/>
          <p:nvPr/>
        </p:nvSpPr>
        <p:spPr>
          <a:xfrm>
            <a:off x="9760344" y="1287955"/>
            <a:ext cx="82420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Rank 6x8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9768" y="15455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81590" y="1963196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5" name="TextBox 44"/>
          <p:cNvSpPr txBox="1"/>
          <p:nvPr/>
        </p:nvSpPr>
        <p:spPr>
          <a:xfrm>
            <a:off x="7182445" y="2002330"/>
            <a:ext cx="87472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Bitstream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27132" y="22599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34226" y="1963196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8" name="TextBox 47"/>
          <p:cNvSpPr txBox="1"/>
          <p:nvPr/>
        </p:nvSpPr>
        <p:spPr>
          <a:xfrm>
            <a:off x="9886180" y="2002330"/>
            <a:ext cx="57252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OPSO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9768" y="22599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81590" y="26775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TextBox 50"/>
          <p:cNvSpPr txBox="1"/>
          <p:nvPr/>
        </p:nvSpPr>
        <p:spPr>
          <a:xfrm>
            <a:off x="7319918" y="2716705"/>
            <a:ext cx="59978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OQSO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27132" y="29742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34226" y="26775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TextBox 53"/>
          <p:cNvSpPr txBox="1"/>
          <p:nvPr/>
        </p:nvSpPr>
        <p:spPr>
          <a:xfrm>
            <a:off x="9927859" y="2716705"/>
            <a:ext cx="48917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DNA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9768" y="29742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81590" y="33919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7" name="TextBox 56"/>
          <p:cNvSpPr txBox="1"/>
          <p:nvPr/>
        </p:nvSpPr>
        <p:spPr>
          <a:xfrm>
            <a:off x="7222168" y="3431080"/>
            <a:ext cx="795282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Count 1s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27132" y="36886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34226" y="33919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TextBox 59"/>
          <p:cNvSpPr txBox="1"/>
          <p:nvPr/>
        </p:nvSpPr>
        <p:spPr>
          <a:xfrm>
            <a:off x="9682759" y="3431080"/>
            <a:ext cx="979372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Parking Lot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9768" y="36886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81590" y="410632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3" name="TextBox 62"/>
          <p:cNvSpPr txBox="1"/>
          <p:nvPr/>
        </p:nvSpPr>
        <p:spPr>
          <a:xfrm>
            <a:off x="7022755" y="4145455"/>
            <a:ext cx="119410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2D/3D Sphere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27132" y="44030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934226" y="410632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6" name="TextBox 65"/>
          <p:cNvSpPr txBox="1"/>
          <p:nvPr/>
        </p:nvSpPr>
        <p:spPr>
          <a:xfrm>
            <a:off x="9791731" y="4145455"/>
            <a:ext cx="761427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Squeeze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9768" y="44030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81590" y="482069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9" name="TextBox 68"/>
          <p:cNvSpPr txBox="1"/>
          <p:nvPr/>
        </p:nvSpPr>
        <p:spPr>
          <a:xfrm>
            <a:off x="7346368" y="4859830"/>
            <a:ext cx="54688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Sums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27132" y="51174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934226" y="482069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2" name="TextBox 71"/>
          <p:cNvSpPr txBox="1"/>
          <p:nvPr/>
        </p:nvSpPr>
        <p:spPr>
          <a:xfrm>
            <a:off x="9915836" y="4859830"/>
            <a:ext cx="51321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Runs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79768" y="51174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81590" y="55350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5" name="TextBox 74"/>
          <p:cNvSpPr txBox="1"/>
          <p:nvPr/>
        </p:nvSpPr>
        <p:spPr>
          <a:xfrm>
            <a:off x="7384840" y="5574205"/>
            <a:ext cx="469937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GCD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27132" y="58317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934226" y="55350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EAB30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8" name="TextBox 77"/>
          <p:cNvSpPr txBox="1"/>
          <p:nvPr/>
        </p:nvSpPr>
        <p:spPr>
          <a:xfrm>
            <a:off x="9893426" y="5574205"/>
            <a:ext cx="55803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B308"/>
                </a:solidFill>
                <a:latin typeface="Inter"/>
              </a:rPr>
              <a:t>Craps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23851" y="5831776"/>
            <a:ext cx="497188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WEAK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81590" y="6287546"/>
            <a:ext cx="5029074" cy="542925"/>
          </a:xfrm>
          <a:prstGeom prst="roundRect">
            <a:avLst>
              <a:gd name="adj" fmla="val 28070"/>
            </a:avLst>
          </a:prstGeom>
          <a:solidFill>
            <a:srgbClr val="22C55E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1" name="TextBox 80"/>
          <p:cNvSpPr txBox="1"/>
          <p:nvPr/>
        </p:nvSpPr>
        <p:spPr>
          <a:xfrm>
            <a:off x="7730455" y="6368956"/>
            <a:ext cx="233134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22C55E"/>
                </a:solidFill>
                <a:latin typeface="Inter"/>
              </a:rPr>
              <a:t>All Major Tests PASSED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6607"/>
            <a:ext cx="3126177" cy="5668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92" b="1" dirty="0">
                <a:solidFill>
                  <a:srgbClr val="FFFFFF"/>
                </a:solidFill>
                <a:latin typeface="Space Grotesk"/>
              </a:rPr>
              <a:t>Strategy of </a:t>
            </a:r>
            <a:r>
              <a:rPr sz="2392" b="1" dirty="0">
                <a:solidFill>
                  <a:srgbClr val="FFFFFF"/>
                </a:solidFill>
                <a:latin typeface="Space Grotesk"/>
              </a:rPr>
              <a:t>RNG Testing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FB01ED16-AAC6-1EAE-A9F5-78120C48B8A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689" y="1778696"/>
            <a:ext cx="10928455" cy="38830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937</Words>
  <Application>Microsoft Macintosh PowerPoint</Application>
  <PresentationFormat>Widescreen</PresentationFormat>
  <Paragraphs>222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Inter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Sameh Saeed</cp:lastModifiedBy>
  <cp:revision>9</cp:revision>
  <dcterms:created xsi:type="dcterms:W3CDTF">2013-01-27T09:14:16Z</dcterms:created>
  <dcterms:modified xsi:type="dcterms:W3CDTF">2026-03-05T12:45:18Z</dcterms:modified>
  <cp:category/>
</cp:coreProperties>
</file>