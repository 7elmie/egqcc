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1" r:id="rId12"/>
    <p:sldId id="265" r:id="rId13"/>
    <p:sldId id="266" r:id="rId14"/>
    <p:sldId id="268" r:id="rId15"/>
    <p:sldId id="273" r:id="rId16"/>
    <p:sldId id="272" r:id="rId17"/>
    <p:sldId id="269" r:id="rId18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29"/>
    <p:restoredTop sz="95694"/>
  </p:normalViewPr>
  <p:slideViewPr>
    <p:cSldViewPr>
      <p:cViewPr varScale="1">
        <p:scale>
          <a:sx n="73" d="100"/>
          <a:sy n="73" d="100"/>
        </p:scale>
        <p:origin x="240" y="2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898063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FE8089-6949-0F48-9FD0-D4DED18B59F8}" type="datetimeFigureOut">
              <a:rPr lang="de-DE" smtClean="0"/>
              <a:t>01.03.26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88025" y="1219200"/>
            <a:ext cx="5899150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747838" y="4694238"/>
            <a:ext cx="1397952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898063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5B95E2-D55B-B045-8CFD-EA9BCB67CBF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7040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B95E2-D55B-B045-8CFD-EA9BCB67CBFF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1849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www.youtube.com/watch?v=LaLzshIosDk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www.youtube.com/watch?v=LaLzshIosDk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EC220257-6CC4-3FF7-5452-7E84C33DD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90600" y="1752600"/>
            <a:ext cx="334578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EG" altLang="en-EG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BB84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EG" altLang="en-EG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B92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EG" altLang="en-EG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E91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EG" altLang="en-EG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SARG04 (BB84`)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EG" altLang="en-EG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COW (Coherent)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EG" altLang="en-EG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DPS (Diff Phase Shift)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EG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MDI-QKD (</a:t>
            </a:r>
            <a:r>
              <a:rPr kumimoji="0" lang="en-US" altLang="en-EG" sz="18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Measur</a:t>
            </a:r>
            <a:r>
              <a:rPr kumimoji="0" lang="en-US" altLang="en-EG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-Dev-Ind)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EG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TF-QKD (Twin-Field)</a:t>
            </a:r>
            <a:endParaRPr kumimoji="0" lang="en-EG" altLang="en-EG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D57521-19AC-C3BB-AB93-1C26152B4D3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42600" y="838200"/>
            <a:ext cx="6019800" cy="32443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569EEE-B4E3-4766-10A5-ECD80A596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184" y="0"/>
            <a:ext cx="17470831" cy="9753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diagram of a blueprint&#10;&#10;AI-generated content may be incorrect.">
            <a:extLst>
              <a:ext uri="{FF2B5EF4-FFF2-40B4-BE49-F238E27FC236}">
                <a16:creationId xmlns:a16="http://schemas.microsoft.com/office/drawing/2014/main" id="{BA156C35-AE76-35DF-D11A-8FE1EF11470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" y="1823"/>
            <a:ext cx="17475180" cy="9751777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200098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E47DF2-01F1-C085-6B0D-E8704EA3D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184" y="0"/>
            <a:ext cx="17470831" cy="9753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E4E1ED34-9464-7F2C-988F-5FBB294D220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" y="1823"/>
            <a:ext cx="17475180" cy="97517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542979-2426-6575-6B59-6C0633B07D2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66200" y="1828800"/>
            <a:ext cx="8229600" cy="723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027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047" cy="865571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8706776"/>
            <a:ext cx="17475200" cy="970280"/>
            <a:chOff x="0" y="8706776"/>
            <a:chExt cx="17475200" cy="97028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8706776"/>
              <a:ext cx="17475047" cy="97022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17648" y="8715643"/>
              <a:ext cx="1401445" cy="575310"/>
            </a:xfrm>
            <a:custGeom>
              <a:avLst/>
              <a:gdLst/>
              <a:ahLst/>
              <a:cxnLst/>
              <a:rect l="l" t="t" r="r" b="b"/>
              <a:pathLst>
                <a:path w="1401445" h="575309">
                  <a:moveTo>
                    <a:pt x="1401061" y="574738"/>
                  </a:moveTo>
                  <a:lnTo>
                    <a:pt x="0" y="574738"/>
                  </a:lnTo>
                  <a:lnTo>
                    <a:pt x="0" y="0"/>
                  </a:lnTo>
                  <a:lnTo>
                    <a:pt x="1401061" y="0"/>
                  </a:lnTo>
                  <a:lnTo>
                    <a:pt x="1401061" y="574738"/>
                  </a:lnTo>
                  <a:close/>
                </a:path>
              </a:pathLst>
            </a:custGeom>
            <a:solidFill>
              <a:srgbClr val="0828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14954" y="8715643"/>
              <a:ext cx="64135" cy="575310"/>
            </a:xfrm>
            <a:custGeom>
              <a:avLst/>
              <a:gdLst/>
              <a:ahLst/>
              <a:cxnLst/>
              <a:rect l="l" t="t" r="r" b="b"/>
              <a:pathLst>
                <a:path w="64134" h="575309">
                  <a:moveTo>
                    <a:pt x="63684" y="574738"/>
                  </a:moveTo>
                  <a:lnTo>
                    <a:pt x="0" y="574738"/>
                  </a:lnTo>
                  <a:lnTo>
                    <a:pt x="0" y="0"/>
                  </a:lnTo>
                  <a:lnTo>
                    <a:pt x="63684" y="0"/>
                  </a:lnTo>
                  <a:lnTo>
                    <a:pt x="63684" y="574738"/>
                  </a:lnTo>
                  <a:close/>
                </a:path>
              </a:pathLst>
            </a:custGeom>
            <a:solidFill>
              <a:srgbClr val="163F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404948" y="8719608"/>
            <a:ext cx="1438910" cy="531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300" spc="-10" dirty="0">
                <a:solidFill>
                  <a:srgbClr val="F6F9F9"/>
                </a:solidFill>
                <a:latin typeface="Arial" panose="020B0604020202020204"/>
                <a:cs typeface="Arial" panose="020B0604020202020204"/>
              </a:rPr>
              <a:t>Current</a:t>
            </a:r>
            <a:endParaRPr sz="3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31953" y="8715643"/>
            <a:ext cx="2292985" cy="575310"/>
          </a:xfrm>
          <a:prstGeom prst="rect">
            <a:avLst/>
          </a:prstGeom>
          <a:solidFill>
            <a:srgbClr val="03111F"/>
          </a:solidFill>
        </p:spPr>
        <p:txBody>
          <a:bodyPr vert="horz" wrap="square" lIns="0" tIns="184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r>
              <a:rPr sz="3300" spc="-10" dirty="0">
                <a:solidFill>
                  <a:srgbClr val="F6F9F9"/>
                </a:solidFill>
                <a:latin typeface="Arial" panose="020B0604020202020204"/>
                <a:cs typeface="Arial" panose="020B0604020202020204"/>
              </a:rPr>
              <a:t>Throughput:</a:t>
            </a:r>
            <a:endParaRPr sz="3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31154" y="8719608"/>
            <a:ext cx="2819400" cy="531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300" spc="90" dirty="0">
                <a:solidFill>
                  <a:srgbClr val="6EB1D8"/>
                </a:solidFill>
                <a:latin typeface="Arial" panose="020B0604020202020204"/>
                <a:cs typeface="Arial" panose="020B0604020202020204"/>
              </a:rPr>
              <a:t>425-</a:t>
            </a:r>
            <a:r>
              <a:rPr sz="3300" spc="105" dirty="0">
                <a:solidFill>
                  <a:srgbClr val="6EB1D8"/>
                </a:solidFill>
                <a:latin typeface="Arial" panose="020B0604020202020204"/>
                <a:cs typeface="Arial" panose="020B0604020202020204"/>
              </a:rPr>
              <a:t>850</a:t>
            </a:r>
            <a:r>
              <a:rPr sz="3300" spc="-110" dirty="0">
                <a:solidFill>
                  <a:srgbClr val="6EB1D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300" spc="70" dirty="0">
                <a:solidFill>
                  <a:srgbClr val="6EB1D8"/>
                </a:solidFill>
                <a:latin typeface="Arial" panose="020B0604020202020204"/>
                <a:cs typeface="Arial" panose="020B0604020202020204"/>
              </a:rPr>
              <a:t>kbps</a:t>
            </a:r>
            <a:r>
              <a:rPr sz="3300" spc="70" dirty="0">
                <a:solidFill>
                  <a:srgbClr val="F6F9F9"/>
                </a:solidFill>
                <a:latin typeface="Arial" panose="020B0604020202020204"/>
                <a:cs typeface="Arial" panose="020B0604020202020204"/>
              </a:rPr>
              <a:t>.</a:t>
            </a:r>
            <a:endParaRPr sz="33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7475200" cy="9753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699"/>
            <a:ext cx="17475198" cy="2241358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651361" y="49"/>
            <a:ext cx="5823839" cy="2242008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16573" y="-7616572"/>
            <a:ext cx="2242057" cy="174752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3122" y="1402"/>
            <a:ext cx="6168238" cy="2240655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94EAF-8D1E-EE64-5A38-078AEF3EAE16}"/>
              </a:ext>
            </a:extLst>
          </p:cNvPr>
          <p:cNvSpPr txBox="1"/>
          <p:nvPr/>
        </p:nvSpPr>
        <p:spPr>
          <a:xfrm>
            <a:off x="1002923" y="502272"/>
            <a:ext cx="13983077" cy="1277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Quantum Communication Protocol Comparison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D8457E-EEEE-B5DB-EF33-D822212D955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35" y="5562600"/>
            <a:ext cx="17440965" cy="4189599"/>
          </a:xfrm>
          <a:prstGeom prst="rect">
            <a:avLst/>
          </a:prstGeom>
        </p:spPr>
      </p:pic>
      <p:pic>
        <p:nvPicPr>
          <p:cNvPr id="5" name="Picture 4" descr="A table with text on it&#10;&#10;AI-generated content may be incorrect.">
            <a:extLst>
              <a:ext uri="{FF2B5EF4-FFF2-40B4-BE49-F238E27FC236}">
                <a16:creationId xmlns:a16="http://schemas.microsoft.com/office/drawing/2014/main" id="{EA1A9AAD-DF07-ABF5-E840-04B9BB643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2247993"/>
            <a:ext cx="17475202" cy="33146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065D9E-3D6E-3F23-1687-D769A3AC3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7475200" cy="9753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2133"/>
            <a:ext cx="17475198" cy="9753599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643" y="-2133"/>
            <a:ext cx="11638570" cy="9753601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0659F6-0853-468D-B1B2-44FDBE98B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3289" y="-4266"/>
            <a:ext cx="17488478" cy="9755734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85901" y="0"/>
            <a:ext cx="16795941" cy="9753600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C26E4-2FD2-4A12-C7E7-9DD0DB4091D5}"/>
              </a:ext>
            </a:extLst>
          </p:cNvPr>
          <p:cNvSpPr txBox="1"/>
          <p:nvPr/>
        </p:nvSpPr>
        <p:spPr>
          <a:xfrm>
            <a:off x="576208" y="275821"/>
            <a:ext cx="15900298" cy="703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Quantum Communication Duality Matrix (Data vs. Channel)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7ACDD7-882D-4B81-A213-84C82B96B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5" y="4107862"/>
            <a:ext cx="17492139" cy="564360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table with text on it&#10;&#10;AI-generated content may be incorrect.">
            <a:extLst>
              <a:ext uri="{FF2B5EF4-FFF2-40B4-BE49-F238E27FC236}">
                <a16:creationId xmlns:a16="http://schemas.microsoft.com/office/drawing/2014/main" id="{1535A7CB-8FB3-2050-B688-41D4F338815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1210701"/>
            <a:ext cx="7083772" cy="5419086"/>
          </a:xfrm>
          <a:prstGeom prst="rect">
            <a:avLst/>
          </a:prstGeom>
        </p:spPr>
      </p:pic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A04EFA0-A30A-3725-E662-A29CD7CDD17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34" y="6629787"/>
            <a:ext cx="17488478" cy="31216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76CA22-059D-415E-2A5C-62A61C9DC0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71661" y="2755457"/>
            <a:ext cx="10403528" cy="211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317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CEDE7-8BD1-8FC9-CCAB-1DAD86A35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D0758B26-2F86-8235-2727-96100E4B111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749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46</Words>
  <Application>Microsoft Macintosh PowerPoint</Application>
  <PresentationFormat>Custom</PresentationFormat>
  <Paragraphs>14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Sameh Saeed</cp:lastModifiedBy>
  <cp:revision>12</cp:revision>
  <dcterms:created xsi:type="dcterms:W3CDTF">2026-01-27T02:13:35Z</dcterms:created>
  <dcterms:modified xsi:type="dcterms:W3CDTF">2026-03-01T11:10:31Z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7AB715069D884CACA896349A6838362C_12</vt:lpwstr>
  </property>
  <property fmtid="{D5CDD505-2E9C-101B-9397-08002B2CF9AE}" pid="3" name="KSOProductBuildVer">
    <vt:lpwstr>1033-12.2.0.23196</vt:lpwstr>
  </property>
</Properties>
</file>